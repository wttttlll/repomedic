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emf" ContentType="image/x-emf"/>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 id="2147483667" r:id="rId3"/>
    <p:sldMasterId id="2147483679" r:id="rId4"/>
  </p:sldMasterIdLst>
  <p:notesMasterIdLst>
    <p:notesMasterId r:id="rId7"/>
  </p:notesMasterIdLst>
  <p:handoutMasterIdLst>
    <p:handoutMasterId r:id="rId59"/>
  </p:handoutMasterIdLst>
  <p:sldIdLst>
    <p:sldId id="2533" r:id="rId5"/>
    <p:sldId id="2502" r:id="rId6"/>
    <p:sldId id="259" r:id="rId8"/>
    <p:sldId id="261" r:id="rId9"/>
    <p:sldId id="2534" r:id="rId10"/>
    <p:sldId id="2503" r:id="rId11"/>
    <p:sldId id="2516" r:id="rId12"/>
    <p:sldId id="2518" r:id="rId13"/>
    <p:sldId id="2517" r:id="rId14"/>
    <p:sldId id="2577" r:id="rId15"/>
    <p:sldId id="2579" r:id="rId16"/>
    <p:sldId id="2580" r:id="rId17"/>
    <p:sldId id="2581" r:id="rId18"/>
    <p:sldId id="2578" r:id="rId19"/>
    <p:sldId id="2582" r:id="rId20"/>
    <p:sldId id="2562" r:id="rId21"/>
    <p:sldId id="2520" r:id="rId22"/>
    <p:sldId id="2521" r:id="rId23"/>
    <p:sldId id="2522" r:id="rId24"/>
    <p:sldId id="2524" r:id="rId25"/>
    <p:sldId id="2525" r:id="rId26"/>
    <p:sldId id="2535" r:id="rId27"/>
    <p:sldId id="2543" r:id="rId28"/>
    <p:sldId id="2504" r:id="rId29"/>
    <p:sldId id="2561" r:id="rId30"/>
    <p:sldId id="2568" r:id="rId31"/>
    <p:sldId id="2569" r:id="rId32"/>
    <p:sldId id="2572" r:id="rId33"/>
    <p:sldId id="2576" r:id="rId34"/>
    <p:sldId id="2536" r:id="rId35"/>
    <p:sldId id="2538" r:id="rId36"/>
    <p:sldId id="287" r:id="rId37"/>
    <p:sldId id="2586" r:id="rId38"/>
    <p:sldId id="256" r:id="rId39"/>
    <p:sldId id="257" r:id="rId40"/>
    <p:sldId id="258" r:id="rId41"/>
    <p:sldId id="2583" r:id="rId42"/>
    <p:sldId id="2584" r:id="rId43"/>
    <p:sldId id="2585" r:id="rId44"/>
    <p:sldId id="262" r:id="rId45"/>
    <p:sldId id="263" r:id="rId46"/>
    <p:sldId id="264" r:id="rId47"/>
    <p:sldId id="265" r:id="rId48"/>
    <p:sldId id="266" r:id="rId49"/>
    <p:sldId id="267" r:id="rId50"/>
    <p:sldId id="268" r:id="rId51"/>
    <p:sldId id="269" r:id="rId52"/>
    <p:sldId id="270" r:id="rId53"/>
    <p:sldId id="271" r:id="rId54"/>
    <p:sldId id="2537" r:id="rId55"/>
    <p:sldId id="2587" r:id="rId56"/>
    <p:sldId id="290" r:id="rId57"/>
    <p:sldId id="578" r:id="rId58"/>
  </p:sldIdLst>
  <p:sldSz cx="12192000" cy="6858000"/>
  <p:notesSz cx="6858000" cy="9144000"/>
  <p:custDataLst>
    <p:tags r:id="rId6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12" userDrawn="1">
          <p15:clr>
            <a:srgbClr val="A4A3A4"/>
          </p15:clr>
        </p15:guide>
        <p15:guide id="2" pos="407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郑 强" initials="郑" lastIdx="1" clrIdx="0"/>
  <p:cmAuthor id="2" name="fengb" initials="f" lastIdx="4" clrIdx="1"/>
  <p:cmAuthor id="3" name="Windows User" initials="WU" lastIdx="0" clrIdx="2"/>
  <p:cmAuthor id="4" name="慎宇 轩" initials="慎宇" lastIdx="0" clrIdx="3"/>
  <p:cmAuthor id="5" name="子诚 张" initials="子张" lastIdx="0"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2060"/>
    <a:srgbClr val="FF4343"/>
    <a:srgbClr val="F9CA8B"/>
    <a:srgbClr val="331094"/>
    <a:srgbClr val="00CC00"/>
    <a:srgbClr val="673105"/>
    <a:srgbClr val="A54E07"/>
    <a:srgbClr val="E46D0A"/>
    <a:srgbClr val="C480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552" autoAdjust="0"/>
  </p:normalViewPr>
  <p:slideViewPr>
    <p:cSldViewPr showGuides="1">
      <p:cViewPr>
        <p:scale>
          <a:sx n="75" d="100"/>
          <a:sy n="75" d="100"/>
        </p:scale>
        <p:origin x="974" y="278"/>
      </p:cViewPr>
      <p:guideLst>
        <p:guide orient="horz" pos="1712"/>
        <p:guide pos="4071"/>
      </p:guideLst>
    </p:cSldViewPr>
  </p:slideViewPr>
  <p:outlineViewPr>
    <p:cViewPr>
      <p:scale>
        <a:sx n="33" d="100"/>
        <a:sy n="33" d="100"/>
      </p:scale>
      <p:origin x="0" y="-48"/>
    </p:cViewPr>
  </p:outlineViewPr>
  <p:notesTextViewPr>
    <p:cViewPr>
      <p:scale>
        <a:sx n="75" d="100"/>
        <a:sy n="75" d="100"/>
      </p:scale>
      <p:origin x="0" y="0"/>
    </p:cViewPr>
  </p:notesTextViewPr>
  <p:sorterViewPr>
    <p:cViewPr>
      <p:scale>
        <a:sx n="125" d="100"/>
        <a:sy n="125" d="100"/>
      </p:scale>
      <p:origin x="0" y="10104"/>
    </p:cViewPr>
  </p:sorterViewPr>
  <p:notesViewPr>
    <p:cSldViewPr>
      <p:cViewPr varScale="1">
        <p:scale>
          <a:sx n="57" d="100"/>
          <a:sy n="57" d="100"/>
        </p:scale>
        <p:origin x="2832" y="66"/>
      </p:cViewPr>
      <p:guideLst>
        <p:guide orient="horz" pos="2283"/>
        <p:guide pos="229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4" Type="http://schemas.openxmlformats.org/officeDocument/2006/relationships/tags" Target="tags/tag103.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handoutMaster" Target="handoutMasters/handoutMaster1.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65.wmf"/><Relationship Id="rId8" Type="http://schemas.openxmlformats.org/officeDocument/2006/relationships/image" Target="../media/image64.wmf"/><Relationship Id="rId7" Type="http://schemas.openxmlformats.org/officeDocument/2006/relationships/image" Target="../media/image63.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 Id="rId3" Type="http://schemas.openxmlformats.org/officeDocument/2006/relationships/image" Target="../media/image59.wmf"/><Relationship Id="rId2" Type="http://schemas.openxmlformats.org/officeDocument/2006/relationships/image" Target="../media/image58.wmf"/><Relationship Id="rId12" Type="http://schemas.openxmlformats.org/officeDocument/2006/relationships/image" Target="../media/image68.wmf"/><Relationship Id="rId11" Type="http://schemas.openxmlformats.org/officeDocument/2006/relationships/image" Target="../media/image67.wmf"/><Relationship Id="rId10" Type="http://schemas.openxmlformats.org/officeDocument/2006/relationships/image" Target="../media/image66.wmf"/><Relationship Id="rId1" Type="http://schemas.openxmlformats.org/officeDocument/2006/relationships/image" Target="../media/image5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F66AB0-28AF-4E33-9852-2258B10AFC9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B38D4C-0177-4CF4-B1EE-77C6CF1C94D5}"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D4D2BF-F5AD-4475-B1BE-C37C7CD863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887A53-3A67-46B6-9129-9A4458579EE7}"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947658B-3C48-422E-9CBA-2A10C5E3918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8887A53-3A67-46B6-9129-9A4458579EE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8887A53-3A67-46B6-9129-9A4458579EE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947658B-3C48-422E-9CBA-2A10C5E3918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000" dirty="0"/>
          </a:p>
        </p:txBody>
      </p:sp>
      <p:sp>
        <p:nvSpPr>
          <p:cNvPr id="4" name="灯片编号占位符 3"/>
          <p:cNvSpPr>
            <a:spLocks noGrp="1"/>
          </p:cNvSpPr>
          <p:nvPr>
            <p:ph type="sldNum" sz="quarter" idx="10"/>
          </p:nvPr>
        </p:nvSpPr>
        <p:spPr/>
        <p:txBody>
          <a:bodyPr/>
          <a:lstStyle/>
          <a:p>
            <a:fld id="{6947658B-3C48-422E-9CBA-2A10C5E3918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0" dirty="0">
              <a:latin typeface="Abadi" panose="020B0604020104020204" pitchFamily="34"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8887A53-3A67-46B6-9129-9A4458579EE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
        <p:nvSpPr>
          <p:cNvPr id="5" name="矩形 4"/>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66" y="106757"/>
            <a:ext cx="2031325"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三、创新成果</a:t>
            </a:r>
            <a:endParaRPr lang="zh-CN" altLang="en-US" sz="24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60" y="106757"/>
            <a:ext cx="8623861" cy="461665"/>
          </a:xfrm>
          <a:prstGeom prst="rect">
            <a:avLst/>
          </a:prstGeom>
        </p:spPr>
        <p:txBody>
          <a:bodyPr wrap="squar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11" name="矩形 10"/>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nvSpPr>
        <p:spPr>
          <a:xfrm>
            <a:off x="352463" y="106757"/>
            <a:ext cx="4185761"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矩形 5"/>
          <p:cNvSpPr/>
          <p:nvPr userDrawn="1"/>
        </p:nvSpPr>
        <p:spPr>
          <a:xfrm>
            <a:off x="352461" y="106757"/>
            <a:ext cx="2479179" cy="461665"/>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chemeClr val="bg1"/>
                </a:solidFill>
                <a:latin typeface="微软雅黑" panose="020B0503020204020204" pitchFamily="34" charset="-122"/>
                <a:ea typeface="微软雅黑" panose="020B0503020204020204" pitchFamily="34" charset="-122"/>
              </a:rPr>
              <a:t>结束语</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节标题">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59" y="106757"/>
            <a:ext cx="4940776"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节标题">
    <p:spTree>
      <p:nvGrpSpPr>
        <p:cNvPr id="1" name=""/>
        <p:cNvGrpSpPr/>
        <p:nvPr/>
      </p:nvGrpSpPr>
      <p:grpSpPr>
        <a:xfrm>
          <a:off x="0" y="0"/>
          <a:ext cx="0" cy="0"/>
          <a:chOff x="0" y="0"/>
          <a:chExt cx="0" cy="0"/>
        </a:xfrm>
      </p:grpSpPr>
      <p:sp>
        <p:nvSpPr>
          <p:cNvPr id="8" name="矩形 7"/>
          <p:cNvSpPr/>
          <p:nvPr userDrawn="1"/>
        </p:nvSpPr>
        <p:spPr>
          <a:xfrm>
            <a:off x="0" y="0"/>
            <a:ext cx="12192000" cy="69269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userDrawn="1"/>
        </p:nvSpPr>
        <p:spPr>
          <a:xfrm>
            <a:off x="352459" y="106757"/>
            <a:ext cx="4940776" cy="461665"/>
          </a:xfrm>
          <a:prstGeom prst="rect">
            <a:avLst/>
          </a:prstGeom>
        </p:spPr>
        <p:txBody>
          <a:bodyPr wrap="none">
            <a:spAutoFit/>
          </a:bodyPr>
          <a:lstStyle/>
          <a:p>
            <a:r>
              <a:rPr lang="zh-CN" altLang="en-US" sz="2400" b="1" dirty="0">
                <a:solidFill>
                  <a:schemeClr val="bg1"/>
                </a:solidFill>
                <a:latin typeface="微软雅黑" panose="020B0503020204020204" pitchFamily="34" charset="-122"/>
                <a:ea typeface="微软雅黑" panose="020B0503020204020204" pitchFamily="34" charset="-122"/>
              </a:rPr>
              <a:t>三、应用推广与经济社会效益</a:t>
            </a:r>
            <a:r>
              <a:rPr lang="en-US" altLang="zh-CN" sz="2400" b="1" dirty="0">
                <a:solidFill>
                  <a:schemeClr val="bg1"/>
                </a:solidFill>
                <a:latin typeface="微软雅黑" panose="020B0503020204020204" pitchFamily="34" charset="-122"/>
                <a:ea typeface="微软雅黑" panose="020B0503020204020204" pitchFamily="34" charset="-122"/>
              </a:rPr>
              <a:t>—— </a:t>
            </a:r>
            <a:endParaRPr lang="zh-CN" altLang="en-US" sz="240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2" Type="http://schemas.openxmlformats.org/officeDocument/2006/relationships/theme" Target="../theme/theme2.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0"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4.GIF"/><Relationship Id="rId1" Type="http://schemas.openxmlformats.org/officeDocument/2006/relationships/image" Target="../media/image3.GIF"/></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2.bin"/><Relationship Id="rId8" Type="http://schemas.openxmlformats.org/officeDocument/2006/relationships/image" Target="../media/image9.wmf"/><Relationship Id="rId7" Type="http://schemas.openxmlformats.org/officeDocument/2006/relationships/oleObject" Target="../embeddings/oleObject1.bin"/><Relationship Id="rId6" Type="http://schemas.openxmlformats.org/officeDocument/2006/relationships/image" Target="../media/image8.png"/><Relationship Id="rId5" Type="http://schemas.openxmlformats.org/officeDocument/2006/relationships/tags" Target="../tags/tag2.xml"/><Relationship Id="rId4" Type="http://schemas.openxmlformats.org/officeDocument/2006/relationships/image" Target="../media/image7.png"/><Relationship Id="rId3" Type="http://schemas.openxmlformats.org/officeDocument/2006/relationships/tags" Target="../tags/tag1.xml"/><Relationship Id="rId2" Type="http://schemas.microsoft.com/office/2007/relationships/hdphoto" Target="../media/image6.wdp"/><Relationship Id="rId15" Type="http://schemas.openxmlformats.org/officeDocument/2006/relationships/notesSlide" Target="../notesSlides/notesSlide3.xml"/><Relationship Id="rId14" Type="http://schemas.openxmlformats.org/officeDocument/2006/relationships/vmlDrawing" Target="../drawings/vmlDrawing1.vml"/><Relationship Id="rId13" Type="http://schemas.openxmlformats.org/officeDocument/2006/relationships/slideLayout" Target="../slideLayouts/slideLayout7.xml"/><Relationship Id="rId12" Type="http://schemas.openxmlformats.org/officeDocument/2006/relationships/image" Target="../media/image11.wmf"/><Relationship Id="rId11" Type="http://schemas.openxmlformats.org/officeDocument/2006/relationships/oleObject" Target="../embeddings/oleObject3.bin"/><Relationship Id="rId10" Type="http://schemas.openxmlformats.org/officeDocument/2006/relationships/image" Target="../media/image10.wmf"/><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emf"/><Relationship Id="rId7" Type="http://schemas.openxmlformats.org/officeDocument/2006/relationships/image" Target="../media/image14.emf"/><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7.png"/><Relationship Id="rId3" Type="http://schemas.openxmlformats.org/officeDocument/2006/relationships/tags" Target="../tags/tag3.xml"/><Relationship Id="rId2" Type="http://schemas.microsoft.com/office/2007/relationships/hdphoto" Target="../media/image6.wdp"/><Relationship Id="rId10" Type="http://schemas.openxmlformats.org/officeDocument/2006/relationships/notesSlide" Target="../notesSlides/notesSlide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 Id="rId3" Type="http://schemas.openxmlformats.org/officeDocument/2006/relationships/tags" Target="../tags/tag4.xml"/><Relationship Id="rId2" Type="http://schemas.microsoft.com/office/2007/relationships/hdphoto" Target="../media/image6.wdp"/><Relationship Id="rId13" Type="http://schemas.openxmlformats.org/officeDocument/2006/relationships/notesSlide" Target="../notesSlides/notesSlide5.xml"/><Relationship Id="rId12" Type="http://schemas.openxmlformats.org/officeDocument/2006/relationships/slideLayout" Target="../slideLayouts/slideLayout7.xml"/><Relationship Id="rId11" Type="http://schemas.openxmlformats.org/officeDocument/2006/relationships/image" Target="../media/image21.GIF"/><Relationship Id="rId10" Type="http://schemas.openxmlformats.org/officeDocument/2006/relationships/tags" Target="../tags/tag5.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23.emf"/><Relationship Id="rId7" Type="http://schemas.openxmlformats.org/officeDocument/2006/relationships/oleObject" Target="../embeddings/oleObject5.bin"/><Relationship Id="rId6" Type="http://schemas.openxmlformats.org/officeDocument/2006/relationships/image" Target="../media/image22.emf"/><Relationship Id="rId5" Type="http://schemas.openxmlformats.org/officeDocument/2006/relationships/oleObject" Target="../embeddings/oleObject4.bin"/><Relationship Id="rId4" Type="http://schemas.openxmlformats.org/officeDocument/2006/relationships/image" Target="../media/image7.png"/><Relationship Id="rId3" Type="http://schemas.openxmlformats.org/officeDocument/2006/relationships/tags" Target="../tags/tag6.xml"/><Relationship Id="rId2" Type="http://schemas.microsoft.com/office/2007/relationships/hdphoto" Target="../media/image6.wdp"/><Relationship Id="rId13" Type="http://schemas.openxmlformats.org/officeDocument/2006/relationships/notesSlide" Target="../notesSlides/notesSlide6.xml"/><Relationship Id="rId12" Type="http://schemas.openxmlformats.org/officeDocument/2006/relationships/vmlDrawing" Target="../drawings/vmlDrawing2.vml"/><Relationship Id="rId11" Type="http://schemas.openxmlformats.org/officeDocument/2006/relationships/slideLayout" Target="../slideLayouts/slideLayout7.xml"/><Relationship Id="rId10" Type="http://schemas.openxmlformats.org/officeDocument/2006/relationships/tags" Target="../tags/tag8.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jpe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7.png"/><Relationship Id="rId3" Type="http://schemas.openxmlformats.org/officeDocument/2006/relationships/tags" Target="../tags/tag9.xml"/><Relationship Id="rId2" Type="http://schemas.microsoft.com/office/2007/relationships/hdphoto" Target="../media/image6.wdp"/><Relationship Id="rId10" Type="http://schemas.openxmlformats.org/officeDocument/2006/relationships/notesSlide" Target="../notesSlides/notesSlide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7.png"/><Relationship Id="rId3" Type="http://schemas.openxmlformats.org/officeDocument/2006/relationships/tags" Target="../tags/tag10.xml"/><Relationship Id="rId2" Type="http://schemas.microsoft.com/office/2007/relationships/hdphoto" Target="../media/image6.wdp"/><Relationship Id="rId10" Type="http://schemas.openxmlformats.org/officeDocument/2006/relationships/notesSlide" Target="../notesSlides/notesSlide8.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7.png"/><Relationship Id="rId3" Type="http://schemas.openxmlformats.org/officeDocument/2006/relationships/tags" Target="../tags/tag11.xml"/><Relationship Id="rId2" Type="http://schemas.microsoft.com/office/2007/relationships/hdphoto" Target="../media/image6.wdp"/><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7.xml"/><Relationship Id="rId7" Type="http://schemas.openxmlformats.org/officeDocument/2006/relationships/image" Target="../media/image34.png"/><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7.png"/><Relationship Id="rId3" Type="http://schemas.openxmlformats.org/officeDocument/2006/relationships/tags" Target="../tags/tag12.xml"/><Relationship Id="rId2" Type="http://schemas.microsoft.com/office/2007/relationships/hdphoto" Target="../media/image6.wdp"/><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7.xml"/><Relationship Id="rId7" Type="http://schemas.openxmlformats.org/officeDocument/2006/relationships/image" Target="../media/image35.png"/><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image" Target="../media/image7.png"/><Relationship Id="rId3" Type="http://schemas.openxmlformats.org/officeDocument/2006/relationships/tags" Target="../tags/tag15.xml"/><Relationship Id="rId2" Type="http://schemas.microsoft.com/office/2007/relationships/hdphoto" Target="../media/image6.wdp"/><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tags" Target="../tags/tag20.xml"/><Relationship Id="rId2" Type="http://schemas.openxmlformats.org/officeDocument/2006/relationships/image" Target="../media/image36.png"/><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tags" Target="../tags/tag21.xml"/><Relationship Id="rId2" Type="http://schemas.openxmlformats.org/officeDocument/2006/relationships/image" Target="../media/image38.jpeg"/><Relationship Id="rId1" Type="http://schemas.openxmlformats.org/officeDocument/2006/relationships/image" Target="../media/image37.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image" Target="../media/image39.jpe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5.png"/><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image" Target="../media/image42.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jpeg"/><Relationship Id="rId2" Type="http://schemas.openxmlformats.org/officeDocument/2006/relationships/image" Target="../media/image4.GIF"/><Relationship Id="rId1"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tags" Target="../tags/tag24.xml"/><Relationship Id="rId4" Type="http://schemas.openxmlformats.org/officeDocument/2006/relationships/image" Target="../media/image52.png"/><Relationship Id="rId3" Type="http://schemas.openxmlformats.org/officeDocument/2006/relationships/tags" Target="../tags/tag23.xml"/><Relationship Id="rId2" Type="http://schemas.openxmlformats.org/officeDocument/2006/relationships/image" Target="../media/image51.png"/><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5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oleObject" Target="../embeddings/oleObject9.bin"/><Relationship Id="rId7" Type="http://schemas.openxmlformats.org/officeDocument/2006/relationships/image" Target="../media/image59.wmf"/><Relationship Id="rId6" Type="http://schemas.openxmlformats.org/officeDocument/2006/relationships/oleObject" Target="../embeddings/oleObject8.bin"/><Relationship Id="rId5" Type="http://schemas.openxmlformats.org/officeDocument/2006/relationships/image" Target="../media/image58.wmf"/><Relationship Id="rId4" Type="http://schemas.openxmlformats.org/officeDocument/2006/relationships/oleObject" Target="../embeddings/oleObject7.bin"/><Relationship Id="rId3" Type="http://schemas.openxmlformats.org/officeDocument/2006/relationships/image" Target="../media/image57.emf"/><Relationship Id="rId28" Type="http://schemas.openxmlformats.org/officeDocument/2006/relationships/notesSlide" Target="../notesSlides/notesSlide19.xml"/><Relationship Id="rId27" Type="http://schemas.openxmlformats.org/officeDocument/2006/relationships/vmlDrawing" Target="../drawings/vmlDrawing3.vml"/><Relationship Id="rId26" Type="http://schemas.openxmlformats.org/officeDocument/2006/relationships/slideLayout" Target="../slideLayouts/slideLayout7.xml"/><Relationship Id="rId25" Type="http://schemas.openxmlformats.org/officeDocument/2006/relationships/image" Target="../media/image68.wmf"/><Relationship Id="rId24" Type="http://schemas.openxmlformats.org/officeDocument/2006/relationships/oleObject" Target="../embeddings/oleObject17.bin"/><Relationship Id="rId23" Type="http://schemas.openxmlformats.org/officeDocument/2006/relationships/image" Target="../media/image67.wmf"/><Relationship Id="rId22" Type="http://schemas.openxmlformats.org/officeDocument/2006/relationships/oleObject" Target="../embeddings/oleObject16.bin"/><Relationship Id="rId21" Type="http://schemas.openxmlformats.org/officeDocument/2006/relationships/image" Target="../media/image66.wmf"/><Relationship Id="rId20" Type="http://schemas.openxmlformats.org/officeDocument/2006/relationships/oleObject" Target="../embeddings/oleObject15.bin"/><Relationship Id="rId2" Type="http://schemas.openxmlformats.org/officeDocument/2006/relationships/oleObject" Target="../embeddings/oleObject6.bin"/><Relationship Id="rId19" Type="http://schemas.openxmlformats.org/officeDocument/2006/relationships/image" Target="../media/image65.wmf"/><Relationship Id="rId18" Type="http://schemas.openxmlformats.org/officeDocument/2006/relationships/oleObject" Target="../embeddings/oleObject14.bin"/><Relationship Id="rId17" Type="http://schemas.openxmlformats.org/officeDocument/2006/relationships/image" Target="../media/image64.wmf"/><Relationship Id="rId16" Type="http://schemas.openxmlformats.org/officeDocument/2006/relationships/oleObject" Target="../embeddings/oleObject13.bin"/><Relationship Id="rId15" Type="http://schemas.openxmlformats.org/officeDocument/2006/relationships/image" Target="../media/image63.wmf"/><Relationship Id="rId14" Type="http://schemas.openxmlformats.org/officeDocument/2006/relationships/oleObject" Target="../embeddings/oleObject12.bin"/><Relationship Id="rId13" Type="http://schemas.openxmlformats.org/officeDocument/2006/relationships/image" Target="../media/image62.wmf"/><Relationship Id="rId12" Type="http://schemas.openxmlformats.org/officeDocument/2006/relationships/oleObject" Target="../embeddings/oleObject11.bin"/><Relationship Id="rId11" Type="http://schemas.openxmlformats.org/officeDocument/2006/relationships/image" Target="../media/image61.wmf"/><Relationship Id="rId10" Type="http://schemas.openxmlformats.org/officeDocument/2006/relationships/oleObject" Target="../embeddings/oleObject10.bin"/><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69.GI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5.xml"/><Relationship Id="rId2" Type="http://schemas.openxmlformats.org/officeDocument/2006/relationships/image" Target="../media/image73.png"/><Relationship Id="rId1" Type="http://schemas.openxmlformats.org/officeDocument/2006/relationships/image" Target="../media/image72.png"/></Relationships>
</file>

<file path=ppt/slides/_rels/slide3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2" Type="http://schemas.openxmlformats.org/officeDocument/2006/relationships/notesSlide" Target="../notesSlides/notesSlide22.xml"/><Relationship Id="rId31" Type="http://schemas.openxmlformats.org/officeDocument/2006/relationships/slideLayout" Target="../slideLayouts/slideLayout25.xml"/><Relationship Id="rId30" Type="http://schemas.openxmlformats.org/officeDocument/2006/relationships/tags" Target="../tags/tag56.xml"/><Relationship Id="rId3" Type="http://schemas.openxmlformats.org/officeDocument/2006/relationships/tags" Target="../tags/tag29.xml"/><Relationship Id="rId29" Type="http://schemas.openxmlformats.org/officeDocument/2006/relationships/tags" Target="../tags/tag55.xml"/><Relationship Id="rId28" Type="http://schemas.openxmlformats.org/officeDocument/2006/relationships/tags" Target="../tags/tag54.xml"/><Relationship Id="rId27" Type="http://schemas.openxmlformats.org/officeDocument/2006/relationships/tags" Target="../tags/tag53.xml"/><Relationship Id="rId26" Type="http://schemas.openxmlformats.org/officeDocument/2006/relationships/tags" Target="../tags/tag52.xml"/><Relationship Id="rId25" Type="http://schemas.openxmlformats.org/officeDocument/2006/relationships/tags" Target="../tags/tag51.xml"/><Relationship Id="rId24" Type="http://schemas.openxmlformats.org/officeDocument/2006/relationships/tags" Target="../tags/tag50.xml"/><Relationship Id="rId23" Type="http://schemas.openxmlformats.org/officeDocument/2006/relationships/tags" Target="../tags/tag49.xml"/><Relationship Id="rId22" Type="http://schemas.openxmlformats.org/officeDocument/2006/relationships/tags" Target="../tags/tag48.xml"/><Relationship Id="rId21" Type="http://schemas.openxmlformats.org/officeDocument/2006/relationships/tags" Target="../tags/tag47.xml"/><Relationship Id="rId20" Type="http://schemas.openxmlformats.org/officeDocument/2006/relationships/tags" Target="../tags/tag46.xml"/><Relationship Id="rId2" Type="http://schemas.openxmlformats.org/officeDocument/2006/relationships/tags" Target="../tags/tag28.xml"/><Relationship Id="rId19" Type="http://schemas.openxmlformats.org/officeDocument/2006/relationships/tags" Target="../tags/tag45.xml"/><Relationship Id="rId18" Type="http://schemas.openxmlformats.org/officeDocument/2006/relationships/tags" Target="../tags/tag44.xml"/><Relationship Id="rId17" Type="http://schemas.openxmlformats.org/officeDocument/2006/relationships/tags" Target="../tags/tag43.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36.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image" Target="../media/image75.png"/><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image" Target="../media/image74.png"/><Relationship Id="rId2" Type="http://schemas.openxmlformats.org/officeDocument/2006/relationships/tags" Target="../tags/tag58.xml"/><Relationship Id="rId11" Type="http://schemas.openxmlformats.org/officeDocument/2006/relationships/notesSlide" Target="../notesSlides/notesSlide23.xml"/><Relationship Id="rId10" Type="http://schemas.openxmlformats.org/officeDocument/2006/relationships/slideLayout" Target="../slideLayouts/slideLayout25.xml"/><Relationship Id="rId1" Type="http://schemas.openxmlformats.org/officeDocument/2006/relationships/tags" Target="../tags/tag5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5.xml"/><Relationship Id="rId1" Type="http://schemas.openxmlformats.org/officeDocument/2006/relationships/image" Target="../media/image77.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5.xml"/><Relationship Id="rId2" Type="http://schemas.openxmlformats.org/officeDocument/2006/relationships/image" Target="../media/image79.png"/><Relationship Id="rId1" Type="http://schemas.openxmlformats.org/officeDocument/2006/relationships/image" Target="../media/image7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5.xml"/><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5.xml"/><Relationship Id="rId2" Type="http://schemas.openxmlformats.org/officeDocument/2006/relationships/image" Target="../media/image82.png"/><Relationship Id="rId1" Type="http://schemas.openxmlformats.org/officeDocument/2006/relationships/image" Target="../media/image83.png"/></Relationships>
</file>

<file path=ppt/slides/_rels/slide4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6" Type="http://schemas.openxmlformats.org/officeDocument/2006/relationships/notesSlide" Target="../notesSlides/notesSlide29.xml"/><Relationship Id="rId15" Type="http://schemas.openxmlformats.org/officeDocument/2006/relationships/slideLayout" Target="../slideLayouts/slideLayout25.xml"/><Relationship Id="rId14" Type="http://schemas.openxmlformats.org/officeDocument/2006/relationships/image" Target="../media/image82.png"/><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image" Target="../media/image84.png"/><Relationship Id="rId1" Type="http://schemas.openxmlformats.org/officeDocument/2006/relationships/tags" Target="../tags/tag63.xml"/></Relationships>
</file>

<file path=ppt/slides/_rels/slide43.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9" Type="http://schemas.openxmlformats.org/officeDocument/2006/relationships/notesSlide" Target="../notesSlides/notesSlide30.xml"/><Relationship Id="rId18" Type="http://schemas.openxmlformats.org/officeDocument/2006/relationships/slideLayout" Target="../slideLayouts/slideLayout25.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image" Target="../media/image8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5.xml"/><Relationship Id="rId1" Type="http://schemas.openxmlformats.org/officeDocument/2006/relationships/image" Target="../media/image8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5.xml"/><Relationship Id="rId1" Type="http://schemas.openxmlformats.org/officeDocument/2006/relationships/image" Target="../media/image87.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5.xml"/><Relationship Id="rId2" Type="http://schemas.openxmlformats.org/officeDocument/2006/relationships/image" Target="../media/image89.png"/><Relationship Id="rId1" Type="http://schemas.openxmlformats.org/officeDocument/2006/relationships/image" Target="../media/image88.png"/></Relationships>
</file>

<file path=ppt/slides/_rels/slide48.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image" Target="../media/image92.png"/><Relationship Id="rId2" Type="http://schemas.openxmlformats.org/officeDocument/2006/relationships/image" Target="../media/image91.png"/><Relationship Id="rId17" Type="http://schemas.openxmlformats.org/officeDocument/2006/relationships/notesSlide" Target="../notesSlides/notesSlide35.xml"/><Relationship Id="rId16" Type="http://schemas.openxmlformats.org/officeDocument/2006/relationships/slideLayout" Target="../slideLayouts/slideLayout25.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image" Target="../media/image90.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5.xml"/><Relationship Id="rId1" Type="http://schemas.openxmlformats.org/officeDocument/2006/relationships/image" Target="../media/image9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38.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endParaRPr lang="en-US" noProof="1"/>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Research Background</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2"/>
          <p:cNvSpPr>
            <a:spLocks noGrp="1"/>
          </p:cNvSpPr>
          <p:nvPr>
            <p:ph type="sldNum" sz="quarter" idx="12"/>
          </p:nvPr>
        </p:nvSpPr>
        <p:spPr/>
        <p:txBody>
          <a:bodyPr/>
          <a:lstStyle/>
          <a:p>
            <a:fld id="{378BD94E-2287-4497-9C85-ECDE3A580743}" type="slidenum">
              <a:rPr lang="zh-CN" altLang="en-US" smtClean="0"/>
            </a:fld>
            <a:endParaRPr lang="zh-CN" altLang="en-US" dirty="0"/>
          </a:p>
        </p:txBody>
      </p:sp>
      <p:grpSp>
        <p:nvGrpSpPr>
          <p:cNvPr id="10" name="组合 9"/>
          <p:cNvGrpSpPr/>
          <p:nvPr/>
        </p:nvGrpSpPr>
        <p:grpSpPr>
          <a:xfrm>
            <a:off x="299355" y="1340768"/>
            <a:ext cx="11054445" cy="1844515"/>
            <a:chOff x="477224" y="1091251"/>
            <a:chExt cx="10123221" cy="1404815"/>
          </a:xfrm>
        </p:grpSpPr>
        <p:sp>
          <p:nvSpPr>
            <p:cNvPr id="6" name="文本框 5"/>
            <p:cNvSpPr txBox="1"/>
            <p:nvPr/>
          </p:nvSpPr>
          <p:spPr>
            <a:xfrm>
              <a:off x="477224" y="1376956"/>
              <a:ext cx="10123221" cy="1119110"/>
            </a:xfrm>
            <a:prstGeom prst="roundRect">
              <a:avLst>
                <a:gd name="adj" fmla="val 6342"/>
              </a:avLst>
            </a:prstGeom>
            <a:noFill/>
            <a:ln w="28575">
              <a:solidFill>
                <a:schemeClr val="tx1"/>
              </a:solidFill>
              <a:prstDash val="dash"/>
            </a:ln>
          </p:spPr>
          <p:txBody>
            <a:bodyPr wrap="square" rtlCol="0">
              <a:spAutoFit/>
            </a:body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en-US" altLang="zh-CN" sz="2000" i="0" u="none" strike="noStrike" kern="1200" cap="none" spc="0" normalizeH="0" baseline="0" noProof="1">
                  <a:ln>
                    <a:noFill/>
                  </a:ln>
                  <a:solidFill>
                    <a:srgbClr val="FF0000"/>
                  </a:solidFill>
                  <a:effectLst/>
                  <a:uLnTx/>
                  <a:uFillTx/>
                  <a:latin typeface="Times New Roman" panose="02020603050405020304"/>
                  <a:ea typeface="微软雅黑" panose="020B0503020204020204" pitchFamily="34" charset="-122"/>
                  <a:cs typeface="MiSans"/>
                </a:rPr>
                <a:t>Energy saving and emission reduction</a:t>
              </a:r>
              <a:r>
                <a:rPr kumimoji="0" lang="en-US" altLang="zh-CN" sz="2000" i="0" u="none" strike="noStrike" kern="1200" cap="none" spc="0" normalizeH="0" baseline="0" noProof="1">
                  <a:ln>
                    <a:noFill/>
                  </a:ln>
                  <a:solidFill>
                    <a:srgbClr val="000000"/>
                  </a:solidFill>
                  <a:effectLst/>
                  <a:uLnTx/>
                  <a:uFillTx/>
                  <a:latin typeface="Times New Roman" panose="02020603050405020304"/>
                  <a:ea typeface="微软雅黑" panose="020B0503020204020204" pitchFamily="34" charset="-122"/>
                  <a:cs typeface="MiSans"/>
                </a:rPr>
                <a:t> have become a focus across industries. To meet national decarbonization goals, green shipping must be developed; ship design and construction must comply with IMO's EEDI and SEEMP requirements, and energy-efficient "</a:t>
              </a:r>
              <a:r>
                <a:rPr kumimoji="0" lang="en-US" altLang="zh-CN" sz="2000" i="0" u="none" strike="noStrike" kern="1200" cap="none" spc="0" normalizeH="0" baseline="0" noProof="1">
                  <a:ln>
                    <a:noFill/>
                  </a:ln>
                  <a:solidFill>
                    <a:srgbClr val="FF0000"/>
                  </a:solidFill>
                  <a:effectLst/>
                  <a:uLnTx/>
                  <a:uFillTx/>
                  <a:latin typeface="Times New Roman" panose="02020603050405020304"/>
                  <a:ea typeface="微软雅黑" panose="020B0503020204020204" pitchFamily="34" charset="-122"/>
                  <a:cs typeface="MiSans"/>
                </a:rPr>
                <a:t>green ships</a:t>
              </a:r>
              <a:r>
                <a:rPr kumimoji="0" lang="en-US" altLang="zh-CN" sz="2000" i="0" u="none" strike="noStrike" kern="1200" cap="none" spc="0" normalizeH="0" baseline="0" noProof="1">
                  <a:ln>
                    <a:noFill/>
                  </a:ln>
                  <a:solidFill>
                    <a:srgbClr val="000000"/>
                  </a:solidFill>
                  <a:effectLst/>
                  <a:uLnTx/>
                  <a:uFillTx/>
                  <a:latin typeface="Times New Roman" panose="02020603050405020304"/>
                  <a:ea typeface="微软雅黑" panose="020B0503020204020204" pitchFamily="34" charset="-122"/>
                  <a:cs typeface="MiSans"/>
                </a:rPr>
                <a:t>" have become the mainstream of modern ship design.</a:t>
              </a:r>
              <a:endParaRPr kumimoji="0" lang="en-US" altLang="zh-CN" sz="2000" i="0" u="none" strike="noStrike" kern="1200" cap="none" spc="0" normalizeH="0" baseline="0" noProof="1">
                <a:ln>
                  <a:noFill/>
                </a:ln>
                <a:solidFill>
                  <a:srgbClr val="000000"/>
                </a:solidFill>
                <a:effectLst/>
                <a:uLnTx/>
                <a:uFillTx/>
                <a:latin typeface="MiSans"/>
                <a:ea typeface="MiSans"/>
                <a:cs typeface="MiSans"/>
              </a:endParaRPr>
            </a:p>
          </p:txBody>
        </p:sp>
        <p:sp>
          <p:nvSpPr>
            <p:cNvPr id="33" name="圆角矩形 32"/>
            <p:cNvSpPr/>
            <p:nvPr/>
          </p:nvSpPr>
          <p:spPr>
            <a:xfrm>
              <a:off x="708022" y="1091251"/>
              <a:ext cx="1690593"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rPr>
                <a:t>Energy saving</a:t>
              </a:r>
              <a:endPar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30" name="矩形 29"/>
          <p:cNvSpPr/>
          <p:nvPr/>
        </p:nvSpPr>
        <p:spPr>
          <a:xfrm>
            <a:off x="3753114" y="33111"/>
            <a:ext cx="4540987" cy="709874"/>
          </a:xfrm>
          <a:prstGeom prst="rect">
            <a:avLst/>
          </a:prstGeom>
        </p:spPr>
        <p:txBody>
          <a:bodyPr wrap="none">
            <a:spAutoFit/>
          </a:bodyPr>
          <a:lstStyle/>
          <a:p>
            <a:pPr algn="ctr">
              <a:lnSpc>
                <a:spcPct val="120000"/>
              </a:lnSpc>
            </a:pPr>
            <a:r>
              <a:rPr lang="en-US" altLang="zh-CN" sz="3600" b="1" noProof="1">
                <a:solidFill>
                  <a:srgbClr val="FFFFFF"/>
                </a:solidFill>
                <a:latin typeface="Times New Roman" panose="02020603050405020304"/>
                <a:ea typeface="微软雅黑" panose="020B0503020204020204" pitchFamily="34" charset="-122"/>
              </a:rPr>
              <a:t>Research Background</a:t>
            </a:r>
            <a:endParaRPr lang="en-US" altLang="zh-CN" sz="3600" noProof="1"/>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04011" y="3400235"/>
            <a:ext cx="5544615" cy="3314544"/>
          </a:xfrm>
          <a:prstGeom prst="rect">
            <a:avLst/>
          </a:prstGeom>
        </p:spPr>
      </p:pic>
      <p:sp>
        <p:nvSpPr>
          <p:cNvPr id="3" name="平行四边形 2"/>
          <p:cNvSpPr/>
          <p:nvPr/>
        </p:nvSpPr>
        <p:spPr>
          <a:xfrm>
            <a:off x="191344" y="683645"/>
            <a:ext cx="3888432" cy="49301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Energy Saving Trend</a:t>
            </a:r>
            <a:endParaRPr lang="en-US" altLang="zh-CN" sz="2000" b="1"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4" name="组合 13"/>
          <p:cNvGrpSpPr/>
          <p:nvPr/>
        </p:nvGrpSpPr>
        <p:grpSpPr>
          <a:xfrm>
            <a:off x="299085" y="4015105"/>
            <a:ext cx="5436870" cy="2118204"/>
            <a:chOff x="477224" y="1091251"/>
            <a:chExt cx="10484787" cy="2014305"/>
          </a:xfrm>
        </p:grpSpPr>
        <p:sp>
          <p:nvSpPr>
            <p:cNvPr id="15" name="文本框 14"/>
            <p:cNvSpPr txBox="1"/>
            <p:nvPr/>
          </p:nvSpPr>
          <p:spPr>
            <a:xfrm>
              <a:off x="477224" y="1376956"/>
              <a:ext cx="10484787" cy="1728600"/>
            </a:xfrm>
            <a:prstGeom prst="roundRect">
              <a:avLst>
                <a:gd name="adj" fmla="val 6342"/>
              </a:avLst>
            </a:prstGeom>
            <a:noFill/>
            <a:ln w="28575">
              <a:solidFill>
                <a:schemeClr val="tx1"/>
              </a:solidFill>
              <a:prstDash val="dash"/>
            </a:ln>
          </p:spPr>
          <p:txBody>
            <a:bodyPr wrap="square" rtlCol="0">
              <a:spAutoFit/>
            </a:body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en-US" altLang="zh-CN" sz="2000" i="0" u="none" strike="noStrike" kern="1200" cap="none" spc="0" normalizeH="0" baseline="0" noProof="1">
                  <a:ln>
                    <a:noFill/>
                  </a:ln>
                  <a:solidFill>
                    <a:srgbClr val="FF0000"/>
                  </a:solidFill>
                  <a:effectLst/>
                  <a:uLnTx/>
                  <a:uFillTx/>
                  <a:latin typeface="Times New Roman" panose="02020603050405020304"/>
                  <a:ea typeface="微软雅黑" panose="020B0503020204020204" pitchFamily="34" charset="-122"/>
                  <a:cs typeface="MiSans"/>
                </a:rPr>
                <a:t>Hull form design</a:t>
              </a:r>
              <a:r>
                <a:rPr kumimoji="0" lang="en-US" altLang="zh-CN" sz="2000" i="0" u="none" strike="noStrike" kern="1200" cap="none" spc="0" normalizeH="0" baseline="0" noProof="1">
                  <a:ln>
                    <a:noFill/>
                  </a:ln>
                  <a:solidFill>
                    <a:srgbClr val="000000"/>
                  </a:solidFill>
                  <a:effectLst/>
                  <a:uLnTx/>
                  <a:uFillTx/>
                  <a:latin typeface="Times New Roman" panose="02020603050405020304"/>
                  <a:ea typeface="微软雅黑" panose="020B0503020204020204" pitchFamily="34" charset="-122"/>
                  <a:cs typeface="MiSans"/>
                </a:rPr>
                <a:t> is one of the most important parts in developing green ships. The simulation-based design optimization method </a:t>
              </a:r>
              <a:r>
                <a:rPr kumimoji="0" lang="en-US" altLang="zh-CN" sz="2000" i="0" u="none" strike="noStrike" kern="1200" cap="none" spc="0" normalizeH="0" baseline="0" noProof="1">
                  <a:ln>
                    <a:noFill/>
                  </a:ln>
                  <a:solidFill>
                    <a:srgbClr val="FF0000"/>
                  </a:solidFill>
                  <a:effectLst/>
                  <a:uLnTx/>
                  <a:uFillTx/>
                  <a:latin typeface="Times New Roman" panose="02020603050405020304"/>
                  <a:ea typeface="微软雅黑" panose="020B0503020204020204" pitchFamily="34" charset="-122"/>
                  <a:cs typeface="MiSans"/>
                </a:rPr>
                <a:t> (Simulation Based Design Optimization, SBDO) </a:t>
              </a:r>
              <a:r>
                <a:rPr kumimoji="0" lang="en-US" altLang="zh-CN" sz="2000" i="0" u="none" strike="noStrike" kern="1200" cap="none" spc="0" normalizeH="0" baseline="0" noProof="1">
                  <a:ln>
                    <a:noFill/>
                  </a:ln>
                  <a:solidFill>
                    <a:srgbClr val="000000"/>
                  </a:solidFill>
                  <a:effectLst/>
                  <a:uLnTx/>
                  <a:uFillTx/>
                  <a:latin typeface="Times New Roman" panose="02020603050405020304"/>
                  <a:ea typeface="微软雅黑" panose="020B0503020204020204" pitchFamily="34" charset="-122"/>
                  <a:cs typeface="MiSans"/>
                </a:rPr>
                <a:t> has become the primary means of hull form design.</a:t>
              </a:r>
              <a:endParaRPr kumimoji="0" lang="en-US" altLang="zh-CN" sz="2000" i="0" u="none" strike="noStrike" kern="1200" cap="none" spc="0" normalizeH="0" baseline="0" noProof="1">
                <a:ln>
                  <a:noFill/>
                </a:ln>
                <a:solidFill>
                  <a:srgbClr val="000000"/>
                </a:solidFill>
                <a:effectLst/>
                <a:uLnTx/>
                <a:uFillTx/>
                <a:latin typeface="MiSans"/>
                <a:ea typeface="MiSans"/>
                <a:cs typeface="MiSans"/>
              </a:endParaRPr>
            </a:p>
          </p:txBody>
        </p:sp>
        <p:sp>
          <p:nvSpPr>
            <p:cNvPr id="16" name="圆角矩形 32"/>
            <p:cNvSpPr/>
            <p:nvPr/>
          </p:nvSpPr>
          <p:spPr>
            <a:xfrm>
              <a:off x="929749" y="1091251"/>
              <a:ext cx="7671574"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rPr>
                <a:t>Means of Green Ship Development</a:t>
              </a:r>
              <a:endParaRPr lang="en-US" altLang="zh-CN" sz="20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7" name="图形 45" descr="箭头: 逆时针曲线 纯色填充"/>
          <p:cNvSpPr/>
          <p:nvPr/>
        </p:nvSpPr>
        <p:spPr>
          <a:xfrm rot="14453906">
            <a:off x="5036002" y="3110093"/>
            <a:ext cx="643830" cy="1124758"/>
          </a:xfrm>
          <a:custGeom>
            <a:avLst/>
            <a:gdLst>
              <a:gd name="connsiteX0" fmla="*/ 271463 w 358122"/>
              <a:gd name="connsiteY0" fmla="*/ 727710 h 727710"/>
              <a:gd name="connsiteX1" fmla="*/ 95250 w 358122"/>
              <a:gd name="connsiteY1" fmla="*/ 229552 h 727710"/>
              <a:gd name="connsiteX2" fmla="*/ 0 w 358122"/>
              <a:gd name="connsiteY2" fmla="*/ 323850 h 727710"/>
              <a:gd name="connsiteX3" fmla="*/ 0 w 358122"/>
              <a:gd name="connsiteY3" fmla="*/ 0 h 727710"/>
              <a:gd name="connsiteX4" fmla="*/ 323850 w 358122"/>
              <a:gd name="connsiteY4" fmla="*/ 0 h 727710"/>
              <a:gd name="connsiteX5" fmla="*/ 236220 w 358122"/>
              <a:gd name="connsiteY5" fmla="*/ 87630 h 727710"/>
              <a:gd name="connsiteX6" fmla="*/ 271463 w 358122"/>
              <a:gd name="connsiteY6" fmla="*/ 727710 h 72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122" h="727710">
                <a:moveTo>
                  <a:pt x="271463" y="727710"/>
                </a:moveTo>
                <a:cubicBezTo>
                  <a:pt x="271463" y="727710"/>
                  <a:pt x="381953" y="515303"/>
                  <a:pt x="95250" y="229552"/>
                </a:cubicBezTo>
                <a:lnTo>
                  <a:pt x="0" y="323850"/>
                </a:lnTo>
                <a:lnTo>
                  <a:pt x="0" y="0"/>
                </a:lnTo>
                <a:lnTo>
                  <a:pt x="323850" y="0"/>
                </a:lnTo>
                <a:lnTo>
                  <a:pt x="236220" y="87630"/>
                </a:lnTo>
                <a:cubicBezTo>
                  <a:pt x="237173" y="88582"/>
                  <a:pt x="484823" y="385763"/>
                  <a:pt x="271463" y="727710"/>
                </a:cubicBezTo>
                <a:close/>
              </a:path>
            </a:pathLst>
          </a:custGeom>
          <a:solidFill>
            <a:srgbClr val="0E58C4">
              <a:alpha val="30000"/>
            </a:srgbClr>
          </a:solidFill>
          <a:ln w="605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Arial" panose="020B0604020202020204" pitchFamily="34" charset="0"/>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886710" y="78740"/>
            <a:ext cx="6273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panose="02020603050405020304"/>
                <a:ea typeface="微软雅黑" panose="020B0503020204020204" pitchFamily="34" charset="-122"/>
              </a:rPr>
              <a:t>Research Background</a:t>
            </a:r>
            <a:endParaRPr lang="en-US" sz="3600" noProof="1"/>
          </a:p>
        </p:txBody>
      </p:sp>
      <p:sp>
        <p:nvSpPr>
          <p:cNvPr id="8" name="box1-shape"/>
          <p:cNvSpPr/>
          <p:nvPr/>
        </p:nvSpPr>
        <p:spPr>
          <a:xfrm>
            <a:off x="299720" y="1593850"/>
            <a:ext cx="5436870" cy="1907158"/>
          </a:xfrm>
          <a:prstGeom prst="roundRect">
            <a:avLst>
              <a:gd name="adj" fmla="val 6342"/>
            </a:avLst>
          </a:prstGeom>
          <a:noFill/>
          <a:ln w="28575">
            <a:solidFill>
              <a:srgbClr val="000000"/>
            </a:solidFill>
            <a:prstDash val="dash"/>
          </a:ln>
        </p:spPr>
      </p:sp>
      <p:sp>
        <p:nvSpPr>
          <p:cNvPr id="9" name="box1-text"/>
          <p:cNvSpPr txBox="1"/>
          <p:nvPr/>
        </p:nvSpPr>
        <p:spPr>
          <a:xfrm>
            <a:off x="426720" y="1778000"/>
            <a:ext cx="5182870" cy="1320800"/>
          </a:xfrm>
          <a:prstGeom prst="rect">
            <a:avLst/>
          </a:prstGeom>
          <a:noFill/>
          <a:ln>
            <a:noFill/>
          </a:ln>
        </p:spPr>
        <p:txBody>
          <a:bodyPr wrap="square" lIns="0" tIns="0" rIns="0" bIns="0" rtlCol="0" anchor="t"/>
          <a:lstStyle/>
          <a:p>
            <a:pPr algn="just">
              <a:lnSpc>
                <a:spcPct val="130000"/>
              </a:lnSpc>
            </a:pPr>
            <a:r>
              <a:rPr lang="en-US" sz="1600" noProof="1">
                <a:solidFill>
                  <a:srgbClr val="FF0000"/>
                </a:solidFill>
                <a:latin typeface="Times New Roman" panose="02020603050405020304"/>
                <a:ea typeface="微软雅黑" panose="020B0503020204020204" pitchFamily="34" charset="-122"/>
              </a:rPr>
              <a:t>Hull form</a:t>
            </a:r>
            <a:r>
              <a:rPr lang="en-US" sz="1600" noProof="1">
                <a:solidFill>
                  <a:srgbClr val="000000"/>
                </a:solidFill>
                <a:latin typeface="Times New Roman" panose="02020603050405020304"/>
                <a:ea typeface="微软雅黑" panose="020B0503020204020204" pitchFamily="34" charset="-122"/>
              </a:rPr>
              <a:t> determines ship resistance, propulsion, seakeeping and maneuverability — key </a:t>
            </a:r>
            <a:r>
              <a:rPr lang="en-US" sz="1600" noProof="1">
                <a:solidFill>
                  <a:srgbClr val="FF0000"/>
                </a:solidFill>
                <a:latin typeface="Times New Roman" panose="02020603050405020304"/>
                <a:ea typeface="微软雅黑" panose="020B0503020204020204" pitchFamily="34" charset="-122"/>
              </a:rPr>
              <a:t> hydrodynamic performance </a:t>
            </a:r>
            <a:r>
              <a:rPr lang="en-US" sz="1600" noProof="1">
                <a:solidFill>
                  <a:srgbClr val="000000"/>
                </a:solidFill>
                <a:latin typeface="Times New Roman" panose="02020603050405020304"/>
                <a:ea typeface="微软雅黑" panose="020B0503020204020204" pitchFamily="34" charset="-122"/>
              </a:rPr>
              <a:t> factors. Hull form design is a core part of general ship design and directly determines a ship's energy efficiency and operating economy.</a:t>
            </a:r>
            <a:endParaRPr lang="en-US" sz="1600" noProof="1"/>
          </a:p>
        </p:txBody>
      </p:sp>
      <p:sp>
        <p:nvSpPr>
          <p:cNvPr id="12" name="box2-shape"/>
          <p:cNvSpPr/>
          <p:nvPr/>
        </p:nvSpPr>
        <p:spPr>
          <a:xfrm>
            <a:off x="299720" y="3931920"/>
            <a:ext cx="5436870" cy="2737440"/>
          </a:xfrm>
          <a:prstGeom prst="roundRect">
            <a:avLst>
              <a:gd name="adj" fmla="val 6342"/>
            </a:avLst>
          </a:prstGeom>
          <a:noFill/>
          <a:ln w="28575">
            <a:solidFill>
              <a:srgbClr val="000000"/>
            </a:solidFill>
            <a:prstDash val="dash"/>
          </a:ln>
        </p:spPr>
      </p:sp>
      <p:sp>
        <p:nvSpPr>
          <p:cNvPr id="13" name="box2-text"/>
          <p:cNvSpPr txBox="1"/>
          <p:nvPr/>
        </p:nvSpPr>
        <p:spPr>
          <a:xfrm>
            <a:off x="426720" y="4140200"/>
            <a:ext cx="5182870" cy="2133600"/>
          </a:xfrm>
          <a:prstGeom prst="rect">
            <a:avLst/>
          </a:prstGeom>
          <a:noFill/>
          <a:ln>
            <a:noFill/>
          </a:ln>
        </p:spPr>
        <p:txBody>
          <a:bodyPr wrap="square" lIns="0" tIns="0" rIns="0" bIns="0" rtlCol="0" anchor="t"/>
          <a:lstStyle/>
          <a:p>
            <a:pPr algn="just">
              <a:lnSpc>
                <a:spcPct val="140000"/>
              </a:lnSpc>
            </a:pPr>
            <a:r>
              <a:rPr lang="en-US" sz="1600" noProof="1">
                <a:solidFill>
                  <a:srgbClr val="000000"/>
                </a:solidFill>
                <a:latin typeface="Times New Roman" panose="02020603050405020304"/>
                <a:ea typeface="微软雅黑" panose="020B0503020204020204" pitchFamily="34" charset="-122"/>
              </a:rPr>
              <a:t>Traditional hull design relies heavily on </a:t>
            </a:r>
            <a:r>
              <a:rPr lang="en-US" sz="1600" noProof="1">
                <a:solidFill>
                  <a:srgbClr val="FF0000"/>
                </a:solidFill>
                <a:latin typeface="Times New Roman" panose="02020603050405020304"/>
                <a:ea typeface="微软雅黑" panose="020B0503020204020204" pitchFamily="34" charset="-122"/>
              </a:rPr>
              <a:t>empirical formulas</a:t>
            </a:r>
            <a:r>
              <a:rPr lang="en-US" sz="1600" noProof="1">
                <a:solidFill>
                  <a:srgbClr val="000000"/>
                </a:solidFill>
                <a:latin typeface="Times New Roman" panose="02020603050405020304"/>
                <a:ea typeface="微软雅黑" panose="020B0503020204020204" pitchFamily="34" charset="-122"/>
              </a:rPr>
              <a:t>, systematic model-series charts and </a:t>
            </a:r>
            <a:r>
              <a:rPr lang="en-US" sz="1600" noProof="1">
                <a:solidFill>
                  <a:srgbClr val="FF0000"/>
                </a:solidFill>
                <a:latin typeface="Times New Roman" panose="02020603050405020304"/>
                <a:ea typeface="微软雅黑" panose="020B0503020204020204" pitchFamily="34" charset="-122"/>
              </a:rPr>
              <a:t>manual iteration by experts</a:t>
            </a:r>
            <a:r>
              <a:rPr lang="en-US" sz="1600" noProof="1">
                <a:solidFill>
                  <a:srgbClr val="000000"/>
                </a:solidFill>
                <a:latin typeface="Times New Roman" panose="02020603050405020304"/>
                <a:ea typeface="微软雅黑" panose="020B0503020204020204" pitchFamily="34" charset="-122"/>
              </a:rPr>
              <a:t>:</a:t>
            </a:r>
            <a:endParaRPr lang="en-US" sz="1600" noProof="1"/>
          </a:p>
          <a:p>
            <a:pPr algn="just">
              <a:lnSpc>
                <a:spcPct val="140000"/>
              </a:lnSpc>
            </a:pPr>
            <a:r>
              <a:rPr lang="en-US" sz="1600" noProof="1">
                <a:solidFill>
                  <a:srgbClr val="000000"/>
                </a:solidFill>
                <a:latin typeface="Times New Roman" panose="02020603050405020304"/>
                <a:ea typeface="微软雅黑" panose="020B0503020204020204" pitchFamily="34" charset="-122"/>
              </a:rPr>
              <a:t>① Long design cycle and low efficiency;</a:t>
            </a:r>
            <a:endParaRPr lang="en-US" sz="1600" noProof="1"/>
          </a:p>
          <a:p>
            <a:pPr algn="just">
              <a:lnSpc>
                <a:spcPct val="140000"/>
              </a:lnSpc>
            </a:pPr>
            <a:r>
              <a:rPr lang="en-US" sz="1600" noProof="1">
                <a:solidFill>
                  <a:srgbClr val="000000"/>
                </a:solidFill>
                <a:latin typeface="Times New Roman" panose="02020603050405020304"/>
                <a:ea typeface="微软雅黑" panose="020B0503020204020204" pitchFamily="34" charset="-122"/>
              </a:rPr>
              <a:t>② Design quality depends on personal experience; knowledge is hard to pass on;</a:t>
            </a:r>
            <a:endParaRPr lang="en-US" sz="1600" noProof="1"/>
          </a:p>
          <a:p>
            <a:pPr algn="just">
              <a:lnSpc>
                <a:spcPct val="140000"/>
              </a:lnSpc>
            </a:pPr>
            <a:r>
              <a:rPr lang="en-US" sz="1600" noProof="1">
                <a:solidFill>
                  <a:srgbClr val="000000"/>
                </a:solidFill>
                <a:latin typeface="Times New Roman" panose="02020603050405020304"/>
                <a:ea typeface="微软雅黑" panose="020B0503020204020204" pitchFamily="34" charset="-122"/>
              </a:rPr>
              <a:t>③ Difficult to systematically search the design space for optima.</a:t>
            </a:r>
            <a:endParaRPr lang="en-US" sz="1600" noProof="1"/>
          </a:p>
        </p:txBody>
      </p:sp>
      <p:pic>
        <p:nvPicPr>
          <p:cNvPr id="14" name="图片 3"/>
          <p:cNvPicPr/>
          <p:nvPr/>
        </p:nvPicPr>
        <p:blipFill>
          <a:blip r:embed="rId1"/>
          <a:srcRect t="-21304" b="-21304"/>
          <a:stretch>
            <a:fillRect/>
          </a:stretch>
        </p:blipFill>
        <p:spPr>
          <a:xfrm>
            <a:off x="6203950" y="1905000"/>
            <a:ext cx="5544820" cy="3048000"/>
          </a:xfrm>
          <a:prstGeom prst="rect">
            <a:avLst/>
          </a:prstGeom>
          <a:ln>
            <a:noFill/>
          </a:ln>
        </p:spPr>
      </p:pic>
      <p:sp>
        <p:nvSpPr>
          <p:cNvPr id="15" name="caption1"/>
          <p:cNvSpPr txBox="1"/>
          <p:nvPr/>
        </p:nvSpPr>
        <p:spPr>
          <a:xfrm>
            <a:off x="6203950" y="5016500"/>
            <a:ext cx="5544820" cy="330200"/>
          </a:xfrm>
          <a:prstGeom prst="rect">
            <a:avLst/>
          </a:prstGeom>
          <a:noFill/>
          <a:ln>
            <a:noFill/>
          </a:ln>
        </p:spPr>
        <p:txBody>
          <a:bodyPr wrap="square" lIns="0" tIns="0" rIns="0" bIns="0" rtlCol="0" anchor="t"/>
          <a:lstStyle/>
          <a:p>
            <a:pPr algn="ctr">
              <a:lnSpc>
                <a:spcPct val="120000"/>
              </a:lnSpc>
            </a:pPr>
            <a:r>
              <a:rPr lang="en-US" sz="1400" noProof="1">
                <a:solidFill>
                  <a:srgbClr val="000000"/>
                </a:solidFill>
                <a:latin typeface="微软雅黑" panose="020B0503020204020204" pitchFamily="34" charset="-122"/>
                <a:ea typeface="微软雅黑" panose="020B0503020204020204" pitchFamily="34" charset="-122"/>
              </a:rPr>
              <a:t>Hull lines plan (body plan): the traditional expression of hull design</a:t>
            </a:r>
            <a:endParaRPr lang="en-US" sz="1400" noProof="1"/>
          </a:p>
        </p:txBody>
      </p:sp>
      <p:sp>
        <p:nvSpPr>
          <p:cNvPr id="18" name="平行四边形 17"/>
          <p:cNvSpPr/>
          <p:nvPr/>
        </p:nvSpPr>
        <p:spPr>
          <a:xfrm>
            <a:off x="191344" y="683645"/>
            <a:ext cx="5688632" cy="513107"/>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noProof="1">
                <a:solidFill>
                  <a:schemeClr val="tx1"/>
                </a:solidFill>
                <a:latin typeface="Times New Roman" panose="02020603050405020304" pitchFamily="18" charset="0"/>
                <a:ea typeface="微软雅黑" panose="020B0503020204020204" pitchFamily="34" charset="-122"/>
              </a:rPr>
              <a:t>Hull Form: Importance &amp; Limitations</a:t>
            </a:r>
            <a:endParaRPr lang="en-US" altLang="zh-CN" sz="2000" b="1" noProof="1">
              <a:solidFill>
                <a:schemeClr val="tx1"/>
              </a:solidFill>
              <a:latin typeface="Times New Roman" panose="02020603050405020304" pitchFamily="18" charset="0"/>
              <a:ea typeface="微软雅黑" panose="020B0503020204020204" pitchFamily="34" charset="-122"/>
            </a:endParaRPr>
          </a:p>
        </p:txBody>
      </p:sp>
      <p:sp>
        <p:nvSpPr>
          <p:cNvPr id="6" name="chip1-shape"/>
          <p:cNvSpPr/>
          <p:nvPr/>
        </p:nvSpPr>
        <p:spPr>
          <a:xfrm>
            <a:off x="587752" y="1315616"/>
            <a:ext cx="2987968" cy="457200"/>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noProof="1">
                <a:solidFill>
                  <a:schemeClr val="lt1"/>
                </a:solidFill>
                <a:latin typeface="Times New Roman" panose="02020603050405020304" pitchFamily="18" charset="0"/>
                <a:ea typeface="微软雅黑" panose="020B0503020204020204" pitchFamily="34" charset="-122"/>
              </a:rPr>
              <a:t>Importance of Hull Form</a:t>
            </a:r>
            <a:endParaRPr lang="zh-CN" altLang="en-US" sz="2000" b="1" dirty="0">
              <a:solidFill>
                <a:schemeClr val="lt1"/>
              </a:solidFill>
              <a:latin typeface="Times New Roman" panose="02020603050405020304" pitchFamily="18" charset="0"/>
              <a:ea typeface="微软雅黑" panose="020B0503020204020204" pitchFamily="34" charset="-122"/>
            </a:endParaRPr>
          </a:p>
        </p:txBody>
      </p:sp>
      <p:sp>
        <p:nvSpPr>
          <p:cNvPr id="10" name="chip2-shape"/>
          <p:cNvSpPr/>
          <p:nvPr/>
        </p:nvSpPr>
        <p:spPr>
          <a:xfrm>
            <a:off x="623392" y="3675380"/>
            <a:ext cx="3636040" cy="457200"/>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noProof="1">
                <a:solidFill>
                  <a:schemeClr val="lt1"/>
                </a:solidFill>
                <a:latin typeface="Times New Roman" panose="02020603050405020304" pitchFamily="18" charset="0"/>
                <a:ea typeface="微软雅黑" panose="020B0503020204020204" pitchFamily="34" charset="-122"/>
              </a:rPr>
              <a:t>Limits of Traditional Methods</a:t>
            </a:r>
            <a:endParaRPr lang="zh-CN" altLang="en-US" sz="2000" b="1" dirty="0">
              <a:solidFill>
                <a:schemeClr val="lt1"/>
              </a:solidFill>
              <a:latin typeface="Times New Roman" panose="02020603050405020304" pitchFamily="18" charset="0"/>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886710" y="78740"/>
            <a:ext cx="6273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panose="02020603050405020304"/>
                <a:ea typeface="微软雅黑" panose="020B0503020204020204" pitchFamily="34" charset="-122"/>
              </a:rPr>
              <a:t>Research Background</a:t>
            </a:r>
            <a:endParaRPr lang="en-US" sz="3600" noProof="1"/>
          </a:p>
        </p:txBody>
      </p:sp>
      <p:sp>
        <p:nvSpPr>
          <p:cNvPr id="5" name="TextBox 1"/>
          <p:cNvSpPr txBox="1"/>
          <p:nvPr/>
        </p:nvSpPr>
        <p:spPr>
          <a:xfrm>
            <a:off x="5015880" y="832888"/>
            <a:ext cx="5341620" cy="369570"/>
          </a:xfrm>
          <a:prstGeom prst="rect">
            <a:avLst/>
          </a:prstGeom>
          <a:noFill/>
          <a:ln>
            <a:noFill/>
          </a:ln>
        </p:spPr>
        <p:txBody>
          <a:bodyPr wrap="square" lIns="0" tIns="0" rIns="0" bIns="0" rtlCol="0"/>
          <a:lstStyle/>
          <a:p>
            <a:pPr>
              <a:lnSpc>
                <a:spcPct val="120000"/>
              </a:lnSpc>
              <a:spcBef>
                <a:spcPts val="10"/>
              </a:spcBef>
              <a:buChar char="n"/>
            </a:pPr>
            <a:endParaRPr lang="en-US" sz="2400" noProof="1"/>
          </a:p>
        </p:txBody>
      </p:sp>
      <p:sp>
        <p:nvSpPr>
          <p:cNvPr id="6" name="chev1"/>
          <p:cNvSpPr/>
          <p:nvPr/>
        </p:nvSpPr>
        <p:spPr>
          <a:xfrm>
            <a:off x="317500" y="1397000"/>
            <a:ext cx="2819400" cy="711200"/>
          </a:xfrm>
          <a:prstGeom prst="homePlate">
            <a:avLst>
              <a:gd name="adj" fmla="val 35000"/>
            </a:avLst>
          </a:prstGeom>
          <a:solidFill>
            <a:srgbClr val="8FAADC"/>
          </a:solidFill>
          <a:ln>
            <a:noFill/>
          </a:ln>
        </p:spPr>
      </p:sp>
      <p:sp>
        <p:nvSpPr>
          <p:cNvPr id="7" name="chev1-t"/>
          <p:cNvSpPr txBox="1"/>
          <p:nvPr/>
        </p:nvSpPr>
        <p:spPr>
          <a:xfrm>
            <a:off x="381000" y="1498600"/>
            <a:ext cx="2476500" cy="508000"/>
          </a:xfrm>
          <a:prstGeom prst="rect">
            <a:avLst/>
          </a:prstGeom>
          <a:noFill/>
          <a:ln>
            <a:noFill/>
          </a:ln>
        </p:spPr>
        <p:txBody>
          <a:bodyPr wrap="square" lIns="0" tIns="0" rIns="0" bIns="0" rtlCol="0" anchor="ctr"/>
          <a:lstStyle/>
          <a:p>
            <a:pPr algn="ctr">
              <a:lnSpc>
                <a:spcPct val="120000"/>
              </a:lnSpc>
            </a:pPr>
            <a:r>
              <a:rPr lang="en-US" sz="2000" b="1" noProof="1">
                <a:solidFill>
                  <a:srgbClr val="000000"/>
                </a:solidFill>
                <a:latin typeface="微软雅黑" panose="020B0503020204020204" pitchFamily="34" charset="-122"/>
                <a:ea typeface="微软雅黑" panose="020B0503020204020204" pitchFamily="34" charset="-122"/>
              </a:rPr>
              <a:t>Traditional Empirical Design</a:t>
            </a:r>
            <a:endParaRPr lang="en-US" sz="2000" noProof="1"/>
          </a:p>
        </p:txBody>
      </p:sp>
      <p:sp>
        <p:nvSpPr>
          <p:cNvPr id="8" name="chev2"/>
          <p:cNvSpPr/>
          <p:nvPr/>
        </p:nvSpPr>
        <p:spPr>
          <a:xfrm>
            <a:off x="3200400" y="1397000"/>
            <a:ext cx="2819400" cy="711200"/>
          </a:xfrm>
          <a:prstGeom prst="homePlate">
            <a:avLst>
              <a:gd name="adj" fmla="val 35000"/>
            </a:avLst>
          </a:prstGeom>
          <a:solidFill>
            <a:srgbClr val="4472C4"/>
          </a:solidFill>
          <a:ln>
            <a:noFill/>
          </a:ln>
        </p:spPr>
      </p:sp>
      <p:sp>
        <p:nvSpPr>
          <p:cNvPr id="9" name="chev2-t"/>
          <p:cNvSpPr txBox="1"/>
          <p:nvPr/>
        </p:nvSpPr>
        <p:spPr>
          <a:xfrm>
            <a:off x="3327400" y="1498600"/>
            <a:ext cx="2476500" cy="508000"/>
          </a:xfrm>
          <a:prstGeom prst="rect">
            <a:avLst/>
          </a:prstGeom>
          <a:noFill/>
          <a:ln>
            <a:noFill/>
          </a:ln>
        </p:spPr>
        <p:txBody>
          <a:bodyPr wrap="square" lIns="0" tIns="0" rIns="0" bIns="0" rtlCol="0" anchor="ctr"/>
          <a:lstStyle/>
          <a:p>
            <a:pPr algn="ctr">
              <a:lnSpc>
                <a:spcPct val="120000"/>
              </a:lnSpc>
            </a:pPr>
            <a:r>
              <a:rPr lang="en-US" sz="1800" b="1" noProof="1">
                <a:solidFill>
                  <a:srgbClr val="FFFFFF"/>
                </a:solidFill>
                <a:latin typeface="微软雅黑" panose="020B0503020204020204" pitchFamily="34" charset="-122"/>
                <a:ea typeface="微软雅黑" panose="020B0503020204020204" pitchFamily="34" charset="-122"/>
              </a:rPr>
              <a:t>Simulation-Based Design Optimization</a:t>
            </a:r>
            <a:endParaRPr lang="en-US" sz="1800" noProof="1"/>
          </a:p>
        </p:txBody>
      </p:sp>
      <p:sp>
        <p:nvSpPr>
          <p:cNvPr id="10" name="chev3"/>
          <p:cNvSpPr/>
          <p:nvPr/>
        </p:nvSpPr>
        <p:spPr>
          <a:xfrm>
            <a:off x="6083300" y="1397000"/>
            <a:ext cx="2819400" cy="711200"/>
          </a:xfrm>
          <a:prstGeom prst="homePlate">
            <a:avLst>
              <a:gd name="adj" fmla="val 35000"/>
            </a:avLst>
          </a:prstGeom>
          <a:solidFill>
            <a:srgbClr val="223962"/>
          </a:solidFill>
          <a:ln>
            <a:noFill/>
          </a:ln>
        </p:spPr>
      </p:sp>
      <p:sp>
        <p:nvSpPr>
          <p:cNvPr id="11" name="chev3-t"/>
          <p:cNvSpPr txBox="1"/>
          <p:nvPr/>
        </p:nvSpPr>
        <p:spPr>
          <a:xfrm>
            <a:off x="6210300" y="1498600"/>
            <a:ext cx="2476500" cy="508000"/>
          </a:xfrm>
          <a:prstGeom prst="rect">
            <a:avLst/>
          </a:prstGeom>
          <a:noFill/>
          <a:ln>
            <a:noFill/>
          </a:ln>
        </p:spPr>
        <p:txBody>
          <a:bodyPr wrap="square" lIns="0" tIns="0" rIns="0" bIns="0" rtlCol="0" anchor="ctr"/>
          <a:lstStyle/>
          <a:p>
            <a:pPr algn="ctr">
              <a:lnSpc>
                <a:spcPct val="120000"/>
              </a:lnSpc>
            </a:pPr>
            <a:r>
              <a:rPr lang="en-US" sz="1800" b="1" noProof="1">
                <a:solidFill>
                  <a:srgbClr val="FFFFFF"/>
                </a:solidFill>
                <a:latin typeface="微软雅黑" panose="020B0503020204020204" pitchFamily="34" charset="-122"/>
                <a:ea typeface="微软雅黑" panose="020B0503020204020204" pitchFamily="34" charset="-122"/>
              </a:rPr>
              <a:t>Knowledge-Driven Intelligent Design</a:t>
            </a:r>
            <a:endParaRPr lang="en-US" sz="1800" noProof="1"/>
          </a:p>
        </p:txBody>
      </p:sp>
      <p:sp>
        <p:nvSpPr>
          <p:cNvPr id="12" name="chev4"/>
          <p:cNvSpPr/>
          <p:nvPr/>
        </p:nvSpPr>
        <p:spPr>
          <a:xfrm>
            <a:off x="8966200" y="1397000"/>
            <a:ext cx="2908300" cy="711200"/>
          </a:xfrm>
          <a:prstGeom prst="homePlate">
            <a:avLst>
              <a:gd name="adj" fmla="val 35000"/>
            </a:avLst>
          </a:prstGeom>
          <a:solidFill>
            <a:srgbClr val="002060"/>
          </a:solidFill>
          <a:ln>
            <a:noFill/>
          </a:ln>
        </p:spPr>
      </p:sp>
      <p:sp>
        <p:nvSpPr>
          <p:cNvPr id="13" name="chev4-t"/>
          <p:cNvSpPr txBox="1"/>
          <p:nvPr/>
        </p:nvSpPr>
        <p:spPr>
          <a:xfrm>
            <a:off x="9093200" y="1498600"/>
            <a:ext cx="2603500" cy="508000"/>
          </a:xfrm>
          <a:prstGeom prst="rect">
            <a:avLst/>
          </a:prstGeom>
          <a:noFill/>
          <a:ln>
            <a:noFill/>
          </a:ln>
        </p:spPr>
        <p:txBody>
          <a:bodyPr wrap="square" lIns="0" tIns="0" rIns="0" bIns="0" rtlCol="0" anchor="ctr"/>
          <a:lstStyle/>
          <a:p>
            <a:pPr algn="ctr">
              <a:lnSpc>
                <a:spcPct val="120000"/>
              </a:lnSpc>
            </a:pPr>
            <a:r>
              <a:rPr lang="en-US" sz="2000" b="1" noProof="1">
                <a:solidFill>
                  <a:srgbClr val="FFC000"/>
                </a:solidFill>
                <a:latin typeface="微软雅黑" panose="020B0503020204020204" pitchFamily="34" charset="-122"/>
                <a:ea typeface="微软雅黑" panose="020B0503020204020204" pitchFamily="34" charset="-122"/>
              </a:rPr>
              <a:t>Autonomous Intelligent Design</a:t>
            </a:r>
            <a:endParaRPr lang="en-US" sz="2000" noProof="1"/>
          </a:p>
        </p:txBody>
      </p:sp>
      <p:sp>
        <p:nvSpPr>
          <p:cNvPr id="14" name="d1-shape"/>
          <p:cNvSpPr/>
          <p:nvPr/>
        </p:nvSpPr>
        <p:spPr>
          <a:xfrm>
            <a:off x="317500" y="2413000"/>
            <a:ext cx="2667000" cy="2921000"/>
          </a:xfrm>
          <a:prstGeom prst="roundRect">
            <a:avLst>
              <a:gd name="adj" fmla="val 6342"/>
            </a:avLst>
          </a:prstGeom>
          <a:noFill/>
          <a:ln w="19050">
            <a:solidFill>
              <a:srgbClr val="4472C4"/>
            </a:solidFill>
            <a:prstDash val="dash"/>
          </a:ln>
        </p:spPr>
      </p:sp>
      <p:sp>
        <p:nvSpPr>
          <p:cNvPr id="15" name="d1-text"/>
          <p:cNvSpPr txBox="1"/>
          <p:nvPr/>
        </p:nvSpPr>
        <p:spPr>
          <a:xfrm>
            <a:off x="419100" y="2514600"/>
            <a:ext cx="2508548" cy="2717800"/>
          </a:xfrm>
          <a:prstGeom prst="rect">
            <a:avLst/>
          </a:prstGeom>
          <a:noFill/>
          <a:ln>
            <a:noFill/>
          </a:ln>
        </p:spPr>
        <p:txBody>
          <a:bodyPr wrap="square" lIns="0" tIns="0" rIns="0" bIns="0" rtlCol="0" anchor="t"/>
          <a:lstStyle/>
          <a:p>
            <a:pPr algn="just">
              <a:lnSpc>
                <a:spcPct val="150000"/>
              </a:lnSpc>
            </a:pPr>
            <a:r>
              <a:rPr lang="en-US" sz="16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CAD-assisted drafting with empirical formulas, lines charts and manual iteration; long cycles and little knowledge reuse.</a:t>
            </a:r>
            <a:endParaRPr lang="en-US" sz="1600" noProof="1">
              <a:latin typeface="Times New Roman" panose="02020603050405020304" pitchFamily="18" charset="0"/>
              <a:cs typeface="Times New Roman" panose="02020603050405020304" pitchFamily="18" charset="0"/>
            </a:endParaRPr>
          </a:p>
        </p:txBody>
      </p:sp>
      <p:sp>
        <p:nvSpPr>
          <p:cNvPr id="16" name="d2-shape"/>
          <p:cNvSpPr/>
          <p:nvPr/>
        </p:nvSpPr>
        <p:spPr>
          <a:xfrm>
            <a:off x="3200400" y="2413000"/>
            <a:ext cx="2667000" cy="2921000"/>
          </a:xfrm>
          <a:prstGeom prst="roundRect">
            <a:avLst>
              <a:gd name="adj" fmla="val 6342"/>
            </a:avLst>
          </a:prstGeom>
          <a:noFill/>
          <a:ln w="19050">
            <a:solidFill>
              <a:srgbClr val="4472C4"/>
            </a:solidFill>
            <a:prstDash val="dash"/>
          </a:ln>
        </p:spPr>
      </p:sp>
      <p:sp>
        <p:nvSpPr>
          <p:cNvPr id="17" name="d2-text"/>
          <p:cNvSpPr txBox="1"/>
          <p:nvPr/>
        </p:nvSpPr>
        <p:spPr>
          <a:xfrm>
            <a:off x="3285108" y="2514600"/>
            <a:ext cx="2649984" cy="2717800"/>
          </a:xfrm>
          <a:prstGeom prst="rect">
            <a:avLst/>
          </a:prstGeom>
          <a:noFill/>
          <a:ln>
            <a:noFill/>
          </a:ln>
        </p:spPr>
        <p:txBody>
          <a:bodyPr wrap="square" lIns="0" tIns="0" rIns="0" bIns="0" rtlCol="0" anchor="t"/>
          <a:lstStyle/>
          <a:p>
            <a:pPr>
              <a:lnSpc>
                <a:spcPct val="150000"/>
              </a:lnSpc>
            </a:pPr>
            <a:r>
              <a:rPr lang="en-US" sz="16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CAD parametric modeling + CFD evaluation + automatic optimization (SBDO), moving from the "forward problem" to the "inverse problem" with performance-driven design.</a:t>
            </a:r>
            <a:endParaRPr lang="en-US" sz="1600" noProof="1">
              <a:latin typeface="Times New Roman" panose="02020603050405020304" pitchFamily="18" charset="0"/>
              <a:cs typeface="Times New Roman" panose="02020603050405020304" pitchFamily="18" charset="0"/>
            </a:endParaRPr>
          </a:p>
        </p:txBody>
      </p:sp>
      <p:sp>
        <p:nvSpPr>
          <p:cNvPr id="18" name="d3-shape"/>
          <p:cNvSpPr/>
          <p:nvPr/>
        </p:nvSpPr>
        <p:spPr>
          <a:xfrm>
            <a:off x="6083300" y="2413000"/>
            <a:ext cx="2667000" cy="2921000"/>
          </a:xfrm>
          <a:prstGeom prst="roundRect">
            <a:avLst>
              <a:gd name="adj" fmla="val 6342"/>
            </a:avLst>
          </a:prstGeom>
          <a:noFill/>
          <a:ln w="19050">
            <a:solidFill>
              <a:srgbClr val="4472C4"/>
            </a:solidFill>
            <a:prstDash val="dash"/>
          </a:ln>
        </p:spPr>
      </p:sp>
      <p:sp>
        <p:nvSpPr>
          <p:cNvPr id="19" name="d3-text"/>
          <p:cNvSpPr txBox="1"/>
          <p:nvPr/>
        </p:nvSpPr>
        <p:spPr>
          <a:xfrm>
            <a:off x="6121400" y="2512275"/>
            <a:ext cx="2565400" cy="2717800"/>
          </a:xfrm>
          <a:prstGeom prst="rect">
            <a:avLst/>
          </a:prstGeom>
          <a:noFill/>
          <a:ln>
            <a:noFill/>
          </a:ln>
        </p:spPr>
        <p:txBody>
          <a:bodyPr wrap="square" lIns="0" tIns="0" rIns="0" bIns="0" rtlCol="0" anchor="t"/>
          <a:lstStyle/>
          <a:p>
            <a:pPr algn="just">
              <a:lnSpc>
                <a:spcPct val="150000"/>
              </a:lnSpc>
            </a:pPr>
            <a:r>
              <a:rPr lang="en-US" sz="16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Knowledge engineering and intelligent reasoning distill design knowledge into knowledge bases and rule bases; the GeneHull platform enables knowledge reuse and rapid design.</a:t>
            </a:r>
            <a:endParaRPr lang="en-US" sz="1600" noProof="1">
              <a:latin typeface="Times New Roman" panose="02020603050405020304" pitchFamily="18" charset="0"/>
              <a:cs typeface="Times New Roman" panose="02020603050405020304" pitchFamily="18" charset="0"/>
            </a:endParaRPr>
          </a:p>
        </p:txBody>
      </p:sp>
      <p:sp>
        <p:nvSpPr>
          <p:cNvPr id="20" name="d4-shape"/>
          <p:cNvSpPr/>
          <p:nvPr/>
        </p:nvSpPr>
        <p:spPr>
          <a:xfrm>
            <a:off x="8966200" y="2413000"/>
            <a:ext cx="2908300" cy="2921000"/>
          </a:xfrm>
          <a:prstGeom prst="roundRect">
            <a:avLst>
              <a:gd name="adj" fmla="val 6342"/>
            </a:avLst>
          </a:prstGeom>
          <a:noFill/>
          <a:ln w="19050">
            <a:solidFill>
              <a:srgbClr val="FF0000"/>
            </a:solidFill>
            <a:prstDash val="dash"/>
          </a:ln>
        </p:spPr>
      </p:sp>
      <p:sp>
        <p:nvSpPr>
          <p:cNvPr id="21" name="d4-text"/>
          <p:cNvSpPr txBox="1"/>
          <p:nvPr/>
        </p:nvSpPr>
        <p:spPr>
          <a:xfrm>
            <a:off x="9120336" y="2515904"/>
            <a:ext cx="2628900" cy="2717800"/>
          </a:xfrm>
          <a:prstGeom prst="rect">
            <a:avLst/>
          </a:prstGeom>
          <a:noFill/>
          <a:ln>
            <a:noFill/>
          </a:ln>
        </p:spPr>
        <p:txBody>
          <a:bodyPr wrap="square" lIns="0" tIns="0" rIns="0" bIns="0" rtlCol="0" anchor="t"/>
          <a:lstStyle/>
          <a:p>
            <a:pPr algn="just">
              <a:lnSpc>
                <a:spcPct val="150000"/>
              </a:lnSpc>
            </a:pPr>
            <a:r>
              <a:rPr lang="en-US" sz="16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LLM-centered AI Agents understand requirements, plan tasks, call design tools and iterate autonomously — toward autonomous hull design.</a:t>
            </a:r>
            <a:endParaRPr lang="en-US" sz="1600" noProof="1">
              <a:latin typeface="Times New Roman" panose="02020603050405020304" pitchFamily="18" charset="0"/>
              <a:cs typeface="Times New Roman" panose="02020603050405020304" pitchFamily="18" charset="0"/>
            </a:endParaRPr>
          </a:p>
        </p:txBody>
      </p:sp>
      <p:sp>
        <p:nvSpPr>
          <p:cNvPr id="22" name="arrowline"/>
          <p:cNvSpPr/>
          <p:nvPr/>
        </p:nvSpPr>
        <p:spPr>
          <a:xfrm>
            <a:off x="762000" y="5778500"/>
            <a:ext cx="10668000" cy="381000"/>
          </a:xfrm>
          <a:custGeom>
            <a:avLst/>
            <a:gdLst/>
            <a:ahLst/>
            <a:cxnLst/>
            <a:rect l="l" t="t" r="r" b="b"/>
            <a:pathLst>
              <a:path w="840" h="30">
                <a:moveTo>
                  <a:pt x="0" y="15"/>
                </a:moveTo>
                <a:lnTo>
                  <a:pt x="840" y="15"/>
                </a:lnTo>
              </a:path>
            </a:pathLst>
          </a:custGeom>
          <a:noFill/>
          <a:ln w="38100">
            <a:solidFill>
              <a:srgbClr val="4472C4"/>
            </a:solidFill>
          </a:ln>
        </p:spPr>
      </p:sp>
      <p:sp>
        <p:nvSpPr>
          <p:cNvPr id="23" name="bottom-note"/>
          <p:cNvSpPr txBox="1"/>
          <p:nvPr/>
        </p:nvSpPr>
        <p:spPr>
          <a:xfrm>
            <a:off x="1016000" y="5969000"/>
            <a:ext cx="10160000" cy="508000"/>
          </a:xfrm>
          <a:prstGeom prst="rect">
            <a:avLst/>
          </a:prstGeom>
          <a:noFill/>
          <a:ln>
            <a:noFill/>
          </a:ln>
        </p:spPr>
        <p:txBody>
          <a:bodyPr wrap="square" lIns="0" tIns="0" rIns="0" bIns="0" rtlCol="0" anchor="t"/>
          <a:lstStyle/>
          <a:p>
            <a:pPr algn="ctr">
              <a:lnSpc>
                <a:spcPct val="120000"/>
              </a:lnSpc>
            </a:pPr>
            <a:r>
              <a:rPr lang="en-US" sz="2000" b="1" noProof="1">
                <a:solidFill>
                  <a:srgbClr val="000000"/>
                </a:solidFill>
                <a:latin typeface="微软雅黑" panose="020B0503020204020204" pitchFamily="34" charset="-122"/>
                <a:ea typeface="微软雅黑" panose="020B0503020204020204" pitchFamily="34" charset="-122"/>
              </a:rPr>
              <a:t>Main thread: </a:t>
            </a:r>
            <a:r>
              <a:rPr lang="en-US" sz="2000" b="1" noProof="1">
                <a:solidFill>
                  <a:srgbClr val="FF0000"/>
                </a:solidFill>
                <a:latin typeface="微软雅黑" panose="020B0503020204020204" pitchFamily="34" charset="-122"/>
                <a:ea typeface="微软雅黑" panose="020B0503020204020204" pitchFamily="34" charset="-122"/>
              </a:rPr>
              <a:t>Deep integration of CAD × CFD × AI</a:t>
            </a:r>
            <a:r>
              <a:rPr lang="en-US" sz="2000" b="1" noProof="1">
                <a:solidFill>
                  <a:srgbClr val="000000"/>
                </a:solidFill>
                <a:latin typeface="微软雅黑" panose="020B0503020204020204" pitchFamily="34" charset="-122"/>
                <a:ea typeface="微软雅黑" panose="020B0503020204020204" pitchFamily="34" charset="-122"/>
              </a:rPr>
              <a:t> continuously raises design automation and intelligence</a:t>
            </a:r>
            <a:endParaRPr lang="en-US" sz="2000" noProof="1"/>
          </a:p>
        </p:txBody>
      </p:sp>
      <p:sp>
        <p:nvSpPr>
          <p:cNvPr id="24" name="平行四边形 23"/>
          <p:cNvSpPr/>
          <p:nvPr/>
        </p:nvSpPr>
        <p:spPr>
          <a:xfrm>
            <a:off x="191344" y="683645"/>
            <a:ext cx="5418246" cy="513107"/>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noProof="1">
                <a:solidFill>
                  <a:schemeClr val="tx1"/>
                </a:solidFill>
                <a:latin typeface="Times New Roman" panose="02020603050405020304" pitchFamily="18" charset="0"/>
                <a:ea typeface="微软雅黑" panose="020B0503020204020204" pitchFamily="34" charset="-122"/>
              </a:rPr>
              <a:t>Evolution of Hull Design Methods</a:t>
            </a:r>
            <a:endParaRPr lang="en-US" altLang="zh-CN" sz="2000" b="1" noProof="1">
              <a:solidFill>
                <a:schemeClr val="tx1"/>
              </a:solidFill>
              <a:latin typeface="Times New Roman" panose="02020603050405020304" pitchFamily="18"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endParaRPr lang="en-US" noProof="1"/>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SBDO-Based Hull Form Optimization</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191343" y="683645"/>
            <a:ext cx="4845185"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sym typeface="Times New Roman" panose="02020603050405020304" pitchFamily="18" charset="0"/>
              </a:rPr>
              <a:t>SBDO-Based Hull Form Design</a:t>
            </a:r>
            <a:endParaRPr lang="zh-CN" altLang="en-US" sz="2000" b="1" dirty="0">
              <a:solidFill>
                <a:schemeClr val="tx1"/>
              </a:solidFill>
              <a:latin typeface="Times New Roman" panose="02020603050405020304" pitchFamily="18" charset="0"/>
              <a:ea typeface="微软雅黑" panose="020B0503020204020204" pitchFamily="34" charset="-122"/>
            </a:endParaRPr>
          </a:p>
        </p:txBody>
      </p:sp>
      <p:sp>
        <p:nvSpPr>
          <p:cNvPr id="2" name="文本框 1"/>
          <p:cNvSpPr txBox="1"/>
          <p:nvPr/>
        </p:nvSpPr>
        <p:spPr>
          <a:xfrm>
            <a:off x="551384" y="4371935"/>
            <a:ext cx="11313333" cy="2222340"/>
          </a:xfrm>
          <a:prstGeom prst="rect">
            <a:avLst/>
          </a:prstGeom>
          <a:noFill/>
          <a:ln w="19050">
            <a:solidFill>
              <a:schemeClr val="accent1"/>
            </a:solidFill>
            <a:prstDash val="sysDash"/>
          </a:ln>
        </p:spPr>
        <p:txBody>
          <a:bodyPr wrap="square" rtlCol="0">
            <a:spAutoFit/>
          </a:bodyPr>
          <a:lstStyle/>
          <a:p>
            <a:pPr marL="342900" indent="-342900" algn="just">
              <a:lnSpc>
                <a:spcPct val="130000"/>
              </a:lnSpc>
              <a:buFont typeface="Wingdings" panose="05000000000000000000" pitchFamily="2" charset="2"/>
              <a:buChar char="l"/>
            </a:pPr>
            <a:r>
              <a:rPr lang="en-US" altLang="zh-CN" noProof="1">
                <a:solidFill>
                  <a:srgbClr val="000000"/>
                </a:solidFill>
                <a:latin typeface="Times New Roman" panose="02020603050405020304"/>
                <a:ea typeface="微软雅黑" panose="020B0503020204020204" pitchFamily="34" charset="-122"/>
              </a:rPr>
              <a:t>Advance hull design from the traditional empirical mode toward a knowledge-based mode founded on advanced numerical evaluation;</a:t>
            </a:r>
            <a:endParaRPr lang="en-US" altLang="zh-CN" noProof="1"/>
          </a:p>
          <a:p>
            <a:pPr marL="342900" indent="-342900" algn="just">
              <a:lnSpc>
                <a:spcPct val="130000"/>
              </a:lnSpc>
              <a:buFont typeface="Wingdings" panose="05000000000000000000" pitchFamily="2" charset="2"/>
              <a:buChar char="l"/>
            </a:pPr>
            <a:r>
              <a:rPr lang="en-US" altLang="zh-CN" noProof="1">
                <a:solidFill>
                  <a:srgbClr val="000000"/>
                </a:solidFill>
                <a:latin typeface="Times New Roman" panose="02020603050405020304"/>
                <a:ea typeface="微软雅黑" panose="020B0503020204020204" pitchFamily="34" charset="-122"/>
              </a:rPr>
              <a:t>Go beyond one-off CFD-based selection by systematically integrating CFD into the design optimization process, accelerating engineering application of CFD;</a:t>
            </a:r>
            <a:endParaRPr lang="en-US" altLang="zh-CN" noProof="1"/>
          </a:p>
          <a:p>
            <a:pPr marL="342900" indent="-342900" algn="just">
              <a:lnSpc>
                <a:spcPct val="130000"/>
              </a:lnSpc>
              <a:buFont typeface="Wingdings" panose="05000000000000000000" pitchFamily="2" charset="2"/>
              <a:buChar char="l"/>
            </a:pPr>
            <a:r>
              <a:rPr lang="en-US" altLang="zh-CN" noProof="1">
                <a:solidFill>
                  <a:srgbClr val="000000"/>
                </a:solidFill>
                <a:latin typeface="Times New Roman" panose="02020603050405020304"/>
                <a:ea typeface="微软雅黑" panose="020B0503020204020204" pitchFamily="34" charset="-122"/>
              </a:rPr>
              <a:t>From the "forward problem" to the "inverse problem", achieve performance-driven design, raising the level of innovative hull design and the international competitiveness of China's shipbuilding industry.</a:t>
            </a:r>
            <a:endParaRPr lang="en-US" altLang="zh-CN" noProof="1"/>
          </a:p>
        </p:txBody>
      </p:sp>
      <p:grpSp>
        <p:nvGrpSpPr>
          <p:cNvPr id="47" name="组合 46"/>
          <p:cNvGrpSpPr/>
          <p:nvPr/>
        </p:nvGrpSpPr>
        <p:grpSpPr>
          <a:xfrm>
            <a:off x="1361440" y="1171988"/>
            <a:ext cx="9449435" cy="3182570"/>
            <a:chOff x="546315" y="1738664"/>
            <a:chExt cx="7924585" cy="3929627"/>
          </a:xfrm>
        </p:grpSpPr>
        <p:pic>
          <p:nvPicPr>
            <p:cNvPr id="48" name="Picture 8" descr="动画演示（新）"/>
            <p:cNvPicPr>
              <a:picLocks noChangeAspect="1" noChangeArrowheads="1"/>
            </p:cNvPicPr>
            <p:nvPr/>
          </p:nvPicPr>
          <p:blipFill>
            <a:blip r:embed="rId1"/>
            <a:srcRect/>
            <a:stretch>
              <a:fillRect/>
            </a:stretch>
          </p:blipFill>
          <p:spPr bwMode="auto">
            <a:xfrm>
              <a:off x="546315" y="3875088"/>
              <a:ext cx="2374685" cy="1793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Rectangle 9"/>
            <p:cNvSpPr>
              <a:spLocks noChangeArrowheads="1"/>
            </p:cNvSpPr>
            <p:nvPr/>
          </p:nvSpPr>
          <p:spPr bwMode="auto">
            <a:xfrm>
              <a:off x="3079076" y="1738664"/>
              <a:ext cx="2353951" cy="84865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Intelligent</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Optimization Algorithm</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 name="Line 10"/>
            <p:cNvSpPr>
              <a:spLocks noChangeShapeType="1"/>
            </p:cNvSpPr>
            <p:nvPr/>
          </p:nvSpPr>
          <p:spPr bwMode="auto">
            <a:xfrm flipH="1">
              <a:off x="1838970" y="2733949"/>
              <a:ext cx="1393825" cy="135731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1" name="Line 11"/>
            <p:cNvSpPr>
              <a:spLocks noChangeShapeType="1"/>
            </p:cNvSpPr>
            <p:nvPr/>
          </p:nvSpPr>
          <p:spPr bwMode="auto">
            <a:xfrm flipV="1">
              <a:off x="2006558" y="2851096"/>
              <a:ext cx="1311275" cy="130492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2" name="Rectangle 13"/>
            <p:cNvSpPr>
              <a:spLocks noChangeArrowheads="1"/>
            </p:cNvSpPr>
            <p:nvPr/>
          </p:nvSpPr>
          <p:spPr bwMode="auto">
            <a:xfrm>
              <a:off x="3682444" y="4139707"/>
              <a:ext cx="1393441" cy="93044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Data transfer</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53" name="Line 14"/>
            <p:cNvSpPr>
              <a:spLocks noChangeShapeType="1"/>
            </p:cNvSpPr>
            <p:nvPr/>
          </p:nvSpPr>
          <p:spPr bwMode="auto">
            <a:xfrm flipH="1" flipV="1">
              <a:off x="5299075" y="2619375"/>
              <a:ext cx="1566863" cy="130175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4" name="Line 15"/>
            <p:cNvSpPr>
              <a:spLocks noChangeShapeType="1"/>
            </p:cNvSpPr>
            <p:nvPr/>
          </p:nvSpPr>
          <p:spPr bwMode="auto">
            <a:xfrm flipV="1">
              <a:off x="5190741" y="4591048"/>
              <a:ext cx="484573" cy="1724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5" name="AutoShape 16"/>
            <p:cNvSpPr>
              <a:spLocks noChangeArrowheads="1"/>
            </p:cNvSpPr>
            <p:nvPr/>
          </p:nvSpPr>
          <p:spPr bwMode="auto">
            <a:xfrm>
              <a:off x="4002088" y="3371850"/>
              <a:ext cx="1068387" cy="503238"/>
            </a:xfrm>
            <a:prstGeom prst="curvedUpArrow">
              <a:avLst>
                <a:gd name="adj1" fmla="val 42461"/>
                <a:gd name="adj2" fmla="val 84921"/>
                <a:gd name="adj3" fmla="val 3329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6" name="Text Box 17"/>
            <p:cNvSpPr txBox="1">
              <a:spLocks noChangeArrowheads="1"/>
            </p:cNvSpPr>
            <p:nvPr/>
          </p:nvSpPr>
          <p:spPr bwMode="auto">
            <a:xfrm rot="1758512">
              <a:off x="5152030" y="2881098"/>
              <a:ext cx="2219325" cy="49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ct val="50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Objective</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p:txBody>
        </p:sp>
        <p:sp>
          <p:nvSpPr>
            <p:cNvPr id="57" name="Text Box 18"/>
            <p:cNvSpPr txBox="1">
              <a:spLocks noChangeArrowheads="1"/>
            </p:cNvSpPr>
            <p:nvPr/>
          </p:nvSpPr>
          <p:spPr bwMode="auto">
            <a:xfrm rot="19520528">
              <a:off x="1620615" y="2608051"/>
              <a:ext cx="1573876" cy="1254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t"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rPr>
                <a:t>Design Variables</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endParaRPr>
            </a:p>
            <a:p>
              <a:pPr marL="0" marR="0" lvl="0" indent="0" algn="ctr" defTabSz="457200" rtl="0" eaLnBrk="1" fontAlgn="t" latinLnBrk="0" hangingPunct="1">
                <a:lnSpc>
                  <a:spcPct val="100000"/>
                </a:lnSpc>
                <a:spcBef>
                  <a:spcPts val="0"/>
                </a:spcBef>
                <a:spcAft>
                  <a:spcPts val="0"/>
                </a:spcAft>
                <a:buClrTx/>
                <a:buSzTx/>
                <a:buFontTx/>
                <a:buNone/>
                <a:defRPr/>
              </a:pP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 name="Text Box 19"/>
            <p:cNvSpPr txBox="1">
              <a:spLocks noChangeArrowheads="1"/>
            </p:cNvSpPr>
            <p:nvPr/>
          </p:nvSpPr>
          <p:spPr bwMode="auto">
            <a:xfrm rot="19596684">
              <a:off x="1928107" y="3480550"/>
              <a:ext cx="1597535" cy="49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t" latinLnBrk="0" hangingPunct="1">
                <a:lnSpc>
                  <a:spcPct val="100000"/>
                </a:lnSpc>
                <a:spcBef>
                  <a:spcPct val="50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Constraints</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p:txBody>
        </p:sp>
        <p:sp>
          <p:nvSpPr>
            <p:cNvPr id="59" name="Text Box 20"/>
            <p:cNvSpPr txBox="1">
              <a:spLocks noChangeArrowheads="1"/>
            </p:cNvSpPr>
            <p:nvPr/>
          </p:nvSpPr>
          <p:spPr bwMode="auto">
            <a:xfrm>
              <a:off x="606808" y="5016425"/>
              <a:ext cx="2311008" cy="4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ctr" defTabSz="457200" rtl="0" eaLnBrk="1" fontAlgn="auto" latinLnBrk="0" hangingPunct="1">
                <a:lnSpc>
                  <a:spcPct val="100000"/>
                </a:lnSpc>
                <a:spcBef>
                  <a:spcPct val="50000"/>
                </a:spcBef>
                <a:spcAft>
                  <a:spcPts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Intelligent CAD</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0" name="Text Box 21"/>
            <p:cNvSpPr txBox="1">
              <a:spLocks noChangeArrowheads="1"/>
            </p:cNvSpPr>
            <p:nvPr/>
          </p:nvSpPr>
          <p:spPr bwMode="auto">
            <a:xfrm>
              <a:off x="5822039" y="5169494"/>
              <a:ext cx="2551346" cy="494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2000" dirty="0">
                  <a:solidFill>
                    <a:prstClr val="black"/>
                  </a:solidFill>
                  <a:latin typeface="Times New Roman" panose="02020603050405020304" pitchFamily="18" charset="0"/>
                  <a:cs typeface="Times New Roman" panose="02020603050405020304" pitchFamily="18" charset="0"/>
                </a:rPr>
                <a:t>Performance Evaluation</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61" name="Picture 23" descr="流体动画（新）"/>
            <p:cNvPicPr>
              <a:picLocks noChangeAspect="1" noChangeArrowheads="1"/>
            </p:cNvPicPr>
            <p:nvPr/>
          </p:nvPicPr>
          <p:blipFill>
            <a:blip r:embed="rId2"/>
            <a:srcRect/>
            <a:stretch>
              <a:fillRect/>
            </a:stretch>
          </p:blipFill>
          <p:spPr bwMode="auto">
            <a:xfrm>
              <a:off x="5724525" y="3933825"/>
              <a:ext cx="274637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Line 15"/>
            <p:cNvSpPr>
              <a:spLocks noChangeShapeType="1"/>
            </p:cNvSpPr>
            <p:nvPr/>
          </p:nvSpPr>
          <p:spPr bwMode="auto">
            <a:xfrm>
              <a:off x="3146313" y="4591048"/>
              <a:ext cx="482044" cy="1724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grpSp>
      <p:sp>
        <p:nvSpPr>
          <p:cNvPr id="30" name="矩形 29"/>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3973" y="1081874"/>
            <a:ext cx="6562083" cy="552664"/>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Developed a ship hull surface deformation module based on RBF</a:t>
            </a:r>
            <a:endParaRPr kumimoji="0" lang="zh-CN" altLang="en-US" b="0" i="0" u="none" strike="noStrike" kern="1200" cap="none" spc="0" normalizeH="0" baseline="0" noProof="0" dirty="0">
              <a:ln>
                <a:noFill/>
              </a:ln>
              <a:gradFill>
                <a:gsLst>
                  <a:gs pos="100000">
                    <a:srgbClr val="011859"/>
                  </a:gs>
                  <a:gs pos="15000">
                    <a:srgbClr val="1B5AB4"/>
                  </a:gs>
                </a:gsLst>
                <a:lin ang="5400000" scaled="1"/>
              </a:gradFill>
              <a:effectLst/>
              <a:uLnTx/>
              <a:uFillTx/>
              <a:latin typeface="Times New Roman" panose="02020603050405020304" pitchFamily="18" charset="0"/>
              <a:ea typeface="梦源黑体 CN W23" panose="020B0200000000000000" pitchFamily="34" charset="-122"/>
              <a:cs typeface="Times New Roman" panose="02020603050405020304" pitchFamily="18" charset="0"/>
            </a:endParaRPr>
          </a:p>
        </p:txBody>
      </p:sp>
      <p:sp>
        <p:nvSpPr>
          <p:cNvPr id="7" name="矩形 6"/>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9" name="平行四边形 8"/>
          <p:cNvSpPr/>
          <p:nvPr/>
        </p:nvSpPr>
        <p:spPr>
          <a:xfrm>
            <a:off x="191343" y="683645"/>
            <a:ext cx="2952329"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CAD</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pic>
        <p:nvPicPr>
          <p:cNvPr id="10" name="图片 9"/>
          <p:cNvPicPr>
            <a:picLocks noChangeAspect="1"/>
          </p:cNvPicPr>
          <p:nvPr>
            <p:custDataLst>
              <p:tags r:id="rId5"/>
            </p:custDataLst>
          </p:nvPr>
        </p:nvPicPr>
        <p:blipFill>
          <a:blip r:embed="rId6"/>
          <a:srcRect l="28349" t="14065" r="1958" b="7185"/>
          <a:stretch>
            <a:fillRect/>
          </a:stretch>
        </p:blipFill>
        <p:spPr>
          <a:xfrm>
            <a:off x="6005014" y="1634538"/>
            <a:ext cx="5495290" cy="3947795"/>
          </a:xfrm>
          <a:prstGeom prst="rect">
            <a:avLst/>
          </a:prstGeom>
        </p:spPr>
      </p:pic>
      <p:sp>
        <p:nvSpPr>
          <p:cNvPr id="11" name="TextBox 7"/>
          <p:cNvSpPr txBox="1">
            <a:spLocks noChangeArrowheads="1"/>
          </p:cNvSpPr>
          <p:nvPr/>
        </p:nvSpPr>
        <p:spPr bwMode="auto">
          <a:xfrm>
            <a:off x="6033664" y="5535557"/>
            <a:ext cx="5744845" cy="224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rtlCol="0" anchor="t"/>
          <a:lstStyle>
            <a:defPPr>
              <a:defRPr lang="en-US"/>
            </a:defPPr>
            <a:lvl1pPr>
              <a:lnSpc>
                <a:spcPct val="150000"/>
              </a:lnSpc>
              <a:defRPr sz="16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r>
              <a:rPr lang="en-US" altLang="zh-CN" dirty="0"/>
              <a:t>Solving the above equations yields all coefficients </a:t>
            </a:r>
            <a:r>
              <a:rPr lang="en-US" altLang="zh-CN" dirty="0" err="1"/>
              <a:t>λi</a:t>
            </a:r>
            <a:r>
              <a:rPr lang="en-US" altLang="zh-CN" dirty="0"/>
              <a:t> and ci, which can then be used with the original hull mesh points to determine the new mesh points.</a:t>
            </a:r>
            <a:endParaRPr lang="zh-CN" altLang="en-US" dirty="0"/>
          </a:p>
        </p:txBody>
      </p:sp>
      <p:sp>
        <p:nvSpPr>
          <p:cNvPr id="12" name="矩形 11"/>
          <p:cNvSpPr>
            <a:spLocks noChangeArrowheads="1"/>
          </p:cNvSpPr>
          <p:nvPr/>
        </p:nvSpPr>
        <p:spPr bwMode="auto">
          <a:xfrm>
            <a:off x="203175" y="3342489"/>
            <a:ext cx="5643563" cy="2433637"/>
          </a:xfrm>
          <a:prstGeom prst="rect">
            <a:avLst/>
          </a:prstGeom>
          <a:gradFill rotWithShape="1">
            <a:gsLst>
              <a:gs pos="0">
                <a:srgbClr val="C8E2FF"/>
              </a:gs>
              <a:gs pos="35001">
                <a:srgbClr val="D8EAFF"/>
              </a:gs>
              <a:gs pos="100000">
                <a:srgbClr val="EEF6FF"/>
              </a:gs>
            </a:gsLst>
            <a:lin ang="16200000" scaled="1"/>
          </a:gradFill>
          <a:ln w="9525">
            <a:solidFill>
              <a:srgbClr val="FF0000"/>
            </a:solidFill>
            <a:round/>
          </a:ln>
          <a:effectLst>
            <a:outerShdw blurRad="63500" dist="20000" dir="5400000" rotWithShape="0">
              <a:srgbClr val="000000">
                <a:alpha val="37999"/>
              </a:srgbClr>
            </a:outerShdw>
          </a:effectLst>
        </p:spPr>
        <p:txBody>
          <a:bodyPr/>
          <a:lstStyle/>
          <a:p>
            <a:pPr>
              <a:buFontTx/>
              <a:buNone/>
              <a:defRPr/>
            </a:pPr>
            <a:endParaRPr lang="zh-CN" altLang="en-US" sz="1800">
              <a:latin typeface="+mn-lt"/>
              <a:ea typeface="+mn-ea"/>
            </a:endParaRPr>
          </a:p>
        </p:txBody>
      </p:sp>
      <p:graphicFrame>
        <p:nvGraphicFramePr>
          <p:cNvPr id="13" name="Object 23"/>
          <p:cNvGraphicFramePr>
            <a:graphicFrameLocks noChangeAspect="1"/>
          </p:cNvGraphicFramePr>
          <p:nvPr/>
        </p:nvGraphicFramePr>
        <p:xfrm>
          <a:off x="995263" y="1743678"/>
          <a:ext cx="3852862" cy="754062"/>
        </p:xfrm>
        <a:graphic>
          <a:graphicData uri="http://schemas.openxmlformats.org/presentationml/2006/ole">
            <mc:AlternateContent xmlns:mc="http://schemas.openxmlformats.org/markup-compatibility/2006">
              <mc:Choice xmlns:v="urn:schemas-microsoft-com:vml" Requires="v">
                <p:oleObj spid="_x0000_s24584" name="" r:id="rId7" imgW="1793240" imgH="432435" progId="Equation.DSMT4">
                  <p:embed/>
                </p:oleObj>
              </mc:Choice>
              <mc:Fallback>
                <p:oleObj name="" r:id="rId7" imgW="1793240" imgH="432435"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5263" y="1743678"/>
                        <a:ext cx="3852862"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右箭头 6"/>
          <p:cNvSpPr>
            <a:spLocks noChangeArrowheads="1"/>
          </p:cNvSpPr>
          <p:nvPr/>
        </p:nvSpPr>
        <p:spPr bwMode="auto">
          <a:xfrm>
            <a:off x="3060675" y="4199739"/>
            <a:ext cx="684213" cy="611187"/>
          </a:xfrm>
          <a:prstGeom prst="rightArrow">
            <a:avLst>
              <a:gd name="adj1" fmla="val 50000"/>
              <a:gd name="adj2" fmla="val 50050"/>
            </a:avLst>
          </a:prstGeom>
          <a:solidFill>
            <a:srgbClr val="FF0000"/>
          </a:solidFill>
          <a:ln w="9525">
            <a:solidFill>
              <a:schemeClr val="bg2"/>
            </a:solidFill>
            <a:miter lim="800000"/>
          </a:ln>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pPr algn="ctr"/>
            <a:endParaRPr lang="zh-CN" altLang="en-US" sz="1800" b="0">
              <a:ea typeface="宋体" panose="02010600030101010101" pitchFamily="2" charset="-122"/>
            </a:endParaRPr>
          </a:p>
        </p:txBody>
      </p:sp>
      <p:graphicFrame>
        <p:nvGraphicFramePr>
          <p:cNvPr id="15" name="Object 13"/>
          <p:cNvGraphicFramePr>
            <a:graphicFrameLocks noChangeAspect="1"/>
          </p:cNvGraphicFramePr>
          <p:nvPr/>
        </p:nvGraphicFramePr>
        <p:xfrm>
          <a:off x="3846488" y="4199739"/>
          <a:ext cx="1871662" cy="679450"/>
        </p:xfrm>
        <a:graphic>
          <a:graphicData uri="http://schemas.openxmlformats.org/presentationml/2006/ole">
            <mc:AlternateContent xmlns:mc="http://schemas.openxmlformats.org/markup-compatibility/2006">
              <mc:Choice xmlns:v="urn:schemas-microsoft-com:vml" Requires="v">
                <p:oleObj spid="_x0000_s24585" name="" r:id="rId9" imgW="1264285" imgH="459740" progId="Equation.3">
                  <p:embed/>
                </p:oleObj>
              </mc:Choice>
              <mc:Fallback>
                <p:oleObj name="" r:id="rId9" imgW="1264285" imgH="45974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6488" y="4199739"/>
                        <a:ext cx="18716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14"/>
          <p:cNvGraphicFramePr>
            <a:graphicFrameLocks noChangeAspect="1"/>
          </p:cNvGraphicFramePr>
          <p:nvPr/>
        </p:nvGraphicFramePr>
        <p:xfrm>
          <a:off x="417488" y="3556801"/>
          <a:ext cx="2643187" cy="1981200"/>
        </p:xfrm>
        <a:graphic>
          <a:graphicData uri="http://schemas.openxmlformats.org/presentationml/2006/ole">
            <mc:AlternateContent xmlns:mc="http://schemas.openxmlformats.org/markup-compatibility/2006">
              <mc:Choice xmlns:v="urn:schemas-microsoft-com:vml" Requires="v">
                <p:oleObj spid="_x0000_s24586" name="" r:id="rId11" imgW="3060700" imgH="1854200" progId="Equation.DSMT4">
                  <p:embed/>
                </p:oleObj>
              </mc:Choice>
              <mc:Fallback>
                <p:oleObj name="" r:id="rId11" imgW="3060700" imgH="18542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488" y="3556801"/>
                        <a:ext cx="2643187"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 name="矩形 21"/>
          <p:cNvSpPr>
            <a:spLocks noChangeArrowheads="1"/>
          </p:cNvSpPr>
          <p:nvPr/>
        </p:nvSpPr>
        <p:spPr bwMode="auto">
          <a:xfrm>
            <a:off x="1806735" y="6037768"/>
            <a:ext cx="2436441" cy="44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anose="020B0604020202020204" pitchFamily="34" charset="0"/>
                <a:ea typeface="微软雅黑" panose="020B0503020204020204" pitchFamily="34" charset="-122"/>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pPr algn="ctr" eaLnBrk="0" hangingPunct="0">
              <a:lnSpc>
                <a:spcPct val="125000"/>
              </a:lnSpc>
            </a:pPr>
            <a:r>
              <a:rPr lang="en-US" altLang="zh-CN" sz="2000" dirty="0">
                <a:latin typeface="微软雅黑" panose="020B0503020204020204" pitchFamily="34" charset="-122"/>
              </a:rPr>
              <a:t>Solution process</a:t>
            </a:r>
            <a:endParaRPr lang="zh-CN" altLang="en-US" sz="2000" dirty="0">
              <a:latin typeface="微软雅黑" panose="020B0503020204020204" pitchFamily="34" charset="-122"/>
            </a:endParaRPr>
          </a:p>
        </p:txBody>
      </p:sp>
      <p:sp>
        <p:nvSpPr>
          <p:cNvPr id="18" name="矩形 23"/>
          <p:cNvSpPr>
            <a:spLocks noChangeArrowheads="1"/>
          </p:cNvSpPr>
          <p:nvPr/>
        </p:nvSpPr>
        <p:spPr bwMode="auto">
          <a:xfrm>
            <a:off x="417488" y="2634603"/>
            <a:ext cx="210264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zh-CN" sz="2000" b="1" dirty="0">
                <a:latin typeface="微软雅黑" panose="020B0503020204020204" pitchFamily="34" charset="-122"/>
                <a:ea typeface="微软雅黑" panose="020B0503020204020204" pitchFamily="34" charset="-122"/>
              </a:rPr>
              <a:t>Φ is a radial basis function</a:t>
            </a:r>
            <a:endParaRPr lang="zh-CN" altLang="en-US" sz="2000" b="1" dirty="0">
              <a:latin typeface="微软雅黑" panose="020B0503020204020204" pitchFamily="34" charset="-122"/>
              <a:ea typeface="微软雅黑" panose="020B0503020204020204" pitchFamily="34" charset="-122"/>
            </a:endParaRPr>
          </a:p>
        </p:txBody>
      </p:sp>
      <p:sp>
        <p:nvSpPr>
          <p:cNvPr id="19" name="矩形 24"/>
          <p:cNvSpPr>
            <a:spLocks noChangeArrowheads="1"/>
          </p:cNvSpPr>
          <p:nvPr/>
        </p:nvSpPr>
        <p:spPr bwMode="auto">
          <a:xfrm>
            <a:off x="3232448" y="2647104"/>
            <a:ext cx="242729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a:defRPr sz="1200" b="1">
                <a:solidFill>
                  <a:schemeClr val="tx1"/>
                </a:solidFill>
                <a:latin typeface="Arial" panose="020B0604020202020204" pitchFamily="34" charset="0"/>
                <a:ea typeface="微软雅黑" panose="020B0503020204020204" pitchFamily="34" charset="-122"/>
              </a:defRPr>
            </a:lvl2pPr>
            <a:lvl3pPr>
              <a:defRPr sz="1200" b="1">
                <a:solidFill>
                  <a:schemeClr val="tx1"/>
                </a:solidFill>
                <a:latin typeface="Arial" panose="020B0604020202020204" pitchFamily="34" charset="0"/>
                <a:ea typeface="微软雅黑" panose="020B0503020204020204" pitchFamily="34" charset="-122"/>
              </a:defRPr>
            </a:lvl3pPr>
            <a:lvl4pPr>
              <a:defRPr sz="1200" b="1">
                <a:solidFill>
                  <a:schemeClr val="tx1"/>
                </a:solidFill>
                <a:latin typeface="Arial" panose="020B0604020202020204" pitchFamily="34" charset="0"/>
                <a:ea typeface="微软雅黑" panose="020B0503020204020204" pitchFamily="34" charset="-122"/>
              </a:defRPr>
            </a:lvl4pPr>
            <a:lvl5pPr>
              <a:defRPr sz="1200" b="1">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buFont typeface="Arial" panose="020B0604020202020204" pitchFamily="34" charset="0"/>
              <a:defRPr sz="1200" b="1">
                <a:solidFill>
                  <a:schemeClr val="tx1"/>
                </a:solidFill>
                <a:latin typeface="Arial" panose="020B0604020202020204" pitchFamily="34" charset="0"/>
                <a:ea typeface="微软雅黑" panose="020B0503020204020204" pitchFamily="34" charset="-122"/>
              </a:defRPr>
            </a:lvl9pPr>
          </a:lstStyle>
          <a:p>
            <a:pPr eaLnBrk="0" hangingPunct="0"/>
            <a:r>
              <a:rPr lang="en-US" altLang="zh-CN" sz="2000" dirty="0">
                <a:latin typeface="微软雅黑" panose="020B0503020204020204" pitchFamily="34" charset="-122"/>
              </a:rPr>
              <a:t>p(x) is a low-order polynomial</a:t>
            </a:r>
            <a:endParaRPr lang="zh-CN" altLang="en-US" sz="2000" dirty="0">
              <a:latin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67408" y="791210"/>
            <a:ext cx="10548981" cy="825500"/>
            <a:chOff x="5664" y="1483"/>
            <a:chExt cx="8327" cy="1301"/>
          </a:xfrm>
        </p:grpSpPr>
        <p:grpSp>
          <p:nvGrpSpPr>
            <p:cNvPr id="4" name="组合 3"/>
            <p:cNvGrpSpPr/>
            <p:nvPr/>
          </p:nvGrpSpPr>
          <p:grpSpPr>
            <a:xfrm>
              <a:off x="5664" y="1483"/>
              <a:ext cx="8327" cy="1301"/>
              <a:chOff x="-1228366" y="7426705"/>
              <a:chExt cx="11401771" cy="1780838"/>
            </a:xfrm>
          </p:grpSpPr>
          <p:pic>
            <p:nvPicPr>
              <p:cNvPr id="5" name="图片 4"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1228366" y="7426705"/>
                <a:ext cx="2959406" cy="1764400"/>
              </a:xfrm>
              <a:prstGeom prst="rect">
                <a:avLst/>
              </a:prstGeom>
            </p:spPr>
          </p:pic>
          <p:pic>
            <p:nvPicPr>
              <p:cNvPr id="6" name="图片 5"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7340346" y="7443143"/>
                <a:ext cx="2833059" cy="1764400"/>
              </a:xfrm>
              <a:prstGeom prst="rect">
                <a:avLst/>
              </a:prstGeom>
            </p:spPr>
          </p:pic>
        </p:grpSp>
        <p:sp>
          <p:nvSpPr>
            <p:cNvPr id="7" name="文本框 6"/>
            <p:cNvSpPr txBox="1"/>
            <p:nvPr/>
          </p:nvSpPr>
          <p:spPr>
            <a:xfrm>
              <a:off x="7842" y="1743"/>
              <a:ext cx="4063" cy="871"/>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Example of smooth deformation of the hull surface</a:t>
              </a:r>
              <a:endParaRPr lang="zh-CN" altLang="en-US" dirty="0"/>
            </a:p>
            <a:p>
              <a:endParaRPr lang="zh-CN" altLang="en-US" dirty="0"/>
            </a:p>
          </p:txBody>
        </p:sp>
      </p:grpSp>
      <p:grpSp>
        <p:nvGrpSpPr>
          <p:cNvPr id="38" name="组合 37"/>
          <p:cNvGrpSpPr/>
          <p:nvPr/>
        </p:nvGrpSpPr>
        <p:grpSpPr>
          <a:xfrm>
            <a:off x="1000557" y="1468179"/>
            <a:ext cx="9605047" cy="4774917"/>
            <a:chOff x="-407" y="1767"/>
            <a:chExt cx="18422" cy="9562"/>
          </a:xfrm>
        </p:grpSpPr>
        <p:sp>
          <p:nvSpPr>
            <p:cNvPr id="39" name="TextBox 8"/>
            <p:cNvSpPr txBox="1">
              <a:spLocks noChangeArrowheads="1"/>
            </p:cNvSpPr>
            <p:nvPr/>
          </p:nvSpPr>
          <p:spPr bwMode="auto">
            <a:xfrm>
              <a:off x="-406" y="6295"/>
              <a:ext cx="11820"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342900" marR="0" lvl="0" indent="-342900" fontAlgn="auto">
                <a:lnSpc>
                  <a:spcPct val="100000"/>
                </a:lnSpc>
                <a:spcBef>
                  <a:spcPts val="0"/>
                </a:spcBef>
                <a:spcAft>
                  <a:spcPts val="0"/>
                </a:spcAft>
                <a:buClrTx/>
                <a:buSzTx/>
                <a:buFont typeface="Wingdings" panose="05000000000000000000" charset="0"/>
                <a:buChar char="Ø"/>
                <a:defRPr kumimoji="0" b="1" i="0" u="none" strike="noStrike" cap="none" spc="0" normalizeH="0" baseline="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defRPr sz="1200" b="1">
                  <a:latin typeface="Arial" panose="020B0604020202020204" pitchFamily="34" charset="0"/>
                  <a:ea typeface="微软雅黑" panose="020B0503020204020204" pitchFamily="34" charset="-122"/>
                </a:defRPr>
              </a:lvl2pPr>
              <a:lvl3pPr marL="1143000" indent="-228600">
                <a:defRPr sz="1200" b="1">
                  <a:latin typeface="Arial" panose="020B0604020202020204" pitchFamily="34" charset="0"/>
                  <a:ea typeface="微软雅黑" panose="020B0503020204020204" pitchFamily="34" charset="-122"/>
                </a:defRPr>
              </a:lvl3pPr>
              <a:lvl4pPr marL="1600200" indent="-228600">
                <a:defRPr sz="1200" b="1">
                  <a:latin typeface="Arial" panose="020B0604020202020204" pitchFamily="34" charset="0"/>
                  <a:ea typeface="微软雅黑" panose="020B0503020204020204" pitchFamily="34" charset="-122"/>
                </a:defRPr>
              </a:lvl4pPr>
              <a:lvl5pPr marL="2057400" indent="-228600">
                <a:defRPr sz="1200" b="1">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latin typeface="Arial" panose="020B0604020202020204" pitchFamily="34" charset="0"/>
                  <a:ea typeface="微软雅黑" panose="020B0503020204020204" pitchFamily="34" charset="-122"/>
                </a:defRPr>
              </a:lvl9pPr>
            </a:lstStyle>
            <a:p>
              <a:r>
                <a:rPr lang="en-US" altLang="zh-CN" dirty="0"/>
                <a:t>Forward deformation constrained by station positioning:</a:t>
              </a:r>
              <a:endParaRPr lang="zh-CN" altLang="en-US" dirty="0"/>
            </a:p>
          </p:txBody>
        </p:sp>
        <p:pic>
          <p:nvPicPr>
            <p:cNvPr id="4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71" y="2085"/>
              <a:ext cx="7144" cy="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77" y="6906"/>
              <a:ext cx="6933" cy="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7"/>
            <p:cNvSpPr txBox="1">
              <a:spLocks noChangeArrowheads="1"/>
            </p:cNvSpPr>
            <p:nvPr/>
          </p:nvSpPr>
          <p:spPr bwMode="auto">
            <a:xfrm>
              <a:off x="-407" y="1767"/>
              <a:ext cx="1127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charset="0"/>
                <a:buChar char="Ø"/>
                <a:defRPr/>
              </a:pPr>
              <a:r>
                <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Constraint on the bow deformation of the waterline:</a:t>
              </a:r>
              <a:endPar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pic>
          <p:nvPicPr>
            <p:cNvPr id="4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8" y="2435"/>
              <a:ext cx="6350" cy="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9" y="7374"/>
              <a:ext cx="6350" cy="3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7" name="直接连接符 46"/>
          <p:cNvCxnSpPr/>
          <p:nvPr/>
        </p:nvCxnSpPr>
        <p:spPr>
          <a:xfrm>
            <a:off x="6138545" y="1866900"/>
            <a:ext cx="12065" cy="1563370"/>
          </a:xfrm>
          <a:prstGeom prst="line">
            <a:avLst/>
          </a:prstGeom>
          <a:ln w="12700" cap="flat" cmpd="sng" algn="ctr">
            <a:solidFill>
              <a:schemeClr val="bg1">
                <a:lumMod val="50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46" name="直接连接符 45"/>
          <p:cNvCxnSpPr/>
          <p:nvPr/>
        </p:nvCxnSpPr>
        <p:spPr>
          <a:xfrm>
            <a:off x="6150610" y="4128135"/>
            <a:ext cx="11430" cy="1657985"/>
          </a:xfrm>
          <a:prstGeom prst="line">
            <a:avLst/>
          </a:prstGeom>
          <a:ln w="12700" cap="flat" cmpd="sng" algn="ctr">
            <a:solidFill>
              <a:schemeClr val="bg1">
                <a:lumMod val="50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17" name="矩形 16"/>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平行四边形 17"/>
          <p:cNvSpPr/>
          <p:nvPr/>
        </p:nvSpPr>
        <p:spPr>
          <a:xfrm>
            <a:off x="191343" y="683645"/>
            <a:ext cx="2952329"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CAD</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sp>
        <p:nvSpPr>
          <p:cNvPr id="2" name="矩形 1"/>
          <p:cNvSpPr/>
          <p:nvPr/>
        </p:nvSpPr>
        <p:spPr>
          <a:xfrm>
            <a:off x="2184110" y="3330658"/>
            <a:ext cx="1493807" cy="369332"/>
          </a:xfrm>
          <a:prstGeom prst="rect">
            <a:avLst/>
          </a:prstGeom>
          <a:solidFill>
            <a:schemeClr val="bg1"/>
          </a:solidFill>
        </p:spPr>
        <p:txBody>
          <a:bodyPr wrap="none">
            <a:spAutoFit/>
          </a:bodyPr>
          <a:lstStyle/>
          <a:p>
            <a:r>
              <a:rPr lang="en-US" altLang="zh-CN" dirty="0"/>
              <a:t>Variable point</a:t>
            </a:r>
            <a:endParaRPr lang="zh-CN" altLang="en-US" dirty="0"/>
          </a:p>
        </p:txBody>
      </p:sp>
      <p:sp>
        <p:nvSpPr>
          <p:cNvPr id="8" name="矩形 7"/>
          <p:cNvSpPr/>
          <p:nvPr/>
        </p:nvSpPr>
        <p:spPr>
          <a:xfrm>
            <a:off x="3848855" y="3329351"/>
            <a:ext cx="1220014" cy="369332"/>
          </a:xfrm>
          <a:prstGeom prst="rect">
            <a:avLst/>
          </a:prstGeom>
          <a:solidFill>
            <a:schemeClr val="bg1"/>
          </a:solidFill>
        </p:spPr>
        <p:txBody>
          <a:bodyPr wrap="none">
            <a:spAutoFit/>
          </a:bodyPr>
          <a:lstStyle/>
          <a:p>
            <a:r>
              <a:rPr lang="en-US" altLang="zh-CN" dirty="0"/>
              <a:t>Fixed point</a:t>
            </a:r>
            <a:endParaRPr lang="zh-CN" altLang="en-US" dirty="0"/>
          </a:p>
        </p:txBody>
      </p:sp>
      <p:sp>
        <p:nvSpPr>
          <p:cNvPr id="20" name="矩形 19"/>
          <p:cNvSpPr/>
          <p:nvPr/>
        </p:nvSpPr>
        <p:spPr>
          <a:xfrm>
            <a:off x="2204132" y="5802113"/>
            <a:ext cx="1493807" cy="369332"/>
          </a:xfrm>
          <a:prstGeom prst="rect">
            <a:avLst/>
          </a:prstGeom>
          <a:solidFill>
            <a:schemeClr val="bg1"/>
          </a:solidFill>
        </p:spPr>
        <p:txBody>
          <a:bodyPr wrap="none">
            <a:spAutoFit/>
          </a:bodyPr>
          <a:lstStyle/>
          <a:p>
            <a:r>
              <a:rPr lang="en-US" altLang="zh-CN" dirty="0"/>
              <a:t>Variable point</a:t>
            </a:r>
            <a:endParaRPr lang="zh-CN" altLang="en-US" dirty="0"/>
          </a:p>
        </p:txBody>
      </p:sp>
      <p:sp>
        <p:nvSpPr>
          <p:cNvPr id="21" name="矩形 20"/>
          <p:cNvSpPr/>
          <p:nvPr/>
        </p:nvSpPr>
        <p:spPr>
          <a:xfrm>
            <a:off x="3868877" y="5800806"/>
            <a:ext cx="1220014" cy="369332"/>
          </a:xfrm>
          <a:prstGeom prst="rect">
            <a:avLst/>
          </a:prstGeom>
          <a:solidFill>
            <a:schemeClr val="bg1"/>
          </a:solidFill>
        </p:spPr>
        <p:txBody>
          <a:bodyPr wrap="none">
            <a:spAutoFit/>
          </a:bodyPr>
          <a:lstStyle/>
          <a:p>
            <a:r>
              <a:rPr lang="en-US" altLang="zh-CN" dirty="0"/>
              <a:t>Fixed point</a:t>
            </a:r>
            <a:endParaRPr lang="zh-CN" altLang="en-US" dirty="0"/>
          </a:p>
        </p:txBody>
      </p:sp>
      <p:sp>
        <p:nvSpPr>
          <p:cNvPr id="9" name="矩形 8"/>
          <p:cNvSpPr/>
          <p:nvPr/>
        </p:nvSpPr>
        <p:spPr>
          <a:xfrm>
            <a:off x="7872208" y="3616251"/>
            <a:ext cx="763351" cy="369332"/>
          </a:xfrm>
          <a:prstGeom prst="rect">
            <a:avLst/>
          </a:prstGeom>
          <a:solidFill>
            <a:schemeClr val="bg1"/>
          </a:solidFill>
        </p:spPr>
        <p:txBody>
          <a:bodyPr wrap="none">
            <a:spAutoFit/>
          </a:bodyPr>
          <a:lstStyle/>
          <a:p>
            <a:r>
              <a:rPr lang="en-US" altLang="zh-CN" dirty="0"/>
              <a:t>Initial </a:t>
            </a:r>
            <a:endParaRPr lang="zh-CN" altLang="en-US" dirty="0"/>
          </a:p>
        </p:txBody>
      </p:sp>
      <p:sp>
        <p:nvSpPr>
          <p:cNvPr id="10" name="矩形 9"/>
          <p:cNvSpPr/>
          <p:nvPr/>
        </p:nvSpPr>
        <p:spPr>
          <a:xfrm>
            <a:off x="9026404" y="3596723"/>
            <a:ext cx="1374672" cy="369332"/>
          </a:xfrm>
          <a:prstGeom prst="rect">
            <a:avLst/>
          </a:prstGeom>
          <a:solidFill>
            <a:schemeClr val="bg1"/>
          </a:solidFill>
        </p:spPr>
        <p:txBody>
          <a:bodyPr wrap="none">
            <a:spAutoFit/>
          </a:bodyPr>
          <a:lstStyle/>
          <a:p>
            <a:r>
              <a:rPr lang="zh-CN" altLang="en-US" dirty="0"/>
              <a:t>Deformation</a:t>
            </a:r>
            <a:endParaRPr lang="zh-CN" altLang="en-US" dirty="0"/>
          </a:p>
        </p:txBody>
      </p:sp>
      <p:sp>
        <p:nvSpPr>
          <p:cNvPr id="24" name="矩形 23"/>
          <p:cNvSpPr/>
          <p:nvPr/>
        </p:nvSpPr>
        <p:spPr>
          <a:xfrm>
            <a:off x="7872208" y="5893292"/>
            <a:ext cx="763351" cy="369332"/>
          </a:xfrm>
          <a:prstGeom prst="rect">
            <a:avLst/>
          </a:prstGeom>
          <a:solidFill>
            <a:schemeClr val="bg1"/>
          </a:solidFill>
        </p:spPr>
        <p:txBody>
          <a:bodyPr wrap="none">
            <a:spAutoFit/>
          </a:bodyPr>
          <a:lstStyle/>
          <a:p>
            <a:r>
              <a:rPr lang="en-US" altLang="zh-CN" dirty="0"/>
              <a:t>Initial </a:t>
            </a:r>
            <a:endParaRPr lang="zh-CN" altLang="en-US" dirty="0"/>
          </a:p>
        </p:txBody>
      </p:sp>
      <p:sp>
        <p:nvSpPr>
          <p:cNvPr id="25" name="矩形 24"/>
          <p:cNvSpPr/>
          <p:nvPr/>
        </p:nvSpPr>
        <p:spPr>
          <a:xfrm>
            <a:off x="9026404" y="5873764"/>
            <a:ext cx="1374672" cy="369332"/>
          </a:xfrm>
          <a:prstGeom prst="rect">
            <a:avLst/>
          </a:prstGeom>
          <a:solidFill>
            <a:schemeClr val="bg1"/>
          </a:solidFill>
        </p:spPr>
        <p:txBody>
          <a:bodyPr wrap="none">
            <a:spAutoFit/>
          </a:bodyPr>
          <a:lstStyle/>
          <a:p>
            <a:r>
              <a:rPr lang="zh-CN" altLang="en-US" dirty="0"/>
              <a:t>Deformation</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3973" y="1081874"/>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Developed a ship hull surface deformation module based on FFD</a:t>
            </a:r>
            <a:endParaRPr lang="zh-CN" altLang="en-US" dirty="0"/>
          </a:p>
        </p:txBody>
      </p:sp>
      <p:grpSp>
        <p:nvGrpSpPr>
          <p:cNvPr id="9" name="组合 8"/>
          <p:cNvGrpSpPr/>
          <p:nvPr/>
        </p:nvGrpSpPr>
        <p:grpSpPr>
          <a:xfrm>
            <a:off x="791774" y="1817258"/>
            <a:ext cx="4328499" cy="3837354"/>
            <a:chOff x="665895" y="1717573"/>
            <a:chExt cx="4328499" cy="3837354"/>
          </a:xfrm>
        </p:grpSpPr>
        <p:grpSp>
          <p:nvGrpSpPr>
            <p:cNvPr id="3" name="组合 2"/>
            <p:cNvGrpSpPr/>
            <p:nvPr/>
          </p:nvGrpSpPr>
          <p:grpSpPr>
            <a:xfrm>
              <a:off x="811774" y="1725482"/>
              <a:ext cx="2004262" cy="2954815"/>
              <a:chOff x="3042920" y="1655617"/>
              <a:chExt cx="2004262" cy="2954815"/>
            </a:xfrm>
          </p:grpSpPr>
          <p:pic>
            <p:nvPicPr>
              <p:cNvPr id="6" name="图片 5"/>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2920" y="1655617"/>
                <a:ext cx="1838960" cy="2162810"/>
              </a:xfrm>
              <a:prstGeom prst="rect">
                <a:avLst/>
              </a:prstGeom>
              <a:noFill/>
              <a:ln>
                <a:noFill/>
              </a:ln>
            </p:spPr>
          </p:pic>
          <p:sp>
            <p:nvSpPr>
              <p:cNvPr id="4" name="矩形 3"/>
              <p:cNvSpPr/>
              <p:nvPr/>
            </p:nvSpPr>
            <p:spPr>
              <a:xfrm>
                <a:off x="3081387" y="3964101"/>
                <a:ext cx="1965795" cy="64633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Initial Bow Nose Point Cloud</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5" name="组合 4"/>
            <p:cNvGrpSpPr/>
            <p:nvPr/>
          </p:nvGrpSpPr>
          <p:grpSpPr>
            <a:xfrm>
              <a:off x="2715379" y="1717573"/>
              <a:ext cx="2279015" cy="2954815"/>
              <a:chOff x="6604060" y="1254486"/>
              <a:chExt cx="2279015" cy="2954815"/>
            </a:xfrm>
          </p:grpSpPr>
          <p:pic>
            <p:nvPicPr>
              <p:cNvPr id="7" name="图片 6"/>
              <p:cNvPicPr/>
              <p:nvPr/>
            </p:nvPicPr>
            <p:blipFill>
              <a:blip r:embed="rId6">
                <a:extLst>
                  <a:ext uri="{28A0092B-C50C-407E-A947-70E740481C1C}">
                    <a14:useLocalDpi xmlns:a14="http://schemas.microsoft.com/office/drawing/2010/main" val="0"/>
                  </a:ext>
                </a:extLst>
              </a:blip>
              <a:srcRect/>
              <a:stretch>
                <a:fillRect/>
              </a:stretch>
            </p:blipFill>
            <p:spPr bwMode="auto">
              <a:xfrm>
                <a:off x="6604060" y="1254486"/>
                <a:ext cx="2279015" cy="2156460"/>
              </a:xfrm>
              <a:prstGeom prst="rect">
                <a:avLst/>
              </a:prstGeom>
              <a:noFill/>
              <a:ln>
                <a:noFill/>
              </a:ln>
            </p:spPr>
          </p:pic>
          <p:sp>
            <p:nvSpPr>
              <p:cNvPr id="10" name="矩形 9"/>
              <p:cNvSpPr/>
              <p:nvPr/>
            </p:nvSpPr>
            <p:spPr>
              <a:xfrm>
                <a:off x="6604060" y="3562970"/>
                <a:ext cx="2174622" cy="64633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Deformed Bow Nose Point Cloud</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13" name="矩形 12"/>
            <p:cNvSpPr/>
            <p:nvPr/>
          </p:nvSpPr>
          <p:spPr>
            <a:xfrm>
              <a:off x="665895" y="4908596"/>
              <a:ext cx="4285212" cy="64633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Comparison Of Spatial Point Clouds Before And After Deformation</a:t>
              </a:r>
              <a:endParaRPr kumimoji="0" lang="zh-CN"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11" name="组合 10"/>
          <p:cNvGrpSpPr/>
          <p:nvPr/>
        </p:nvGrpSpPr>
        <p:grpSpPr>
          <a:xfrm>
            <a:off x="5533607" y="3593897"/>
            <a:ext cx="6323032" cy="3177943"/>
            <a:chOff x="5771497" y="1838352"/>
            <a:chExt cx="5724601" cy="2908260"/>
          </a:xfrm>
        </p:grpSpPr>
        <p:pic>
          <p:nvPicPr>
            <p:cNvPr id="12" name="图片 11"/>
            <p:cNvPicPr/>
            <p:nvPr/>
          </p:nvPicPr>
          <p:blipFill>
            <a:blip r:embed="rId7">
              <a:extLst>
                <a:ext uri="{28A0092B-C50C-407E-A947-70E740481C1C}">
                  <a14:useLocalDpi xmlns:a14="http://schemas.microsoft.com/office/drawing/2010/main" val="0"/>
                </a:ext>
              </a:extLst>
            </a:blip>
            <a:srcRect/>
            <a:stretch>
              <a:fillRect/>
            </a:stretch>
          </p:blipFill>
          <p:spPr bwMode="auto">
            <a:xfrm>
              <a:off x="6191460" y="1919740"/>
              <a:ext cx="1278890" cy="1560830"/>
            </a:xfrm>
            <a:prstGeom prst="rect">
              <a:avLst/>
            </a:prstGeom>
            <a:noFill/>
            <a:ln>
              <a:noFill/>
            </a:ln>
          </p:spPr>
        </p:pic>
        <p:pic>
          <p:nvPicPr>
            <p:cNvPr id="14" name="图片 13" descr="{E8L1M58BP5[W38`12H%BM5"/>
            <p:cNvPicPr/>
            <p:nvPr/>
          </p:nvPicPr>
          <p:blipFill>
            <a:blip r:embed="rId8">
              <a:extLst>
                <a:ext uri="{28A0092B-C50C-407E-A947-70E740481C1C}">
                  <a14:useLocalDpi xmlns:a14="http://schemas.microsoft.com/office/drawing/2010/main" val="0"/>
                </a:ext>
              </a:extLst>
            </a:blip>
            <a:srcRect/>
            <a:stretch>
              <a:fillRect/>
            </a:stretch>
          </p:blipFill>
          <p:spPr bwMode="auto">
            <a:xfrm>
              <a:off x="7820515" y="1838352"/>
              <a:ext cx="1315720" cy="1570355"/>
            </a:xfrm>
            <a:prstGeom prst="rect">
              <a:avLst/>
            </a:prstGeom>
            <a:noFill/>
            <a:ln>
              <a:noFill/>
            </a:ln>
          </p:spPr>
        </p:pic>
        <p:pic>
          <p:nvPicPr>
            <p:cNvPr id="15" name="图片 14"/>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476621" y="2068539"/>
              <a:ext cx="1714500" cy="1109980"/>
            </a:xfrm>
            <a:prstGeom prst="rect">
              <a:avLst/>
            </a:prstGeom>
            <a:noFill/>
            <a:ln>
              <a:noFill/>
            </a:ln>
          </p:spPr>
        </p:pic>
        <p:sp>
          <p:nvSpPr>
            <p:cNvPr id="16" name="矩形 15"/>
            <p:cNvSpPr/>
            <p:nvPr/>
          </p:nvSpPr>
          <p:spPr>
            <a:xfrm>
              <a:off x="5851559" y="3690393"/>
              <a:ext cx="1748224" cy="337990"/>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Effect Comparison</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7" name="矩形 16"/>
            <p:cNvSpPr/>
            <p:nvPr/>
          </p:nvSpPr>
          <p:spPr>
            <a:xfrm>
              <a:off x="7485657" y="3563647"/>
              <a:ext cx="2047889" cy="59148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Longitudinal Section Line Comparison</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8" name="矩形 17"/>
            <p:cNvSpPr/>
            <p:nvPr/>
          </p:nvSpPr>
          <p:spPr>
            <a:xfrm>
              <a:off x="9393640" y="3563646"/>
              <a:ext cx="2102458" cy="59148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Transverse Section Line Comparison</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9" name="矩形 18"/>
            <p:cNvSpPr/>
            <p:nvPr/>
          </p:nvSpPr>
          <p:spPr>
            <a:xfrm>
              <a:off x="5771497" y="4155129"/>
              <a:ext cx="5476207" cy="59148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rPr>
                <a:t>Comparison Of The Hull Form Lines Of The KCS Vessel Before And After The Deformation Of The Bulbous Bow</a:t>
              </a:r>
              <a:endParaRPr kumimoji="0"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pic>
        <p:nvPicPr>
          <p:cNvPr id="20" name="图片 19"/>
          <p:cNvPicPr>
            <a:picLocks noChangeAspect="1"/>
          </p:cNvPicPr>
          <p:nvPr>
            <p:custDataLst>
              <p:tags r:id="rId10"/>
            </p:custDataLst>
          </p:nvPr>
        </p:nvPicPr>
        <p:blipFill>
          <a:blip r:embed="rId11"/>
          <a:stretch>
            <a:fillRect/>
          </a:stretch>
        </p:blipFill>
        <p:spPr>
          <a:xfrm>
            <a:off x="7426960" y="1542415"/>
            <a:ext cx="2199005" cy="1852930"/>
          </a:xfrm>
          <a:prstGeom prst="rect">
            <a:avLst/>
          </a:prstGeom>
        </p:spPr>
      </p:pic>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2952329"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CAD</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5420" y="996208"/>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Propose a construction method for a uniform design scheme for large sample point numbers based on genetic algorithms</a:t>
            </a:r>
            <a:endParaRPr lang="zh-CN" altLang="en-US" dirty="0"/>
          </a:p>
        </p:txBody>
      </p:sp>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graphicFrame>
        <p:nvGraphicFramePr>
          <p:cNvPr id="7" name="Object 15"/>
          <p:cNvGraphicFramePr>
            <a:graphicFrameLocks noChangeAspect="1"/>
          </p:cNvGraphicFramePr>
          <p:nvPr/>
        </p:nvGraphicFramePr>
        <p:xfrm>
          <a:off x="5447928" y="4581128"/>
          <a:ext cx="2952328" cy="1771684"/>
        </p:xfrm>
        <a:graphic>
          <a:graphicData uri="http://schemas.openxmlformats.org/presentationml/2006/ole">
            <mc:AlternateContent xmlns:mc="http://schemas.openxmlformats.org/markup-compatibility/2006">
              <mc:Choice xmlns:v="urn:schemas-microsoft-com:vml" Requires="v">
                <p:oleObj spid="_x0000_s25610" name="" r:id="rId5" imgW="3431540" imgH="8963660" progId="Visio.Drawing.11">
                  <p:embed/>
                </p:oleObj>
              </mc:Choice>
              <mc:Fallback>
                <p:oleObj name="" r:id="rId5" imgW="3431540" imgH="8963660" progId="Visio.Drawing.11">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t="880" r="22076" b="75871"/>
                      <a:stretch>
                        <a:fillRect/>
                      </a:stretch>
                    </p:blipFill>
                    <p:spPr bwMode="auto">
                      <a:xfrm>
                        <a:off x="5447928" y="4581128"/>
                        <a:ext cx="2952328" cy="1771684"/>
                      </a:xfrm>
                      <a:prstGeom prst="rect">
                        <a:avLst/>
                      </a:prstGeom>
                      <a:noFill/>
                      <a:ln>
                        <a:noFill/>
                      </a:ln>
                    </p:spPr>
                  </p:pic>
                </p:oleObj>
              </mc:Fallback>
            </mc:AlternateContent>
          </a:graphicData>
        </a:graphic>
      </p:graphicFrame>
      <p:graphicFrame>
        <p:nvGraphicFramePr>
          <p:cNvPr id="8" name="Object 17"/>
          <p:cNvGraphicFramePr>
            <a:graphicFrameLocks noChangeAspect="1"/>
          </p:cNvGraphicFramePr>
          <p:nvPr/>
        </p:nvGraphicFramePr>
        <p:xfrm>
          <a:off x="8616280" y="4725144"/>
          <a:ext cx="2880320" cy="1610744"/>
        </p:xfrm>
        <a:graphic>
          <a:graphicData uri="http://schemas.openxmlformats.org/presentationml/2006/ole">
            <mc:AlternateContent xmlns:mc="http://schemas.openxmlformats.org/markup-compatibility/2006">
              <mc:Choice xmlns:v="urn:schemas-microsoft-com:vml" Requires="v">
                <p:oleObj spid="_x0000_s25611" name="" r:id="rId7" imgW="2303145" imgH="8963660" progId="Visio.Drawing.11">
                  <p:embed/>
                </p:oleObj>
              </mc:Choice>
              <mc:Fallback>
                <p:oleObj name="" r:id="rId7" imgW="2303145" imgH="8963660" progId="Visio.Drawing.11">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t="969" b="77090"/>
                      <a:stretch>
                        <a:fillRect/>
                      </a:stretch>
                    </p:blipFill>
                    <p:spPr bwMode="auto">
                      <a:xfrm>
                        <a:off x="8616280" y="4725144"/>
                        <a:ext cx="2880320" cy="1610744"/>
                      </a:xfrm>
                      <a:prstGeom prst="rect">
                        <a:avLst/>
                      </a:prstGeom>
                      <a:noFill/>
                      <a:ln>
                        <a:noFill/>
                      </a:ln>
                    </p:spPr>
                  </p:pic>
                </p:oleObj>
              </mc:Fallback>
            </mc:AlternateContent>
          </a:graphicData>
        </a:graphic>
      </p:graphicFrame>
      <p:sp>
        <p:nvSpPr>
          <p:cNvPr id="9" name="Rectangle 6"/>
          <p:cNvSpPr>
            <a:spLocks noChangeArrowheads="1"/>
          </p:cNvSpPr>
          <p:nvPr/>
        </p:nvSpPr>
        <p:spPr bwMode="auto">
          <a:xfrm>
            <a:off x="9048328" y="6213547"/>
            <a:ext cx="2232248" cy="67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algn="ctr">
              <a:lnSpc>
                <a:spcPct val="125000"/>
              </a:lnSpc>
              <a:buFont typeface="Arial" panose="020B0604020202020204" pitchFamily="34" charset="0"/>
              <a:buNone/>
            </a:pPr>
            <a:r>
              <a:rPr lang="en-US" altLang="zh-CN" sz="1600" dirty="0">
                <a:latin typeface="微软雅黑" panose="020B0503020204020204" pitchFamily="34" charset="-122"/>
              </a:rPr>
              <a:t>Dynamic selection of sample points</a:t>
            </a:r>
            <a:endParaRPr lang="zh-CN" altLang="en-US" sz="1600" dirty="0">
              <a:latin typeface="微软雅黑" panose="020B0503020204020204" pitchFamily="34" charset="-122"/>
            </a:endParaRPr>
          </a:p>
        </p:txBody>
      </p:sp>
      <p:sp>
        <p:nvSpPr>
          <p:cNvPr id="10" name="Rectangle 6"/>
          <p:cNvSpPr>
            <a:spLocks noChangeArrowheads="1"/>
          </p:cNvSpPr>
          <p:nvPr/>
        </p:nvSpPr>
        <p:spPr bwMode="auto">
          <a:xfrm>
            <a:off x="5964242" y="6215441"/>
            <a:ext cx="2016224" cy="67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algn="ctr">
              <a:lnSpc>
                <a:spcPct val="125000"/>
              </a:lnSpc>
              <a:buFont typeface="Arial" panose="020B0604020202020204" pitchFamily="34" charset="0"/>
              <a:buNone/>
            </a:pPr>
            <a:r>
              <a:rPr lang="en-US" altLang="zh-CN" sz="1600" dirty="0">
                <a:latin typeface="微软雅黑" panose="020B0503020204020204" pitchFamily="34" charset="-122"/>
              </a:rPr>
              <a:t>Selection of static sample points</a:t>
            </a:r>
            <a:endParaRPr lang="zh-CN" altLang="en-US" sz="1600" dirty="0">
              <a:latin typeface="微软雅黑" panose="020B0503020204020204" pitchFamily="34" charset="-122"/>
            </a:endParaRPr>
          </a:p>
        </p:txBody>
      </p:sp>
      <p:sp>
        <p:nvSpPr>
          <p:cNvPr id="11" name="矩形 23"/>
          <p:cNvSpPr>
            <a:spLocks noChangeArrowheads="1"/>
          </p:cNvSpPr>
          <p:nvPr/>
        </p:nvSpPr>
        <p:spPr bwMode="auto">
          <a:xfrm>
            <a:off x="215276" y="6365959"/>
            <a:ext cx="47836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latin typeface="微软雅黑" panose="020B0503020204020204" pitchFamily="34" charset="-122"/>
                <a:ea typeface="微软雅黑" panose="020B0503020204020204" pitchFamily="34" charset="-122"/>
                <a:sym typeface="微软雅黑" panose="020B0503020204020204" pitchFamily="34" charset="-122"/>
              </a:rPr>
              <a:t>Method for selecting sample points</a:t>
            </a:r>
            <a:endParaRPr lang="zh-CN" altLang="en-US" sz="2000" b="1" dirty="0">
              <a:latin typeface="微软雅黑" panose="020B0503020204020204" pitchFamily="34" charset="-122"/>
              <a:ea typeface="微软雅黑" panose="020B0503020204020204" pitchFamily="34" charset="-122"/>
            </a:endParaRPr>
          </a:p>
        </p:txBody>
      </p:sp>
      <p:sp>
        <p:nvSpPr>
          <p:cNvPr id="12" name="下箭头 18"/>
          <p:cNvSpPr>
            <a:spLocks noChangeArrowheads="1"/>
          </p:cNvSpPr>
          <p:nvPr/>
        </p:nvSpPr>
        <p:spPr bwMode="auto">
          <a:xfrm>
            <a:off x="2275160" y="2580843"/>
            <a:ext cx="508000" cy="423862"/>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3" name="下箭头 18"/>
          <p:cNvSpPr>
            <a:spLocks noChangeArrowheads="1"/>
          </p:cNvSpPr>
          <p:nvPr/>
        </p:nvSpPr>
        <p:spPr bwMode="auto">
          <a:xfrm>
            <a:off x="2275160" y="3803218"/>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4" name="下箭头 18"/>
          <p:cNvSpPr>
            <a:spLocks noChangeArrowheads="1"/>
          </p:cNvSpPr>
          <p:nvPr/>
        </p:nvSpPr>
        <p:spPr bwMode="auto">
          <a:xfrm>
            <a:off x="2275160" y="5036705"/>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5" name="Rectangle 10"/>
          <p:cNvSpPr>
            <a:spLocks noChangeArrowheads="1"/>
          </p:cNvSpPr>
          <p:nvPr/>
        </p:nvSpPr>
        <p:spPr bwMode="auto">
          <a:xfrm>
            <a:off x="981348" y="1772816"/>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rPr>
              <a:t>Uniform Design Method</a:t>
            </a:r>
            <a:endParaRPr lang="zh-CN" altLang="en-US" sz="2000" b="1" dirty="0">
              <a:latin typeface="微软雅黑" panose="020B0503020204020204" pitchFamily="34" charset="-122"/>
              <a:ea typeface="微软雅黑" panose="020B0503020204020204" pitchFamily="34" charset="-122"/>
            </a:endParaRPr>
          </a:p>
        </p:txBody>
      </p:sp>
      <p:sp>
        <p:nvSpPr>
          <p:cNvPr id="16" name="Rectangle 10"/>
          <p:cNvSpPr>
            <a:spLocks noChangeArrowheads="1"/>
          </p:cNvSpPr>
          <p:nvPr/>
        </p:nvSpPr>
        <p:spPr bwMode="auto">
          <a:xfrm>
            <a:off x="981348" y="3015829"/>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rPr>
              <a:t>Static Sample Point Selection Method</a:t>
            </a:r>
            <a:endParaRPr lang="zh-CN" altLang="en-US" sz="2000" b="1" dirty="0">
              <a:latin typeface="微软雅黑" panose="020B0503020204020204" pitchFamily="34" charset="-122"/>
              <a:ea typeface="微软雅黑" panose="020B0503020204020204" pitchFamily="34" charset="-122"/>
            </a:endParaRPr>
          </a:p>
        </p:txBody>
      </p:sp>
      <p:sp>
        <p:nvSpPr>
          <p:cNvPr id="17" name="Rectangle 10"/>
          <p:cNvSpPr>
            <a:spLocks noChangeArrowheads="1"/>
          </p:cNvSpPr>
          <p:nvPr/>
        </p:nvSpPr>
        <p:spPr bwMode="auto">
          <a:xfrm>
            <a:off x="979760" y="4220741"/>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rPr>
              <a:t>Dynamic Sample Point Selection Method</a:t>
            </a:r>
            <a:endParaRPr lang="zh-CN" altLang="en-US" sz="2000" b="1" dirty="0">
              <a:latin typeface="微软雅黑" panose="020B0503020204020204" pitchFamily="34" charset="-122"/>
              <a:ea typeface="微软雅黑" panose="020B0503020204020204" pitchFamily="34" charset="-122"/>
            </a:endParaRPr>
          </a:p>
        </p:txBody>
      </p:sp>
      <p:sp>
        <p:nvSpPr>
          <p:cNvPr id="18" name="Rectangle 10"/>
          <p:cNvSpPr>
            <a:spLocks noChangeArrowheads="1"/>
          </p:cNvSpPr>
          <p:nvPr/>
        </p:nvSpPr>
        <p:spPr bwMode="auto">
          <a:xfrm>
            <a:off x="979760" y="5466929"/>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2000" b="1" dirty="0">
                <a:latin typeface="微软雅黑" panose="020B0503020204020204" pitchFamily="34" charset="-122"/>
                <a:ea typeface="微软雅黑" panose="020B0503020204020204" pitchFamily="34" charset="-122"/>
                <a:sym typeface="微软雅黑" panose="020B0503020204020204" pitchFamily="34" charset="-122"/>
              </a:rPr>
              <a:t>Application Example</a:t>
            </a:r>
            <a:endParaRPr lang="zh-CN" altLang="en-US" sz="2000" b="1"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6168008" y="1704189"/>
            <a:ext cx="5112568" cy="1220755"/>
            <a:chOff x="5663952" y="1484784"/>
            <a:chExt cx="5112568" cy="1220755"/>
          </a:xfrm>
        </p:grpSpPr>
        <p:sp>
          <p:nvSpPr>
            <p:cNvPr id="20" name="矩形 19"/>
            <p:cNvSpPr/>
            <p:nvPr/>
          </p:nvSpPr>
          <p:spPr>
            <a:xfrm>
              <a:off x="5663952" y="1772816"/>
              <a:ext cx="5112568" cy="932723"/>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custDataLst>
                <p:tags r:id="rId9"/>
              </p:custDataLst>
            </p:nvPr>
          </p:nvSpPr>
          <p:spPr>
            <a:xfrm>
              <a:off x="5951984" y="148478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400" b="1" dirty="0">
                  <a:solidFill>
                    <a:schemeClr val="bg1"/>
                  </a:solidFill>
                  <a:latin typeface="Arial" panose="020B0604020202020204" pitchFamily="34" charset="0"/>
                  <a:ea typeface="微软雅黑" panose="020B0503020204020204" pitchFamily="34" charset="-122"/>
                  <a:sym typeface="Arial" panose="020B0604020202020204" pitchFamily="34" charset="0"/>
                </a:rPr>
                <a:t>Disadvantages</a:t>
              </a:r>
              <a:endParaRPr lang="zh-CN" altLang="en-US" sz="1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矩形 9"/>
            <p:cNvSpPr>
              <a:spLocks noChangeArrowheads="1"/>
            </p:cNvSpPr>
            <p:nvPr/>
          </p:nvSpPr>
          <p:spPr bwMode="auto">
            <a:xfrm>
              <a:off x="5735960" y="1985459"/>
              <a:ext cx="4926260" cy="700576"/>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eaLnBrk="0" hangingPunct="0">
                <a:lnSpc>
                  <a:spcPct val="150000"/>
                </a:lnSpc>
                <a:spcAft>
                  <a:spcPts val="1500"/>
                </a:spcAft>
              </a:pPr>
              <a:r>
                <a:rPr lang="en-US" altLang="zh-CN"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The traditional selection method does not take into account the differences in the performance space.</a:t>
              </a:r>
              <a:endParaRPr lang="zh-CN" altLang="en-US"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下箭头 18"/>
          <p:cNvSpPr>
            <a:spLocks noChangeArrowheads="1"/>
          </p:cNvSpPr>
          <p:nvPr/>
        </p:nvSpPr>
        <p:spPr bwMode="auto">
          <a:xfrm>
            <a:off x="8328248" y="2996952"/>
            <a:ext cx="508000" cy="432048"/>
          </a:xfrm>
          <a:prstGeom prst="downArrow">
            <a:avLst>
              <a:gd name="adj1" fmla="val 50000"/>
              <a:gd name="adj2" fmla="val 49987"/>
            </a:avLst>
          </a:prstGeom>
          <a:solidFill>
            <a:schemeClr val="accent1"/>
          </a:solidFill>
          <a:ln w="9525">
            <a:solidFill>
              <a:schemeClr val="tx1"/>
            </a:solidFill>
            <a:round/>
          </a:ln>
        </p:spPr>
        <p:txBody>
          <a:bodyPr/>
          <a:lstStyle/>
          <a:p>
            <a:endParaRPr lang="zh-CN" altLang="en-US" b="1">
              <a:latin typeface="微软雅黑" panose="020B0503020204020204" pitchFamily="34" charset="-122"/>
              <a:ea typeface="微软雅黑" panose="020B0503020204020204" pitchFamily="34" charset="-122"/>
            </a:endParaRPr>
          </a:p>
        </p:txBody>
      </p:sp>
      <p:grpSp>
        <p:nvGrpSpPr>
          <p:cNvPr id="27" name="组合 26"/>
          <p:cNvGrpSpPr/>
          <p:nvPr/>
        </p:nvGrpSpPr>
        <p:grpSpPr>
          <a:xfrm>
            <a:off x="6168008" y="3212976"/>
            <a:ext cx="5112568" cy="1152128"/>
            <a:chOff x="5663952" y="1484784"/>
            <a:chExt cx="5112568" cy="1152128"/>
          </a:xfrm>
        </p:grpSpPr>
        <p:sp>
          <p:nvSpPr>
            <p:cNvPr id="28" name="矩形 27"/>
            <p:cNvSpPr/>
            <p:nvPr/>
          </p:nvSpPr>
          <p:spPr>
            <a:xfrm>
              <a:off x="5663952" y="1772816"/>
              <a:ext cx="5112568" cy="864096"/>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角 28"/>
            <p:cNvSpPr/>
            <p:nvPr>
              <p:custDataLst>
                <p:tags r:id="rId10"/>
              </p:custDataLst>
            </p:nvPr>
          </p:nvSpPr>
          <p:spPr>
            <a:xfrm>
              <a:off x="5951984" y="148478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400" b="1" dirty="0">
                  <a:solidFill>
                    <a:schemeClr val="bg1"/>
                  </a:solidFill>
                  <a:latin typeface="Arial" panose="020B0604020202020204" pitchFamily="34" charset="0"/>
                  <a:ea typeface="微软雅黑" panose="020B0503020204020204" pitchFamily="34" charset="-122"/>
                  <a:sym typeface="Arial" panose="020B0604020202020204" pitchFamily="34" charset="0"/>
                </a:rPr>
                <a:t>Improvement</a:t>
              </a:r>
              <a:endParaRPr lang="zh-CN" altLang="en-US" sz="1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矩形 9"/>
            <p:cNvSpPr>
              <a:spLocks noChangeArrowheads="1"/>
            </p:cNvSpPr>
            <p:nvPr/>
          </p:nvSpPr>
          <p:spPr bwMode="auto">
            <a:xfrm>
              <a:off x="5807968" y="1936336"/>
              <a:ext cx="4824536" cy="700576"/>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spcBef>
                  <a:spcPct val="50000"/>
                </a:spcBef>
                <a:buClr>
                  <a:schemeClr val="bg2">
                    <a:lumMod val="25000"/>
                  </a:schemeClr>
                </a:buClr>
              </a:pPr>
              <a:r>
                <a:rPr lang="en-US" altLang="zh-CN"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Proposed a dynamic selection method for sample points based on the principle of correlation.</a:t>
              </a:r>
              <a:endParaRPr lang="en-US" altLang="zh-CN"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1" name="矩形: 圆角 30"/>
          <p:cNvSpPr/>
          <p:nvPr/>
        </p:nvSpPr>
        <p:spPr>
          <a:xfrm>
            <a:off x="5735960" y="1614033"/>
            <a:ext cx="5760640" cy="2849648"/>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连接符: 肘形 31"/>
          <p:cNvCxnSpPr>
            <a:stCxn id="17" idx="3"/>
            <a:endCxn id="20" idx="1"/>
          </p:cNvCxnSpPr>
          <p:nvPr/>
        </p:nvCxnSpPr>
        <p:spPr>
          <a:xfrm flipV="1">
            <a:off x="4223792" y="2458583"/>
            <a:ext cx="1944216" cy="2163796"/>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509270" y="878840"/>
            <a:ext cx="2216150"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223375" y="863600"/>
            <a:ext cx="2121535" cy="817880"/>
          </a:xfrm>
          <a:prstGeom prst="rect">
            <a:avLst/>
          </a:prstGeom>
        </p:spPr>
      </p:pic>
      <p:sp>
        <p:nvSpPr>
          <p:cNvPr id="25" name="文本框 24"/>
          <p:cNvSpPr txBox="1"/>
          <p:nvPr/>
        </p:nvSpPr>
        <p:spPr>
          <a:xfrm>
            <a:off x="2725420" y="996208"/>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Research on the Construction of a Graph Neural Network Resistance Prediction Model Based on Ship Body Point Cloud</a:t>
            </a:r>
            <a:endParaRPr lang="zh-CN" altLang="en-US" dirty="0"/>
          </a:p>
        </p:txBody>
      </p:sp>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sp>
        <p:nvSpPr>
          <p:cNvPr id="2" name="矩形 1"/>
          <p:cNvSpPr/>
          <p:nvPr/>
        </p:nvSpPr>
        <p:spPr>
          <a:xfrm>
            <a:off x="243024" y="1861420"/>
            <a:ext cx="11705951" cy="1142044"/>
          </a:xfrm>
          <a:prstGeom prst="rect">
            <a:avLst/>
          </a:prstGeom>
          <a:noFill/>
          <a:ln w="19050">
            <a:solidFill>
              <a:schemeClr val="accent1"/>
            </a:solidFill>
            <a:prstDash val="sysDash"/>
          </a:ln>
        </p:spPr>
        <p:txBody>
          <a:bodyPr wrap="square" rtlCol="0">
            <a:spAutoFit/>
          </a:bodyPr>
          <a:lstStyle/>
          <a:p>
            <a:pPr algn="just">
              <a:lnSpc>
                <a:spcPct val="130000"/>
              </a:lnSpc>
            </a:pPr>
            <a:r>
              <a:rPr lang="en-US" altLang="zh-CN" dirty="0">
                <a:solidFill>
                  <a:srgbClr val="000000"/>
                </a:solidFill>
                <a:latin typeface="Times New Roman" panose="02020603050405020304"/>
                <a:ea typeface="微软雅黑" panose="020B0503020204020204" pitchFamily="34" charset="-122"/>
              </a:rPr>
              <a:t>Address the issue of the generalizability of the proxy model. Currently, the construction of the proxy model involves users building approximate models for different optimization problems (with different optimization variables/parameters), which makes it difficult to achieve generalizability and insufficient in terms of generalization ability.</a:t>
            </a:r>
            <a:endParaRPr lang="zh-CN" altLang="en-US" dirty="0">
              <a:solidFill>
                <a:srgbClr val="000000"/>
              </a:solidFill>
              <a:latin typeface="Times New Roman" panose="02020603050405020304"/>
              <a:ea typeface="微软雅黑" panose="020B0503020204020204" pitchFamily="34" charset="-122"/>
            </a:endParaRPr>
          </a:p>
        </p:txBody>
      </p:sp>
      <p:grpSp>
        <p:nvGrpSpPr>
          <p:cNvPr id="33" name="组合 32"/>
          <p:cNvGrpSpPr/>
          <p:nvPr/>
        </p:nvGrpSpPr>
        <p:grpSpPr>
          <a:xfrm>
            <a:off x="222582" y="3184861"/>
            <a:ext cx="3478924" cy="1053687"/>
            <a:chOff x="8158931" y="1561453"/>
            <a:chExt cx="3478924" cy="1053687"/>
          </a:xfrm>
        </p:grpSpPr>
        <p:pic>
          <p:nvPicPr>
            <p:cNvPr id="34" name="图片 33"/>
            <p:cNvPicPr>
              <a:picLocks noChangeAspect="1"/>
            </p:cNvPicPr>
            <p:nvPr/>
          </p:nvPicPr>
          <p:blipFill>
            <a:blip r:embed="rId5"/>
            <a:stretch>
              <a:fillRect/>
            </a:stretch>
          </p:blipFill>
          <p:spPr>
            <a:xfrm>
              <a:off x="8158931" y="1561453"/>
              <a:ext cx="3478924" cy="758227"/>
            </a:xfrm>
            <a:prstGeom prst="rect">
              <a:avLst/>
            </a:prstGeom>
          </p:spPr>
        </p:pic>
        <p:sp>
          <p:nvSpPr>
            <p:cNvPr id="35" name="文本框 34"/>
            <p:cNvSpPr txBox="1"/>
            <p:nvPr/>
          </p:nvSpPr>
          <p:spPr>
            <a:xfrm>
              <a:off x="9600638" y="2354790"/>
              <a:ext cx="925076" cy="260350"/>
            </a:xfrm>
            <a:prstGeom prst="rect">
              <a:avLst/>
            </a:prstGeom>
            <a:noFill/>
          </p:spPr>
          <p:txBody>
            <a:bodyPr wrap="square" rtlCol="0">
              <a:spAutoFit/>
            </a:bodyPr>
            <a:lstStyle/>
            <a:p>
              <a:r>
                <a:rPr lang="zh-CN" altLang="zh-CN" sz="1100" b="1" dirty="0"/>
                <a:t>船</a:t>
              </a:r>
              <a:r>
                <a:rPr lang="zh-CN" altLang="en-US" sz="1100" b="1" dirty="0"/>
                <a:t>体</a:t>
              </a:r>
              <a:r>
                <a:rPr lang="zh-CN" altLang="zh-CN" sz="1100" b="1" dirty="0"/>
                <a:t>模型</a:t>
              </a:r>
              <a:r>
                <a:rPr lang="zh-CN" altLang="en-US" sz="1100" b="1" dirty="0"/>
                <a:t>图</a:t>
              </a:r>
              <a:endParaRPr lang="zh-CN" altLang="en-US" sz="1100" b="1" dirty="0"/>
            </a:p>
          </p:txBody>
        </p:sp>
      </p:grpSp>
      <p:grpSp>
        <p:nvGrpSpPr>
          <p:cNvPr id="36" name="组合 35"/>
          <p:cNvGrpSpPr/>
          <p:nvPr/>
        </p:nvGrpSpPr>
        <p:grpSpPr>
          <a:xfrm>
            <a:off x="4656542" y="3256758"/>
            <a:ext cx="3159476" cy="997128"/>
            <a:chOff x="8434155" y="3495914"/>
            <a:chExt cx="3159476" cy="997128"/>
          </a:xfrm>
        </p:grpSpPr>
        <p:pic>
          <p:nvPicPr>
            <p:cNvPr id="37" name="图片 36"/>
            <p:cNvPicPr>
              <a:picLocks noChangeAspect="1"/>
            </p:cNvPicPr>
            <p:nvPr/>
          </p:nvPicPr>
          <p:blipFill>
            <a:blip r:embed="rId6"/>
            <a:stretch>
              <a:fillRect/>
            </a:stretch>
          </p:blipFill>
          <p:spPr>
            <a:xfrm>
              <a:off x="8434155" y="3495914"/>
              <a:ext cx="3159476" cy="736778"/>
            </a:xfrm>
            <a:prstGeom prst="rect">
              <a:avLst/>
            </a:prstGeom>
          </p:spPr>
        </p:pic>
        <p:sp>
          <p:nvSpPr>
            <p:cNvPr id="38" name="文本框 37"/>
            <p:cNvSpPr txBox="1"/>
            <p:nvPr/>
          </p:nvSpPr>
          <p:spPr>
            <a:xfrm>
              <a:off x="9678074" y="4232692"/>
              <a:ext cx="1060057" cy="260350"/>
            </a:xfrm>
            <a:prstGeom prst="rect">
              <a:avLst/>
            </a:prstGeom>
            <a:noFill/>
          </p:spPr>
          <p:txBody>
            <a:bodyPr wrap="square" rtlCol="0">
              <a:spAutoFit/>
            </a:bodyPr>
            <a:lstStyle/>
            <a:p>
              <a:r>
                <a:rPr lang="zh-CN" altLang="zh-CN" sz="1100" b="1" dirty="0"/>
                <a:t>离散点云图</a:t>
              </a:r>
              <a:endParaRPr lang="zh-CN" altLang="zh-CN" sz="1100" b="1" dirty="0"/>
            </a:p>
          </p:txBody>
        </p:sp>
      </p:grpSp>
      <p:grpSp>
        <p:nvGrpSpPr>
          <p:cNvPr id="39" name="组合 38"/>
          <p:cNvGrpSpPr/>
          <p:nvPr/>
        </p:nvGrpSpPr>
        <p:grpSpPr>
          <a:xfrm>
            <a:off x="8714846" y="3241231"/>
            <a:ext cx="3257426" cy="962636"/>
            <a:chOff x="8269680" y="4860988"/>
            <a:chExt cx="3257426" cy="962636"/>
          </a:xfrm>
        </p:grpSpPr>
        <p:pic>
          <p:nvPicPr>
            <p:cNvPr id="40" name="图片 39"/>
            <p:cNvPicPr>
              <a:picLocks noChangeAspect="1"/>
            </p:cNvPicPr>
            <p:nvPr/>
          </p:nvPicPr>
          <p:blipFill>
            <a:blip r:embed="rId7"/>
            <a:stretch>
              <a:fillRect/>
            </a:stretch>
          </p:blipFill>
          <p:spPr>
            <a:xfrm>
              <a:off x="8269680" y="4860988"/>
              <a:ext cx="3257426" cy="736778"/>
            </a:xfrm>
            <a:prstGeom prst="rect">
              <a:avLst/>
            </a:prstGeom>
          </p:spPr>
        </p:pic>
        <p:sp>
          <p:nvSpPr>
            <p:cNvPr id="41" name="文本框 40"/>
            <p:cNvSpPr txBox="1"/>
            <p:nvPr/>
          </p:nvSpPr>
          <p:spPr>
            <a:xfrm>
              <a:off x="9678074" y="5563274"/>
              <a:ext cx="1023643" cy="260350"/>
            </a:xfrm>
            <a:prstGeom prst="rect">
              <a:avLst/>
            </a:prstGeom>
            <a:noFill/>
          </p:spPr>
          <p:txBody>
            <a:bodyPr wrap="square" rtlCol="0">
              <a:spAutoFit/>
            </a:bodyPr>
            <a:lstStyle/>
            <a:p>
              <a:r>
                <a:rPr lang="zh-CN" altLang="zh-CN" sz="1100" b="1" dirty="0"/>
                <a:t>采样后点云图</a:t>
              </a:r>
              <a:endParaRPr lang="zh-CN" altLang="zh-CN" sz="1100" b="1" dirty="0"/>
            </a:p>
          </p:txBody>
        </p:sp>
      </p:grpSp>
      <p:sp>
        <p:nvSpPr>
          <p:cNvPr id="42" name="箭头: 下 41"/>
          <p:cNvSpPr/>
          <p:nvPr/>
        </p:nvSpPr>
        <p:spPr>
          <a:xfrm rot="16200000">
            <a:off x="3924344" y="3433499"/>
            <a:ext cx="303451" cy="351849"/>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3" name="箭头: 下 42"/>
          <p:cNvSpPr/>
          <p:nvPr/>
        </p:nvSpPr>
        <p:spPr>
          <a:xfrm rot="16200000">
            <a:off x="8244734" y="3449248"/>
            <a:ext cx="303451" cy="351849"/>
          </a:xfrm>
          <a:prstGeom prst="down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 name="矩形 2"/>
          <p:cNvSpPr/>
          <p:nvPr/>
        </p:nvSpPr>
        <p:spPr>
          <a:xfrm>
            <a:off x="1342941" y="3943088"/>
            <a:ext cx="1673856" cy="369332"/>
          </a:xfrm>
          <a:prstGeom prst="rect">
            <a:avLst/>
          </a:prstGeom>
          <a:solidFill>
            <a:schemeClr val="bg1"/>
          </a:solidFill>
        </p:spPr>
        <p:txBody>
          <a:bodyPr wrap="none">
            <a:spAutoFit/>
          </a:bodyPr>
          <a:lstStyle/>
          <a:p>
            <a:r>
              <a:rPr lang="en-US" altLang="zh-CN" dirty="0"/>
              <a:t>Ship Hull Model</a:t>
            </a:r>
            <a:endParaRPr lang="zh-CN" altLang="en-US" dirty="0"/>
          </a:p>
        </p:txBody>
      </p:sp>
      <p:sp>
        <p:nvSpPr>
          <p:cNvPr id="4" name="矩形 3"/>
          <p:cNvSpPr/>
          <p:nvPr/>
        </p:nvSpPr>
        <p:spPr>
          <a:xfrm>
            <a:off x="5497080" y="3943088"/>
            <a:ext cx="2064155" cy="369332"/>
          </a:xfrm>
          <a:prstGeom prst="rect">
            <a:avLst/>
          </a:prstGeom>
          <a:solidFill>
            <a:schemeClr val="bg1"/>
          </a:solidFill>
        </p:spPr>
        <p:txBody>
          <a:bodyPr wrap="none">
            <a:spAutoFit/>
          </a:bodyPr>
          <a:lstStyle/>
          <a:p>
            <a:r>
              <a:rPr lang="zh-CN" altLang="en-US" dirty="0"/>
              <a:t>Discrete Point Cloud</a:t>
            </a:r>
            <a:endParaRPr lang="zh-CN" altLang="en-US" dirty="0"/>
          </a:p>
        </p:txBody>
      </p:sp>
      <p:sp>
        <p:nvSpPr>
          <p:cNvPr id="5" name="矩形 4"/>
          <p:cNvSpPr/>
          <p:nvPr/>
        </p:nvSpPr>
        <p:spPr>
          <a:xfrm>
            <a:off x="9485747" y="3906272"/>
            <a:ext cx="2159053" cy="369332"/>
          </a:xfrm>
          <a:prstGeom prst="rect">
            <a:avLst/>
          </a:prstGeom>
          <a:solidFill>
            <a:schemeClr val="bg1"/>
          </a:solidFill>
        </p:spPr>
        <p:txBody>
          <a:bodyPr wrap="none">
            <a:spAutoFit/>
          </a:bodyPr>
          <a:lstStyle/>
          <a:p>
            <a:r>
              <a:rPr lang="zh-CN" altLang="en-US" dirty="0"/>
              <a:t>Sampling Point Cloud</a:t>
            </a:r>
            <a:endParaRPr lang="zh-CN" altLang="en-US" dirty="0"/>
          </a:p>
        </p:txBody>
      </p:sp>
      <p:pic>
        <p:nvPicPr>
          <p:cNvPr id="45" name="图片 44"/>
          <p:cNvPicPr>
            <a:picLocks noChangeAspect="1"/>
          </p:cNvPicPr>
          <p:nvPr/>
        </p:nvPicPr>
        <p:blipFill>
          <a:blip r:embed="rId8"/>
          <a:stretch>
            <a:fillRect/>
          </a:stretch>
        </p:blipFill>
        <p:spPr>
          <a:xfrm>
            <a:off x="222582" y="4639425"/>
            <a:ext cx="11875770" cy="1799531"/>
          </a:xfrm>
          <a:prstGeom prst="rect">
            <a:avLst/>
          </a:prstGeom>
        </p:spPr>
      </p:pic>
      <p:sp>
        <p:nvSpPr>
          <p:cNvPr id="46" name="文本框 45"/>
          <p:cNvSpPr txBox="1"/>
          <p:nvPr/>
        </p:nvSpPr>
        <p:spPr>
          <a:xfrm>
            <a:off x="3678721" y="6361365"/>
            <a:ext cx="5503535" cy="293973"/>
          </a:xfrm>
          <a:prstGeom prst="rect">
            <a:avLst/>
          </a:prstGeom>
          <a:noFill/>
        </p:spPr>
        <p:txBody>
          <a:bodyPr wrap="square" rtlCol="0">
            <a:noAutofit/>
          </a:bodyPr>
          <a:lstStyle/>
          <a:p>
            <a:pPr algn="ctr"/>
            <a:r>
              <a:rPr lang="en-US" altLang="zh-CN" sz="1600" b="1" dirty="0"/>
              <a:t>Schematic diagram of the PB-</a:t>
            </a:r>
            <a:r>
              <a:rPr lang="en-US" altLang="zh-CN" sz="1600" b="1" dirty="0" err="1"/>
              <a:t>GraphPR</a:t>
            </a:r>
            <a:r>
              <a:rPr lang="en-US" altLang="zh-CN" sz="1600" b="1" dirty="0"/>
              <a:t> network structure</a:t>
            </a:r>
            <a:endParaRPr lang="zh-CN" altLang="en-US" sz="16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509270" y="878840"/>
            <a:ext cx="2778418"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8814010" y="844142"/>
            <a:ext cx="2659798" cy="817880"/>
          </a:xfrm>
          <a:prstGeom prst="rect">
            <a:avLst/>
          </a:prstGeom>
        </p:spPr>
      </p:pic>
      <p:sp>
        <p:nvSpPr>
          <p:cNvPr id="25" name="文本框 24"/>
          <p:cNvSpPr txBox="1"/>
          <p:nvPr/>
        </p:nvSpPr>
        <p:spPr>
          <a:xfrm>
            <a:off x="2724332" y="1079563"/>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Deep learning prediction of ship wave depth</a:t>
            </a:r>
            <a:endParaRPr lang="zh-CN" altLang="en-US" dirty="0"/>
          </a:p>
        </p:txBody>
      </p:sp>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grpSp>
        <p:nvGrpSpPr>
          <p:cNvPr id="26" name="组合 25"/>
          <p:cNvGrpSpPr/>
          <p:nvPr/>
        </p:nvGrpSpPr>
        <p:grpSpPr>
          <a:xfrm>
            <a:off x="492883" y="5265393"/>
            <a:ext cx="10999524" cy="1426095"/>
            <a:chOff x="517869" y="2132381"/>
            <a:chExt cx="4875944" cy="1426095"/>
          </a:xfrm>
        </p:grpSpPr>
        <p:sp>
          <p:nvSpPr>
            <p:cNvPr id="27" name="文本框 26"/>
            <p:cNvSpPr txBox="1"/>
            <p:nvPr/>
          </p:nvSpPr>
          <p:spPr>
            <a:xfrm>
              <a:off x="517869" y="2368848"/>
              <a:ext cx="4875944" cy="1189628"/>
            </a:xfrm>
            <a:prstGeom prst="roundRect">
              <a:avLst>
                <a:gd name="adj" fmla="val 6342"/>
              </a:avLst>
            </a:prstGeom>
            <a:noFill/>
            <a:ln w="28575">
              <a:solidFill>
                <a:schemeClr val="tx1"/>
              </a:solidFill>
              <a:prstDash val="dash"/>
            </a:ln>
          </p:spPr>
          <p:txBody>
            <a:bodyPr wrap="square" rtlCol="0">
              <a:spAutoFit/>
            </a:bodyPr>
            <a:lstStyle/>
            <a:p>
              <a:pPr>
                <a:lnSpc>
                  <a:spcPct val="150000"/>
                </a:lnSpc>
              </a:pPr>
              <a:r>
                <a:rPr lang="en-US" altLang="zh-CN" sz="1600" b="1" dirty="0">
                  <a:latin typeface="Times New Roman" panose="02020603050405020304" pitchFamily="18" charset="0"/>
                  <a:ea typeface="微软雅黑" panose="020B0503020204020204" pitchFamily="34" charset="-122"/>
                  <a:sym typeface="Times New Roman" panose="02020603050405020304" pitchFamily="18" charset="0"/>
                </a:rPr>
                <a:t>The constructed deep learning model can predict the height of free surface waves. It comprehensively represents the physical characteristics (dispersive waves, transverse waves) of the Wigley ship in still water with a current, and is basically consistent with the CFD results.</a:t>
              </a:r>
              <a:endParaRPr lang="en-US" altLang="zh-CN" sz="16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圆角矩形 32"/>
            <p:cNvSpPr/>
            <p:nvPr/>
          </p:nvSpPr>
          <p:spPr>
            <a:xfrm>
              <a:off x="617007" y="2132381"/>
              <a:ext cx="643164"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rPr>
                <a:t>Conclusion</a:t>
              </a:r>
              <a:endParaRPr lang="en-US" altLang="zh-CN" sz="2000" b="1" dirty="0">
                <a:latin typeface="+mn-ea"/>
              </a:endParaRPr>
            </a:p>
          </p:txBody>
        </p:sp>
      </p:grpSp>
      <p:sp>
        <p:nvSpPr>
          <p:cNvPr id="29" name="矩形 28"/>
          <p:cNvSpPr/>
          <p:nvPr/>
        </p:nvSpPr>
        <p:spPr>
          <a:xfrm>
            <a:off x="3459290" y="3429000"/>
            <a:ext cx="336946" cy="198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30" name="图片 29"/>
          <p:cNvPicPr>
            <a:picLocks noChangeAspect="1"/>
          </p:cNvPicPr>
          <p:nvPr/>
        </p:nvPicPr>
        <p:blipFill>
          <a:blip r:embed="rId5"/>
          <a:stretch>
            <a:fillRect/>
          </a:stretch>
        </p:blipFill>
        <p:spPr>
          <a:xfrm>
            <a:off x="3796236" y="4160477"/>
            <a:ext cx="2775273" cy="1068739"/>
          </a:xfrm>
          <a:prstGeom prst="rect">
            <a:avLst/>
          </a:prstGeom>
        </p:spPr>
      </p:pic>
      <p:pic>
        <p:nvPicPr>
          <p:cNvPr id="31" name="图片 30"/>
          <p:cNvPicPr>
            <a:picLocks noChangeAspect="1"/>
          </p:cNvPicPr>
          <p:nvPr/>
        </p:nvPicPr>
        <p:blipFill>
          <a:blip r:embed="rId6"/>
          <a:stretch>
            <a:fillRect/>
          </a:stretch>
        </p:blipFill>
        <p:spPr>
          <a:xfrm>
            <a:off x="6897593" y="4521777"/>
            <a:ext cx="2747319" cy="376814"/>
          </a:xfrm>
          <a:prstGeom prst="rect">
            <a:avLst/>
          </a:prstGeom>
        </p:spPr>
      </p:pic>
      <p:pic>
        <p:nvPicPr>
          <p:cNvPr id="32" name="图片 31"/>
          <p:cNvPicPr>
            <a:picLocks noChangeAspect="1"/>
          </p:cNvPicPr>
          <p:nvPr/>
        </p:nvPicPr>
        <p:blipFill>
          <a:blip r:embed="rId7"/>
          <a:stretch>
            <a:fillRect/>
          </a:stretch>
        </p:blipFill>
        <p:spPr>
          <a:xfrm>
            <a:off x="5972709" y="1701804"/>
            <a:ext cx="5768359" cy="2324227"/>
          </a:xfrm>
          <a:prstGeom prst="rect">
            <a:avLst/>
          </a:prstGeom>
        </p:spPr>
      </p:pic>
      <p:pic>
        <p:nvPicPr>
          <p:cNvPr id="44" name="图片 43"/>
          <p:cNvPicPr>
            <a:picLocks noChangeAspect="1"/>
          </p:cNvPicPr>
          <p:nvPr/>
        </p:nvPicPr>
        <p:blipFill>
          <a:blip r:embed="rId8"/>
          <a:stretch>
            <a:fillRect/>
          </a:stretch>
        </p:blipFill>
        <p:spPr>
          <a:xfrm>
            <a:off x="335658" y="1641267"/>
            <a:ext cx="5637051" cy="2412040"/>
          </a:xfrm>
          <a:prstGeom prst="rect">
            <a:avLst/>
          </a:prstGeom>
        </p:spPr>
      </p:pic>
      <p:sp>
        <p:nvSpPr>
          <p:cNvPr id="47" name="文本框 46"/>
          <p:cNvSpPr txBox="1"/>
          <p:nvPr/>
        </p:nvSpPr>
        <p:spPr>
          <a:xfrm>
            <a:off x="1083677" y="4346636"/>
            <a:ext cx="2544086" cy="646331"/>
          </a:xfrm>
          <a:prstGeom prst="rect">
            <a:avLst/>
          </a:prstGeom>
          <a:noFill/>
        </p:spPr>
        <p:txBody>
          <a:bodyPr wrap="square" rtlCol="0">
            <a:spAutoFit/>
          </a:bodyPr>
          <a:lstStyle/>
          <a:p>
            <a:pPr algn="ctr"/>
            <a:r>
              <a:rPr lang="en-US" altLang="zh-CN" b="1" dirty="0">
                <a:latin typeface="微软雅黑" panose="020B0503020204020204" pitchFamily="34" charset="-122"/>
                <a:ea typeface="微软雅黑" panose="020B0503020204020204" pitchFamily="34" charset="-122"/>
              </a:rPr>
              <a:t>Construction of the loss function:</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509270" y="878840"/>
            <a:ext cx="2396315"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218419" y="878840"/>
            <a:ext cx="2294008" cy="817880"/>
          </a:xfrm>
          <a:prstGeom prst="rect">
            <a:avLst/>
          </a:prstGeom>
        </p:spPr>
      </p:pic>
      <p:sp>
        <p:nvSpPr>
          <p:cNvPr id="25" name="文本框 24"/>
          <p:cNvSpPr txBox="1"/>
          <p:nvPr/>
        </p:nvSpPr>
        <p:spPr>
          <a:xfrm>
            <a:off x="2724332" y="1079563"/>
            <a:ext cx="6562083"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pPr algn="ctr"/>
            <a:r>
              <a:rPr lang="en-US" altLang="zh-CN" dirty="0"/>
              <a:t>Deep learning prediction of the three-dimensional flow field of the ship body</a:t>
            </a:r>
            <a:endParaRPr lang="zh-CN" altLang="en-US" dirty="0"/>
          </a:p>
        </p:txBody>
      </p:sp>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3888433"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Performance Evaluation</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grpSp>
        <p:nvGrpSpPr>
          <p:cNvPr id="26" name="组合 25"/>
          <p:cNvGrpSpPr/>
          <p:nvPr/>
        </p:nvGrpSpPr>
        <p:grpSpPr>
          <a:xfrm>
            <a:off x="492883" y="5265393"/>
            <a:ext cx="10999524" cy="1426095"/>
            <a:chOff x="517869" y="2132381"/>
            <a:chExt cx="4875944" cy="1426095"/>
          </a:xfrm>
        </p:grpSpPr>
        <p:sp>
          <p:nvSpPr>
            <p:cNvPr id="27" name="文本框 26"/>
            <p:cNvSpPr txBox="1"/>
            <p:nvPr/>
          </p:nvSpPr>
          <p:spPr>
            <a:xfrm>
              <a:off x="517869" y="2368848"/>
              <a:ext cx="4875944" cy="1189628"/>
            </a:xfrm>
            <a:prstGeom prst="roundRect">
              <a:avLst>
                <a:gd name="adj" fmla="val 6342"/>
              </a:avLst>
            </a:prstGeom>
            <a:noFill/>
            <a:ln w="28575">
              <a:solidFill>
                <a:schemeClr val="tx1"/>
              </a:solidFill>
              <a:prstDash val="dash"/>
            </a:ln>
          </p:spPr>
          <p:txBody>
            <a:bodyPr wrap="square" rtlCol="0">
              <a:spAutoFit/>
            </a:bodyPr>
            <a:lstStyle/>
            <a:p>
              <a:pPr>
                <a:lnSpc>
                  <a:spcPct val="150000"/>
                </a:lnSpc>
              </a:pPr>
              <a:r>
                <a:rPr lang="en-US" altLang="zh-CN" sz="1600" b="1" dirty="0">
                  <a:latin typeface="Times New Roman" panose="02020603050405020304" pitchFamily="18" charset="0"/>
                  <a:ea typeface="微软雅黑" panose="020B0503020204020204" pitchFamily="34" charset="-122"/>
                  <a:sym typeface="Times New Roman" panose="02020603050405020304" pitchFamily="18" charset="0"/>
                </a:rPr>
                <a:t>The proposed deep learning model can be used to learn high-dimensional physical quantities (velocity field, pressure field), and has the ability to fit complex high-dimensional nonlinear data. It provides an efficient and reliable offline model for subsequent ship shape optimization based on flow field information.</a:t>
              </a:r>
              <a:endParaRPr lang="en-US" altLang="zh-CN" sz="16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圆角矩形 32"/>
            <p:cNvSpPr/>
            <p:nvPr/>
          </p:nvSpPr>
          <p:spPr>
            <a:xfrm>
              <a:off x="617007" y="2132381"/>
              <a:ext cx="643164" cy="375489"/>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mn-ea"/>
                </a:rPr>
                <a:t>Conclusion</a:t>
              </a:r>
              <a:endParaRPr lang="en-US" altLang="zh-CN" sz="2000" b="1" dirty="0">
                <a:latin typeface="+mn-ea"/>
              </a:endParaRPr>
            </a:p>
          </p:txBody>
        </p:sp>
      </p:grpSp>
      <p:sp>
        <p:nvSpPr>
          <p:cNvPr id="29" name="矩形 28"/>
          <p:cNvSpPr/>
          <p:nvPr/>
        </p:nvSpPr>
        <p:spPr>
          <a:xfrm>
            <a:off x="3459290" y="3429000"/>
            <a:ext cx="336946" cy="198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5"/>
          <a:stretch>
            <a:fillRect/>
          </a:stretch>
        </p:blipFill>
        <p:spPr>
          <a:xfrm>
            <a:off x="51186" y="1994420"/>
            <a:ext cx="4706489" cy="2583208"/>
          </a:xfrm>
          <a:prstGeom prst="rect">
            <a:avLst/>
          </a:prstGeom>
        </p:spPr>
      </p:pic>
      <p:grpSp>
        <p:nvGrpSpPr>
          <p:cNvPr id="17" name="组合 16"/>
          <p:cNvGrpSpPr/>
          <p:nvPr/>
        </p:nvGrpSpPr>
        <p:grpSpPr>
          <a:xfrm>
            <a:off x="4755372" y="1745912"/>
            <a:ext cx="7255558" cy="3467471"/>
            <a:chOff x="5931775" y="4005538"/>
            <a:chExt cx="5726541" cy="2643379"/>
          </a:xfrm>
        </p:grpSpPr>
        <p:pic>
          <p:nvPicPr>
            <p:cNvPr id="18" name="图片 17"/>
            <p:cNvPicPr>
              <a:picLocks noChangeAspect="1"/>
            </p:cNvPicPr>
            <p:nvPr/>
          </p:nvPicPr>
          <p:blipFill>
            <a:blip r:embed="rId6"/>
            <a:stretch>
              <a:fillRect/>
            </a:stretch>
          </p:blipFill>
          <p:spPr>
            <a:xfrm>
              <a:off x="5931775" y="4005538"/>
              <a:ext cx="5726541" cy="2643379"/>
            </a:xfrm>
            <a:prstGeom prst="rect">
              <a:avLst/>
            </a:prstGeom>
          </p:spPr>
        </p:pic>
        <p:sp>
          <p:nvSpPr>
            <p:cNvPr id="19" name="文本框 18"/>
            <p:cNvSpPr txBox="1"/>
            <p:nvPr/>
          </p:nvSpPr>
          <p:spPr>
            <a:xfrm>
              <a:off x="6750472" y="5991316"/>
              <a:ext cx="402029" cy="280768"/>
            </a:xfrm>
            <a:prstGeom prst="rect">
              <a:avLst/>
            </a:prstGeom>
            <a:noFill/>
          </p:spPr>
          <p:txBody>
            <a:bodyPr wrap="square" rtlCol="0">
              <a:spAutoFit/>
            </a:bodyPr>
            <a:lstStyle/>
            <a:p>
              <a:r>
                <a:rPr lang="en-US" altLang="zh-CN" b="1" i="1">
                  <a:latin typeface="微软雅黑" panose="020B0503020204020204" pitchFamily="34" charset="-122"/>
                  <a:ea typeface="微软雅黑" panose="020B0503020204020204" pitchFamily="34" charset="-122"/>
                </a:rPr>
                <a:t>Q</a:t>
              </a:r>
              <a:endParaRPr lang="en-US" altLang="zh-CN" b="1" i="1">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479376" y="863599"/>
            <a:ext cx="1360478"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984431" y="863600"/>
            <a:ext cx="1360478" cy="817880"/>
          </a:xfrm>
          <a:prstGeom prst="rect">
            <a:avLst/>
          </a:prstGeom>
        </p:spPr>
      </p:pic>
      <p:sp>
        <p:nvSpPr>
          <p:cNvPr id="25" name="文本框 24"/>
          <p:cNvSpPr txBox="1"/>
          <p:nvPr/>
        </p:nvSpPr>
        <p:spPr>
          <a:xfrm>
            <a:off x="1787869" y="1079563"/>
            <a:ext cx="8772627"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Improvement of multi-objective optimization algorithm based on physical planning</a:t>
            </a:r>
            <a:endParaRPr lang="zh-CN" altLang="en-US" dirty="0"/>
          </a:p>
        </p:txBody>
      </p:sp>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5400601"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Optimization Algorithm</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sp>
        <p:nvSpPr>
          <p:cNvPr id="7" name="矩形 23"/>
          <p:cNvSpPr>
            <a:spLocks noChangeArrowheads="1"/>
          </p:cNvSpPr>
          <p:nvPr/>
        </p:nvSpPr>
        <p:spPr bwMode="auto">
          <a:xfrm>
            <a:off x="191343" y="6303439"/>
            <a:ext cx="5224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dirty="0">
                <a:latin typeface="微软雅黑" panose="020B0503020204020204" pitchFamily="34" charset="-122"/>
                <a:ea typeface="微软雅黑" panose="020B0503020204020204" pitchFamily="34" charset="-122"/>
                <a:sym typeface="微软雅黑" panose="020B0503020204020204" pitchFamily="34" charset="-122"/>
              </a:rPr>
              <a:t>Multi-objective optimization algorithm</a:t>
            </a:r>
            <a:endParaRPr lang="zh-CN" altLang="en-US" sz="2000" b="1" dirty="0">
              <a:latin typeface="微软雅黑" panose="020B0503020204020204" pitchFamily="34" charset="-122"/>
              <a:ea typeface="微软雅黑" panose="020B0503020204020204" pitchFamily="34" charset="-122"/>
            </a:endParaRPr>
          </a:p>
        </p:txBody>
      </p:sp>
      <p:sp>
        <p:nvSpPr>
          <p:cNvPr id="8" name="下箭头 18"/>
          <p:cNvSpPr>
            <a:spLocks noChangeArrowheads="1"/>
          </p:cNvSpPr>
          <p:nvPr/>
        </p:nvSpPr>
        <p:spPr bwMode="auto">
          <a:xfrm>
            <a:off x="2011808" y="2517886"/>
            <a:ext cx="508000" cy="423862"/>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9" name="下箭头 18"/>
          <p:cNvSpPr>
            <a:spLocks noChangeArrowheads="1"/>
          </p:cNvSpPr>
          <p:nvPr/>
        </p:nvSpPr>
        <p:spPr bwMode="auto">
          <a:xfrm>
            <a:off x="2011808" y="3740261"/>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0" name="下箭头 18"/>
          <p:cNvSpPr>
            <a:spLocks noChangeArrowheads="1"/>
          </p:cNvSpPr>
          <p:nvPr/>
        </p:nvSpPr>
        <p:spPr bwMode="auto">
          <a:xfrm>
            <a:off x="2011808" y="4973748"/>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11" name="Rectangle 10"/>
          <p:cNvSpPr>
            <a:spLocks noChangeArrowheads="1"/>
          </p:cNvSpPr>
          <p:nvPr/>
        </p:nvSpPr>
        <p:spPr bwMode="auto">
          <a:xfrm>
            <a:off x="717996" y="1709859"/>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Improvement of multi-objective optimization algorithm based on physical planning</a:t>
            </a:r>
            <a:endParaRPr lang="en-US" altLang="zh-CN" sz="1400" b="1" dirty="0">
              <a:solidFill>
                <a:srgbClr val="0000FF"/>
              </a:solidFill>
              <a:latin typeface="微软雅黑" panose="020B0503020204020204" pitchFamily="34" charset="-122"/>
              <a:ea typeface="微软雅黑" panose="020B0503020204020204" pitchFamily="34" charset="-122"/>
            </a:endParaRPr>
          </a:p>
        </p:txBody>
      </p:sp>
      <p:sp>
        <p:nvSpPr>
          <p:cNvPr id="12" name="Rectangle 10"/>
          <p:cNvSpPr>
            <a:spLocks noChangeArrowheads="1"/>
          </p:cNvSpPr>
          <p:nvPr/>
        </p:nvSpPr>
        <p:spPr bwMode="auto">
          <a:xfrm>
            <a:off x="717996" y="2952872"/>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Improving the search position of the pseudo-preference structure in the target space</a:t>
            </a:r>
            <a:endParaRPr lang="zh-CN" altLang="en-US" sz="1400" b="1" dirty="0">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716408" y="4157784"/>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Rotating the pseudo-preference structure</a:t>
            </a:r>
            <a:endParaRPr lang="zh-CN" altLang="en-US" sz="1400" b="1" dirty="0">
              <a:latin typeface="微软雅黑" panose="020B0503020204020204" pitchFamily="34" charset="-122"/>
              <a:ea typeface="微软雅黑" panose="020B0503020204020204" pitchFamily="34" charset="-122"/>
            </a:endParaRPr>
          </a:p>
        </p:txBody>
      </p:sp>
      <p:sp>
        <p:nvSpPr>
          <p:cNvPr id="14" name="Rectangle 10"/>
          <p:cNvSpPr>
            <a:spLocks noChangeArrowheads="1"/>
          </p:cNvSpPr>
          <p:nvPr/>
        </p:nvSpPr>
        <p:spPr bwMode="auto">
          <a:xfrm>
            <a:off x="716408" y="5403972"/>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Improved multi-objective optimization algorithm based on physical planning</a:t>
            </a:r>
            <a:endParaRPr lang="zh-CN" altLang="en-US" sz="1400" b="1"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6200870" y="1700808"/>
            <a:ext cx="5273134" cy="1872208"/>
            <a:chOff x="5672134" y="1844824"/>
            <a:chExt cx="5273134" cy="1872208"/>
          </a:xfrm>
        </p:grpSpPr>
        <p:sp>
          <p:nvSpPr>
            <p:cNvPr id="16" name="矩形 15"/>
            <p:cNvSpPr/>
            <p:nvPr/>
          </p:nvSpPr>
          <p:spPr>
            <a:xfrm>
              <a:off x="5672134" y="2204864"/>
              <a:ext cx="5112568" cy="1512168"/>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p:cNvSpPr/>
            <p:nvPr>
              <p:custDataLst>
                <p:tags r:id="rId5"/>
              </p:custDataLst>
            </p:nvPr>
          </p:nvSpPr>
          <p:spPr>
            <a:xfrm>
              <a:off x="5879976" y="184482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lvl="0" algn="ctr">
                <a:lnSpc>
                  <a:spcPct val="120000"/>
                </a:lnSpc>
              </a:pPr>
              <a:r>
                <a:rPr lang="en-US" altLang="zh-CN" sz="1400" b="1" dirty="0">
                  <a:solidFill>
                    <a:prstClr val="white"/>
                  </a:solidFill>
                  <a:latin typeface="Arial" panose="020B0604020202020204" pitchFamily="34" charset="0"/>
                  <a:ea typeface="微软雅黑" panose="020B0503020204020204" pitchFamily="34" charset="-122"/>
                  <a:sym typeface="Arial" panose="020B0604020202020204" pitchFamily="34" charset="0"/>
                </a:rPr>
                <a:t>Disadvantages</a:t>
              </a:r>
              <a:endParaRPr lang="zh-CN" altLang="en-US" sz="1400" b="1"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矩形 9"/>
            <p:cNvSpPr>
              <a:spLocks noChangeArrowheads="1"/>
            </p:cNvSpPr>
            <p:nvPr/>
          </p:nvSpPr>
          <p:spPr bwMode="auto">
            <a:xfrm>
              <a:off x="5687070" y="2311594"/>
              <a:ext cx="5258198" cy="1337289"/>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eaLnBrk="0" hangingPunct="0">
                <a:lnSpc>
                  <a:spcPts val="2500"/>
                </a:lnSpc>
                <a:spcBef>
                  <a:spcPts val="1200"/>
                </a:spcBef>
              </a:pPr>
              <a:r>
                <a:rPr lang="en-US" altLang="zh-CN" sz="1400" b="1" dirty="0">
                  <a:solidFill>
                    <a:schemeClr val="bg2">
                      <a:lumMod val="25000"/>
                    </a:schemeClr>
                  </a:solidFill>
                  <a:latin typeface="微软雅黑" panose="020B0503020204020204" pitchFamily="34" charset="-122"/>
                  <a:ea typeface="微软雅黑" panose="020B0503020204020204" pitchFamily="34" charset="-122"/>
                </a:rPr>
                <a:t>It is impossible to generate any arbitrary number of Pareto solutions; the distribution of search positions for the pseudo-preference structure is uneven; the search range of the pseudo-preference structure is limited.</a:t>
              </a:r>
              <a:endParaRPr lang="zh-CN" altLang="en-US" sz="14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9" name="下箭头 18"/>
          <p:cNvSpPr>
            <a:spLocks noChangeArrowheads="1"/>
          </p:cNvSpPr>
          <p:nvPr/>
        </p:nvSpPr>
        <p:spPr bwMode="auto">
          <a:xfrm>
            <a:off x="8424936" y="3789040"/>
            <a:ext cx="508000" cy="360040"/>
          </a:xfrm>
          <a:prstGeom prst="downArrow">
            <a:avLst>
              <a:gd name="adj1" fmla="val 50000"/>
              <a:gd name="adj2" fmla="val 49987"/>
            </a:avLst>
          </a:prstGeom>
          <a:solidFill>
            <a:schemeClr val="accent1"/>
          </a:solidFill>
          <a:ln w="9525">
            <a:solidFill>
              <a:schemeClr val="tx1"/>
            </a:solidFill>
            <a:round/>
          </a:ln>
        </p:spPr>
        <p:txBody>
          <a:bodyPr/>
          <a:lstStyle/>
          <a:p>
            <a:endParaRPr lang="zh-CN" altLang="en-US" b="1"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6192688" y="3933056"/>
            <a:ext cx="5112568" cy="2232247"/>
            <a:chOff x="5663952" y="1484784"/>
            <a:chExt cx="5112568" cy="2104690"/>
          </a:xfrm>
        </p:grpSpPr>
        <p:sp>
          <p:nvSpPr>
            <p:cNvPr id="21" name="矩形 20"/>
            <p:cNvSpPr/>
            <p:nvPr/>
          </p:nvSpPr>
          <p:spPr>
            <a:xfrm>
              <a:off x="5663952" y="1772816"/>
              <a:ext cx="5112568" cy="1816658"/>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圆角 21"/>
            <p:cNvSpPr/>
            <p:nvPr>
              <p:custDataLst>
                <p:tags r:id="rId6"/>
              </p:custDataLst>
            </p:nvPr>
          </p:nvSpPr>
          <p:spPr>
            <a:xfrm>
              <a:off x="5951984" y="1484784"/>
              <a:ext cx="1656184" cy="563205"/>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lvl="0" algn="ctr">
                <a:lnSpc>
                  <a:spcPct val="120000"/>
                </a:lnSpc>
              </a:pPr>
              <a:r>
                <a:rPr lang="en-US" altLang="zh-CN" sz="1400" b="1" dirty="0">
                  <a:solidFill>
                    <a:prstClr val="white"/>
                  </a:solidFill>
                  <a:latin typeface="Arial" panose="020B0604020202020204" pitchFamily="34" charset="0"/>
                  <a:ea typeface="微软雅黑" panose="020B0503020204020204" pitchFamily="34" charset="-122"/>
                  <a:sym typeface="Arial" panose="020B0604020202020204" pitchFamily="34" charset="0"/>
                </a:rPr>
                <a:t>Improvement</a:t>
              </a:r>
              <a:endParaRPr lang="zh-CN" altLang="en-US" sz="1400" b="1" dirty="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6" name="矩形: 圆角 25"/>
          <p:cNvSpPr/>
          <p:nvPr/>
        </p:nvSpPr>
        <p:spPr>
          <a:xfrm>
            <a:off x="5735960" y="1556792"/>
            <a:ext cx="6073352" cy="4896544"/>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7" name="连接符: 肘形 26"/>
          <p:cNvCxnSpPr>
            <a:stCxn id="11" idx="3"/>
            <a:endCxn id="16" idx="1"/>
          </p:cNvCxnSpPr>
          <p:nvPr/>
        </p:nvCxnSpPr>
        <p:spPr>
          <a:xfrm>
            <a:off x="3960440" y="2111497"/>
            <a:ext cx="2240430" cy="705435"/>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9"/>
          <p:cNvSpPr>
            <a:spLocks noChangeArrowheads="1"/>
          </p:cNvSpPr>
          <p:nvPr/>
        </p:nvSpPr>
        <p:spPr bwMode="auto">
          <a:xfrm>
            <a:off x="6234601" y="4520523"/>
            <a:ext cx="5258197" cy="1651799"/>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eaLnBrk="0" hangingPunct="0">
              <a:lnSpc>
                <a:spcPts val="2500"/>
              </a:lnSpc>
              <a:buFont typeface="Wingdings" panose="05000000000000000000" pitchFamily="2" charset="2"/>
              <a:buChar char="Ø"/>
            </a:pPr>
            <a:r>
              <a:rPr lang="en-US" altLang="zh-CN" sz="12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Employ the uniform experimental design method to uniformly distribute the pseudo-preference structure.</a:t>
            </a:r>
            <a:endParaRPr lang="en-US" altLang="zh-CN" sz="12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eaLnBrk="0" hangingPunct="0">
              <a:lnSpc>
                <a:spcPts val="2500"/>
              </a:lnSpc>
              <a:buFont typeface="Wingdings" panose="05000000000000000000" pitchFamily="2" charset="2"/>
              <a:buChar char="Ø"/>
            </a:pPr>
            <a:r>
              <a:rPr lang="en-US" altLang="zh-CN" sz="12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rPr>
              <a:t>Utilize the rotation of the pseudo-preference structure and the reduction of the search domain techniques to obtain a uniformly distributed Pareto front.</a:t>
            </a:r>
            <a:endParaRPr lang="en-US" altLang="zh-CN" sz="1200" b="1" dirty="0">
              <a:solidFill>
                <a:schemeClr val="bg2">
                  <a:lumMod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29" name="连接符: 肘形 28"/>
          <p:cNvCxnSpPr>
            <a:endCxn id="21" idx="1"/>
          </p:cNvCxnSpPr>
          <p:nvPr/>
        </p:nvCxnSpPr>
        <p:spPr>
          <a:xfrm>
            <a:off x="4032448" y="3501008"/>
            <a:ext cx="2160240" cy="1700916"/>
          </a:xfrm>
          <a:prstGeom prst="bentConnector3">
            <a:avLst>
              <a:gd name="adj1" fmla="val 4741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p:cNvCxnSpPr>
            <a:stCxn id="13" idx="3"/>
            <a:endCxn id="21" idx="1"/>
          </p:cNvCxnSpPr>
          <p:nvPr/>
        </p:nvCxnSpPr>
        <p:spPr>
          <a:xfrm>
            <a:off x="3960440" y="4559422"/>
            <a:ext cx="2232248" cy="642502"/>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p:nvPicPr>
        <p:blipFill>
          <a:blip r:embed="rId7"/>
          <a:srcRect l="34137" t="51797" r="25180" b="18516"/>
          <a:stretch>
            <a:fillRect/>
          </a:stretch>
        </p:blipFill>
        <p:spPr>
          <a:xfrm>
            <a:off x="6209289" y="4536751"/>
            <a:ext cx="5079365" cy="16116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 name="图片 160" descr="QXvOnY2ypY"/>
          <p:cNvPicPr>
            <a:picLocks noChangeAspect="1"/>
          </p:cNvPicPr>
          <p:nvPr/>
        </p:nvPicPr>
        <p:blipFill>
          <a:blip r:embed="rId1" cstate="screen">
            <a:extLst>
              <a:ext uri="{BEBA8EAE-BF5A-486C-A8C5-ECC9F3942E4B}">
                <a14:imgProps xmlns:a14="http://schemas.microsoft.com/office/drawing/2010/main">
                  <a14:imgLayer r:embed="rId2">
                    <a14:imgEffect>
                      <a14:brightnessContrast bright="-40000"/>
                    </a14:imgEffect>
                  </a14:imgLayer>
                </a14:imgProps>
              </a:ext>
            </a:extLst>
          </a:blip>
          <a:srcRect/>
          <a:stretch>
            <a:fillRect/>
          </a:stretch>
        </p:blipFill>
        <p:spPr>
          <a:xfrm>
            <a:off x="479376" y="863599"/>
            <a:ext cx="1360478" cy="817880"/>
          </a:xfrm>
          <a:prstGeom prst="rect">
            <a:avLst/>
          </a:prstGeom>
        </p:spPr>
      </p:pic>
      <p:pic>
        <p:nvPicPr>
          <p:cNvPr id="162" name="图片 161" descr="QXvOnY2ypY"/>
          <p:cNvPicPr>
            <a:picLocks noChangeAspect="1"/>
          </p:cNvPicPr>
          <p:nvPr>
            <p:custDataLst>
              <p:tags r:id="rId3"/>
            </p:custDataLst>
          </p:nvPr>
        </p:nvPicPr>
        <p:blipFill>
          <a:blip r:embed="rId4"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a:xfrm rot="10800000">
            <a:off x="9984431" y="863600"/>
            <a:ext cx="1360478" cy="817880"/>
          </a:xfrm>
          <a:prstGeom prst="rect">
            <a:avLst/>
          </a:prstGeom>
        </p:spPr>
      </p:pic>
      <p:sp>
        <p:nvSpPr>
          <p:cNvPr id="25" name="文本框 24"/>
          <p:cNvSpPr txBox="1"/>
          <p:nvPr/>
        </p:nvSpPr>
        <p:spPr>
          <a:xfrm>
            <a:off x="2791636" y="1079108"/>
            <a:ext cx="8772627" cy="552664"/>
          </a:xfrm>
          <a:prstGeom prst="rect">
            <a:avLst/>
          </a:prstGeom>
          <a:noFill/>
        </p:spPr>
        <p:txBody>
          <a:bodyPr wrap="square" rtlCol="0">
            <a:noAutofit/>
          </a:bodyPr>
          <a:lstStyle>
            <a:defPPr>
              <a:defRPr lang="en-US"/>
            </a:defPPr>
            <a:lvl1pPr marR="0" lvl="0" indent="0" defTabSz="914400" fontAlgn="auto">
              <a:lnSpc>
                <a:spcPct val="100000"/>
              </a:lnSpc>
              <a:spcBef>
                <a:spcPts val="0"/>
              </a:spcBef>
              <a:spcAft>
                <a:spcPts val="0"/>
              </a:spcAft>
              <a:buClrTx/>
              <a:buSzTx/>
              <a:buFontTx/>
              <a:buNone/>
              <a:defRPr kumimoji="0" b="1" i="0" u="none" strike="noStrike" cap="none" spc="0" normalizeH="0" baseline="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Propose a dynamic spatial reduction method based on data mining</a:t>
            </a:r>
            <a:endParaRPr lang="zh-CN" altLang="en-US" dirty="0"/>
          </a:p>
        </p:txBody>
      </p:sp>
      <p:sp>
        <p:nvSpPr>
          <p:cNvPr id="23" name="矩形 2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4" name="平行四边形 23"/>
          <p:cNvSpPr/>
          <p:nvPr/>
        </p:nvSpPr>
        <p:spPr>
          <a:xfrm>
            <a:off x="191343" y="683645"/>
            <a:ext cx="5400601"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Intelligent Optimization Algorithm</a:t>
            </a:r>
            <a:endParaRPr lang="en-US" altLang="zh-CN" sz="2000" b="1" dirty="0">
              <a:solidFill>
                <a:schemeClr val="tx1"/>
              </a:solidFill>
              <a:latin typeface="Times New Roman" panose="02020603050405020304" pitchFamily="18" charset="0"/>
              <a:ea typeface="微软雅黑" panose="020B0503020204020204" pitchFamily="34" charset="-122"/>
            </a:endParaRPr>
          </a:p>
        </p:txBody>
      </p:sp>
      <p:sp>
        <p:nvSpPr>
          <p:cNvPr id="32" name="矩形 23"/>
          <p:cNvSpPr>
            <a:spLocks noChangeArrowheads="1"/>
          </p:cNvSpPr>
          <p:nvPr/>
        </p:nvSpPr>
        <p:spPr bwMode="auto">
          <a:xfrm>
            <a:off x="487736" y="6273778"/>
            <a:ext cx="4607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dirty="0">
                <a:latin typeface="微软雅黑" panose="020B0503020204020204" pitchFamily="34" charset="-122"/>
                <a:ea typeface="微软雅黑" panose="020B0503020204020204" pitchFamily="34" charset="-122"/>
                <a:sym typeface="微软雅黑" panose="020B0503020204020204" pitchFamily="34" charset="-122"/>
              </a:rPr>
              <a:t>Space reduction method</a:t>
            </a:r>
            <a:endParaRPr lang="zh-CN" altLang="en-US" sz="2800" b="1"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3" name="下箭头 18"/>
          <p:cNvSpPr>
            <a:spLocks noChangeArrowheads="1"/>
          </p:cNvSpPr>
          <p:nvPr/>
        </p:nvSpPr>
        <p:spPr bwMode="auto">
          <a:xfrm>
            <a:off x="2275160" y="2508835"/>
            <a:ext cx="508000" cy="423862"/>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34" name="下箭头 18"/>
          <p:cNvSpPr>
            <a:spLocks noChangeArrowheads="1"/>
          </p:cNvSpPr>
          <p:nvPr/>
        </p:nvSpPr>
        <p:spPr bwMode="auto">
          <a:xfrm>
            <a:off x="2275160" y="3731210"/>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35" name="下箭头 18"/>
          <p:cNvSpPr>
            <a:spLocks noChangeArrowheads="1"/>
          </p:cNvSpPr>
          <p:nvPr/>
        </p:nvSpPr>
        <p:spPr bwMode="auto">
          <a:xfrm>
            <a:off x="2275160" y="4964697"/>
            <a:ext cx="508000" cy="425450"/>
          </a:xfrm>
          <a:prstGeom prst="downArrow">
            <a:avLst>
              <a:gd name="adj1" fmla="val 50000"/>
              <a:gd name="adj2" fmla="val 50000"/>
            </a:avLst>
          </a:prstGeom>
          <a:solidFill>
            <a:schemeClr val="accent1"/>
          </a:solidFill>
          <a:ln w="9525">
            <a:solidFill>
              <a:schemeClr val="bg2">
                <a:lumMod val="75000"/>
              </a:schemeClr>
            </a:solidFill>
            <a:round/>
          </a:ln>
          <a:scene3d>
            <a:camera prst="orthographicFront"/>
            <a:lightRig rig="threePt" dir="t"/>
          </a:scene3d>
          <a:sp3d>
            <a:bevelT/>
          </a:sp3d>
        </p:spPr>
        <p:txBody>
          <a:bodyPr/>
          <a:lstStyle/>
          <a:p>
            <a:endParaRPr lang="zh-CN" altLang="en-US" b="1">
              <a:latin typeface="微软雅黑" panose="020B0503020204020204" pitchFamily="34" charset="-122"/>
              <a:ea typeface="微软雅黑" panose="020B0503020204020204" pitchFamily="34" charset="-122"/>
            </a:endParaRPr>
          </a:p>
        </p:txBody>
      </p:sp>
      <p:sp>
        <p:nvSpPr>
          <p:cNvPr id="36" name="Rectangle 10"/>
          <p:cNvSpPr>
            <a:spLocks noChangeArrowheads="1"/>
          </p:cNvSpPr>
          <p:nvPr/>
        </p:nvSpPr>
        <p:spPr bwMode="auto">
          <a:xfrm>
            <a:off x="981348" y="1700808"/>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Extraction of optimized design rules</a:t>
            </a:r>
            <a:endParaRPr lang="zh-CN" altLang="en-US" sz="1400" b="1" dirty="0">
              <a:latin typeface="微软雅黑" panose="020B0503020204020204" pitchFamily="34" charset="-122"/>
              <a:ea typeface="微软雅黑" panose="020B0503020204020204" pitchFamily="34" charset="-122"/>
            </a:endParaRPr>
          </a:p>
        </p:txBody>
      </p:sp>
      <p:sp>
        <p:nvSpPr>
          <p:cNvPr id="37" name="Rectangle 10"/>
          <p:cNvSpPr>
            <a:spLocks noChangeArrowheads="1"/>
          </p:cNvSpPr>
          <p:nvPr/>
        </p:nvSpPr>
        <p:spPr bwMode="auto">
          <a:xfrm>
            <a:off x="981348" y="2943821"/>
            <a:ext cx="3242444"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Dynamic Space Reduction Technology</a:t>
            </a:r>
            <a:endParaRPr lang="zh-CN" altLang="en-US" sz="1400" b="1" dirty="0">
              <a:latin typeface="微软雅黑" panose="020B0503020204020204" pitchFamily="34" charset="-122"/>
              <a:ea typeface="微软雅黑" panose="020B0503020204020204" pitchFamily="34" charset="-122"/>
            </a:endParaRPr>
          </a:p>
        </p:txBody>
      </p:sp>
      <p:sp>
        <p:nvSpPr>
          <p:cNvPr id="38" name="Rectangle 10"/>
          <p:cNvSpPr>
            <a:spLocks noChangeArrowheads="1"/>
          </p:cNvSpPr>
          <p:nvPr/>
        </p:nvSpPr>
        <p:spPr bwMode="auto">
          <a:xfrm>
            <a:off x="979760" y="4148733"/>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Dynamic Dimension Reduction Technology</a:t>
            </a:r>
            <a:endParaRPr lang="zh-CN" altLang="en-US" sz="1400" b="1" dirty="0">
              <a:latin typeface="微软雅黑" panose="020B0503020204020204" pitchFamily="34" charset="-122"/>
              <a:ea typeface="微软雅黑" panose="020B0503020204020204" pitchFamily="34" charset="-122"/>
            </a:endParaRPr>
          </a:p>
        </p:txBody>
      </p:sp>
      <p:sp>
        <p:nvSpPr>
          <p:cNvPr id="39" name="Rectangle 10"/>
          <p:cNvSpPr>
            <a:spLocks noChangeArrowheads="1"/>
          </p:cNvSpPr>
          <p:nvPr/>
        </p:nvSpPr>
        <p:spPr bwMode="auto">
          <a:xfrm>
            <a:off x="979760" y="5394921"/>
            <a:ext cx="3244032" cy="803275"/>
          </a:xfrm>
          <a:prstGeom prst="rect">
            <a:avLst/>
          </a:prstGeom>
          <a:solidFill>
            <a:schemeClr val="accent1">
              <a:lumMod val="40000"/>
              <a:lumOff val="60000"/>
            </a:schemeClr>
          </a:solidFill>
          <a:ln w="28575">
            <a:solidFill>
              <a:schemeClr val="bg2">
                <a:lumMod val="75000"/>
              </a:schemeClr>
            </a:solidFill>
            <a:miter lim="800000"/>
          </a:ln>
          <a:scene3d>
            <a:camera prst="orthographicFront"/>
            <a:lightRig rig="threePt" dir="t"/>
          </a:scene3d>
          <a:sp3d>
            <a:bevelT/>
          </a:sp3d>
        </p:spPr>
        <p:txBody>
          <a:bodyPr anchor="ctr"/>
          <a:lstStyle/>
          <a:p>
            <a:pPr algn="ctr" eaLnBrk="0" hangingPunct="0">
              <a:buClr>
                <a:srgbClr val="FF0000"/>
              </a:buClr>
            </a:pPr>
            <a:r>
              <a:rPr lang="en-US" altLang="zh-CN" sz="1400" b="1" dirty="0">
                <a:latin typeface="微软雅黑" panose="020B0503020204020204" pitchFamily="34" charset="-122"/>
                <a:ea typeface="微软雅黑" panose="020B0503020204020204" pitchFamily="34" charset="-122"/>
              </a:rPr>
              <a:t>Dimensional variation and space optimization techniques</a:t>
            </a:r>
            <a:endParaRPr lang="zh-CN" altLang="en-US" sz="1400" b="1" dirty="0">
              <a:latin typeface="微软雅黑" panose="020B0503020204020204" pitchFamily="34" charset="-122"/>
              <a:ea typeface="微软雅黑" panose="020B0503020204020204" pitchFamily="34" charset="-122"/>
            </a:endParaRPr>
          </a:p>
        </p:txBody>
      </p:sp>
      <p:sp>
        <p:nvSpPr>
          <p:cNvPr id="41" name="矩形 40"/>
          <p:cNvSpPr/>
          <p:nvPr/>
        </p:nvSpPr>
        <p:spPr>
          <a:xfrm>
            <a:off x="6456040" y="1749494"/>
            <a:ext cx="5544616" cy="2183562"/>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矩形: 圆角 41"/>
          <p:cNvSpPr/>
          <p:nvPr>
            <p:custDataLst>
              <p:tags r:id="rId5"/>
            </p:custDataLst>
          </p:nvPr>
        </p:nvSpPr>
        <p:spPr>
          <a:xfrm>
            <a:off x="6742846" y="1471484"/>
            <a:ext cx="1821709" cy="391480"/>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600" b="1" dirty="0">
                <a:solidFill>
                  <a:schemeClr val="bg1"/>
                </a:solidFill>
                <a:latin typeface="Arial" panose="020B0604020202020204" pitchFamily="34" charset="0"/>
                <a:ea typeface="微软雅黑" panose="020B0503020204020204" pitchFamily="34" charset="-122"/>
                <a:sym typeface="Arial" panose="020B0604020202020204" pitchFamily="34" charset="0"/>
              </a:rPr>
              <a:t>Disadvantages</a:t>
            </a:r>
            <a:endParaRPr lang="en-US" altLang="zh-CN" sz="16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矩形 9"/>
          <p:cNvSpPr>
            <a:spLocks noChangeArrowheads="1"/>
          </p:cNvSpPr>
          <p:nvPr/>
        </p:nvSpPr>
        <p:spPr bwMode="auto">
          <a:xfrm>
            <a:off x="6456040" y="1699786"/>
            <a:ext cx="5472608" cy="2293000"/>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Current domestic and international research has overlooked the implicit design knowledge contained in the simulation data.</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The optimization process requires a large amount of sampling, which consequently limits the improvement of optimization efficiency.</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Currently, all research is conducted in a single manner, either by reducing the spatial size or the dimension.</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下箭头 18"/>
          <p:cNvSpPr>
            <a:spLocks noChangeArrowheads="1"/>
          </p:cNvSpPr>
          <p:nvPr/>
        </p:nvSpPr>
        <p:spPr bwMode="auto">
          <a:xfrm>
            <a:off x="8760296" y="4005064"/>
            <a:ext cx="508000" cy="288032"/>
          </a:xfrm>
          <a:prstGeom prst="downArrow">
            <a:avLst>
              <a:gd name="adj1" fmla="val 50000"/>
              <a:gd name="adj2" fmla="val 49987"/>
            </a:avLst>
          </a:prstGeom>
          <a:solidFill>
            <a:schemeClr val="accent1"/>
          </a:solidFill>
          <a:ln w="9525">
            <a:solidFill>
              <a:schemeClr val="tx1"/>
            </a:solidFill>
            <a:round/>
          </a:ln>
        </p:spPr>
        <p:txBody>
          <a:bodyPr/>
          <a:lstStyle/>
          <a:p>
            <a:endParaRPr lang="zh-CN" altLang="en-US" b="1" dirty="0">
              <a:latin typeface="微软雅黑" panose="020B0503020204020204" pitchFamily="34" charset="-122"/>
              <a:ea typeface="微软雅黑" panose="020B0503020204020204" pitchFamily="34" charset="-122"/>
            </a:endParaRPr>
          </a:p>
        </p:txBody>
      </p:sp>
      <p:grpSp>
        <p:nvGrpSpPr>
          <p:cNvPr id="45" name="组合 44"/>
          <p:cNvGrpSpPr/>
          <p:nvPr/>
        </p:nvGrpSpPr>
        <p:grpSpPr>
          <a:xfrm>
            <a:off x="6456040" y="4221088"/>
            <a:ext cx="5544616" cy="2448273"/>
            <a:chOff x="5663952" y="1620571"/>
            <a:chExt cx="5112568" cy="2308371"/>
          </a:xfrm>
        </p:grpSpPr>
        <p:sp>
          <p:nvSpPr>
            <p:cNvPr id="46" name="矩形 45"/>
            <p:cNvSpPr/>
            <p:nvPr/>
          </p:nvSpPr>
          <p:spPr>
            <a:xfrm>
              <a:off x="5663952" y="1756357"/>
              <a:ext cx="5112568" cy="2172585"/>
            </a:xfrm>
            <a:prstGeom prst="rect">
              <a:avLst/>
            </a:prstGeom>
            <a:noFill/>
            <a:ln w="28575">
              <a:solidFill>
                <a:schemeClr val="tx1">
                  <a:lumMod val="95000"/>
                  <a:lumOff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p:cNvSpPr/>
            <p:nvPr>
              <p:custDataLst>
                <p:tags r:id="rId6"/>
              </p:custDataLst>
            </p:nvPr>
          </p:nvSpPr>
          <p:spPr>
            <a:xfrm>
              <a:off x="5951984" y="1620571"/>
              <a:ext cx="1656184" cy="359526"/>
            </a:xfrm>
            <a:prstGeom prst="roundRect">
              <a:avLst>
                <a:gd name="adj" fmla="val 50000"/>
              </a:avLst>
            </a:prstGeom>
            <a:solidFill>
              <a:schemeClr val="accent1">
                <a:lumMod val="50000"/>
              </a:schemeClr>
            </a:solidFill>
            <a:ln w="12700" cap="flat" cmpd="sng" algn="ctr">
              <a:noFill/>
              <a:prstDash val="solid"/>
              <a:miter lim="800000"/>
            </a:ln>
            <a:effectLst/>
          </p:spPr>
          <p:txBody>
            <a:bodyPr rtlCol="0" anchor="ctr"/>
            <a:lstStyle/>
            <a:p>
              <a:pPr algn="ctr">
                <a:lnSpc>
                  <a:spcPct val="120000"/>
                </a:lnSpc>
              </a:pPr>
              <a:r>
                <a:rPr lang="en-US" altLang="zh-CN" sz="1600" b="1" dirty="0">
                  <a:solidFill>
                    <a:schemeClr val="bg1"/>
                  </a:solidFill>
                  <a:latin typeface="Arial" panose="020B0604020202020204" pitchFamily="34" charset="0"/>
                  <a:ea typeface="微软雅黑" panose="020B0503020204020204" pitchFamily="34" charset="-122"/>
                  <a:sym typeface="Arial" panose="020B0604020202020204" pitchFamily="34" charset="0"/>
                </a:rPr>
                <a:t>Improvement</a:t>
              </a:r>
              <a:endParaRPr lang="en-US" altLang="zh-CN" sz="16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cxnSp>
        <p:nvCxnSpPr>
          <p:cNvPr id="48" name="连接符: 肘形 47"/>
          <p:cNvCxnSpPr>
            <a:stCxn id="36" idx="3"/>
            <a:endCxn id="41" idx="1"/>
          </p:cNvCxnSpPr>
          <p:nvPr/>
        </p:nvCxnSpPr>
        <p:spPr>
          <a:xfrm>
            <a:off x="4223792" y="2102446"/>
            <a:ext cx="2232248" cy="738829"/>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连接符: 肘形 48"/>
          <p:cNvCxnSpPr>
            <a:stCxn id="37" idx="3"/>
            <a:endCxn id="41" idx="1"/>
          </p:cNvCxnSpPr>
          <p:nvPr/>
        </p:nvCxnSpPr>
        <p:spPr>
          <a:xfrm flipV="1">
            <a:off x="4223792" y="2841275"/>
            <a:ext cx="2232248" cy="504184"/>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49"/>
          <p:cNvCxnSpPr>
            <a:stCxn id="39" idx="3"/>
            <a:endCxn id="41" idx="1"/>
          </p:cNvCxnSpPr>
          <p:nvPr/>
        </p:nvCxnSpPr>
        <p:spPr>
          <a:xfrm flipV="1">
            <a:off x="4223792" y="2841275"/>
            <a:ext cx="2232248" cy="2955284"/>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9"/>
          <p:cNvSpPr>
            <a:spLocks noChangeArrowheads="1"/>
          </p:cNvSpPr>
          <p:nvPr/>
        </p:nvSpPr>
        <p:spPr bwMode="auto">
          <a:xfrm>
            <a:off x="6495988" y="4674411"/>
            <a:ext cx="5544616" cy="1972399"/>
          </a:xfrm>
          <a:prstGeom prst="rect">
            <a:avLst/>
          </a:prstGeom>
          <a:noFill/>
          <a:ln w="38100">
            <a:noFill/>
            <a:prstDash val="sys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Applying partial correlation analysis and self-organizing mapping technology to data mining for ship type optimization</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Proposing a dynamic spatial reduction based on partial correlation analysis</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342900" indent="-342900" eaLnBrk="0" hangingPunct="0">
              <a:lnSpc>
                <a:spcPts val="2500"/>
              </a:lnSpc>
              <a:buFont typeface="Wingdings" panose="05000000000000000000" pitchFamily="2" charset="2"/>
              <a:buChar char="Ø"/>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Introducing an efficient dynamic variable space and variable dimension optimization framework</a:t>
            </a:r>
            <a:endPar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2" name="图片 51"/>
          <p:cNvPicPr>
            <a:picLocks noChangeAspect="1"/>
          </p:cNvPicPr>
          <p:nvPr/>
        </p:nvPicPr>
        <p:blipFill>
          <a:blip r:embed="rId7"/>
          <a:srcRect l="45276" t="30046" r="30510" b="32148"/>
          <a:stretch>
            <a:fillRect/>
          </a:stretch>
        </p:blipFill>
        <p:spPr>
          <a:xfrm>
            <a:off x="6600188" y="4653456"/>
            <a:ext cx="5256451" cy="1967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ox(in)">
                                      <p:cBhvr>
                                        <p:cTn id="7"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6"/>
          <p:cNvSpPr txBox="1"/>
          <p:nvPr>
            <p:custDataLst>
              <p:tags r:id="rId1"/>
            </p:custDataLst>
          </p:nvPr>
        </p:nvSpPr>
        <p:spPr>
          <a:xfrm>
            <a:off x="7429737" y="679443"/>
            <a:ext cx="4032940" cy="6178558"/>
          </a:xfrm>
          <a:prstGeom prst="rect">
            <a:avLst/>
          </a:prstGeom>
          <a:gradFill flip="none" rotWithShape="1">
            <a:gsLst>
              <a:gs pos="41000">
                <a:schemeClr val="accent1">
                  <a:tint val="66000"/>
                  <a:satMod val="160000"/>
                </a:schemeClr>
              </a:gs>
              <a:gs pos="53000">
                <a:schemeClr val="accent1">
                  <a:tint val="44500"/>
                  <a:satMod val="160000"/>
                </a:schemeClr>
              </a:gs>
              <a:gs pos="100000">
                <a:schemeClr val="accent1">
                  <a:tint val="23500"/>
                  <a:satMod val="160000"/>
                </a:schemeClr>
              </a:gs>
            </a:gsLst>
            <a:lin ang="2700000" scaled="1"/>
            <a:tileRect/>
          </a:gradFill>
          <a:ln w="9525">
            <a:noFill/>
          </a:ln>
        </p:spPr>
        <p:txBody>
          <a:bodyPr wrap="square" anchor="t">
            <a:noAutofit/>
          </a:bodyPr>
          <a:lstStyle/>
          <a:p>
            <a:pPr marR="0" lvl="0" defTabSz="457200" rtl="0" eaLnBrk="1" fontAlgn="auto" latinLnBrk="0" hangingPunct="1">
              <a:lnSpc>
                <a:spcPct val="150000"/>
              </a:lnSpc>
              <a:spcBef>
                <a:spcPts val="0"/>
              </a:spcBef>
              <a:spcAft>
                <a:spcPts val="0"/>
              </a:spcAft>
              <a:buClrTx/>
              <a:buSzTx/>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(1)Ship hull surface discretization module</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R="0" lvl="0" defTabSz="457200" rtl="0" eaLnBrk="1" fontAlgn="auto" latinLnBrk="0" hangingPunct="1">
              <a:lnSpc>
                <a:spcPct val="150000"/>
              </a:lnSpc>
              <a:spcBef>
                <a:spcPts val="0"/>
              </a:spcBef>
              <a:spcAft>
                <a:spcPts val="0"/>
              </a:spcAft>
              <a:buClrTx/>
              <a:buSzTx/>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(2) Ship hull surface parametric module</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R="0" lvl="0" defTabSz="457200" rtl="0" eaLnBrk="1" fontAlgn="auto" latinLnBrk="0" hangingPunct="1">
              <a:lnSpc>
                <a:spcPct val="150000"/>
              </a:lnSpc>
              <a:spcBef>
                <a:spcPts val="0"/>
              </a:spcBef>
              <a:spcAft>
                <a:spcPts val="0"/>
              </a:spcAft>
              <a:buClrTx/>
              <a:buSzTx/>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(3) Ship resistance, maneuvering, and wave resistance interface module</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R="0" lvl="0" defTabSz="457200" rtl="0" eaLnBrk="1" fontAlgn="auto" latinLnBrk="0" hangingPunct="1">
              <a:lnSpc>
                <a:spcPct val="150000"/>
              </a:lnSpc>
              <a:spcBef>
                <a:spcPts val="0"/>
              </a:spcBef>
              <a:spcAft>
                <a:spcPts val="0"/>
              </a:spcAft>
              <a:buClrTx/>
              <a:buSzTx/>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(4) Knowledge acquisition module</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R="0" lvl="0" defTabSz="457200" rtl="0" eaLnBrk="1" fontAlgn="auto" latinLnBrk="0" hangingPunct="1">
              <a:lnSpc>
                <a:spcPct val="150000"/>
              </a:lnSpc>
              <a:spcBef>
                <a:spcPts val="0"/>
              </a:spcBef>
              <a:spcAft>
                <a:spcPts val="0"/>
              </a:spcAft>
              <a:buClrTx/>
              <a:buSzTx/>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(5) Optimization algorithm module</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R="0" lvl="0" defTabSz="457200" rtl="0" eaLnBrk="1" fontAlgn="auto" latinLnBrk="0" hangingPunct="1">
              <a:lnSpc>
                <a:spcPct val="150000"/>
              </a:lnSpc>
              <a:spcBef>
                <a:spcPts val="0"/>
              </a:spcBef>
              <a:spcAft>
                <a:spcPts val="0"/>
              </a:spcAft>
              <a:buClrTx/>
              <a:buSzTx/>
              <a:defRPr/>
            </a:pP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rPr>
              <a:t>(6) Experimental design module</a:t>
            </a:r>
            <a:endPar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mn-cs"/>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 Three-dimensional Visualization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(8) Post-processing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 Optimization Process Monitoring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 IGES Import/Export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(11) Hydrostatics Calculation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 Advanced Parameter Configuration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(13) Database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(14) Sensitivity Analysis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(15) Complete Stability and Salvage Stability Calculation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(16) Uncertainty Analysis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(17) Resistance Calculation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(18) Control Calculation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(19) Wave Resistance Calculation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r>
              <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 Approximate Model Module</a:t>
            </a: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endParaRPr kumimoji="0" lang="en-US" altLang="zh-CN"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457200" rtl="0" eaLnBrk="1" fontAlgn="auto" latinLnBrk="0" hangingPunct="1">
              <a:lnSpc>
                <a:spcPct val="150000"/>
              </a:lnSpc>
              <a:spcBef>
                <a:spcPts val="0"/>
              </a:spcBef>
              <a:spcAft>
                <a:spcPts val="0"/>
              </a:spcAft>
              <a:buClrTx/>
              <a:buSzTx/>
              <a:buFontTx/>
              <a:buNone/>
              <a:defRPr/>
            </a:pPr>
            <a:endParaRPr kumimoji="0" lang="zh-CN" altLang="en-US" sz="11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圆角矩形 5"/>
          <p:cNvSpPr/>
          <p:nvPr/>
        </p:nvSpPr>
        <p:spPr>
          <a:xfrm>
            <a:off x="289560" y="1228089"/>
            <a:ext cx="6870065" cy="5185113"/>
          </a:xfrm>
          <a:prstGeom prst="roundRect">
            <a:avLst>
              <a:gd name="adj" fmla="val 9004"/>
            </a:avLst>
          </a:prstGeom>
          <a:solidFill>
            <a:schemeClr val="bg1"/>
          </a:solidFill>
          <a:ln>
            <a:noFill/>
          </a:ln>
          <a:effectLst>
            <a:outerShdw blurRad="368300" dist="38100" dir="5400000" sx="104000" sy="104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3" name="圆角矩形 10"/>
          <p:cNvSpPr/>
          <p:nvPr/>
        </p:nvSpPr>
        <p:spPr>
          <a:xfrm>
            <a:off x="289560" y="1328770"/>
            <a:ext cx="6840855" cy="827989"/>
          </a:xfrm>
          <a:prstGeom prst="roundRect">
            <a:avLst/>
          </a:prstGeom>
          <a:noFill/>
          <a:ln>
            <a:noFill/>
          </a:ln>
          <a:extLst>
            <a:ext uri="{909E8E84-426E-40DD-AFC4-6F175D3DCCD1}">
              <a14:hiddenFill xmlns:a14="http://schemas.microsoft.com/office/drawing/2010/main">
                <a:solidFill>
                  <a:srgbClr val="205AC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spcBef>
                <a:spcPts val="0"/>
              </a:spcBef>
              <a:spcAft>
                <a:spcPts val="0"/>
              </a:spcAft>
              <a:buClrTx/>
              <a:buSzTx/>
              <a:buFontTx/>
              <a:buNone/>
              <a:defRPr/>
            </a:pPr>
            <a:r>
              <a:rPr kumimoji="0" lang="en-US" altLang="zh-CN" sz="2400" b="1" i="0" u="none" strike="noStrike" kern="1200" cap="none" spc="0" normalizeH="0" baseline="0" noProof="0" dirty="0">
                <a:ln>
                  <a:noFill/>
                </a:ln>
                <a:gradFill>
                  <a:gsLst>
                    <a:gs pos="100000">
                      <a:srgbClr val="011859"/>
                    </a:gs>
                    <a:gs pos="15000">
                      <a:srgbClr val="1B5AB4"/>
                    </a:gs>
                  </a:gsLst>
                  <a:lin ang="5400000" scaled="1"/>
                </a:gradFill>
                <a:effectLst/>
                <a:uLnTx/>
                <a:uFillTx/>
                <a:latin typeface="Times New Roman" panose="02020603050405020304" pitchFamily="18" charset="0"/>
                <a:ea typeface="微软雅黑" panose="020B0503020204020204" pitchFamily="34" charset="-122"/>
                <a:cs typeface="Times New Roman" panose="02020603050405020304" pitchFamily="18" charset="0"/>
              </a:rPr>
              <a:t>Software for fine optimization of ship hull lines based on SBDO</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12"/>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文本框 17"/>
          <p:cNvSpPr txBox="1"/>
          <p:nvPr/>
        </p:nvSpPr>
        <p:spPr>
          <a:xfrm>
            <a:off x="767408" y="2245910"/>
            <a:ext cx="1439112"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Analysis Tool Layer</a:t>
            </a:r>
            <a:endParaRPr lang="en-US" altLang="zh-CN" sz="1200" dirty="0">
              <a:latin typeface="Times New Roman" panose="02020603050405020304" pitchFamily="18" charset="0"/>
              <a:cs typeface="Times New Roman" panose="02020603050405020304" pitchFamily="18" charset="0"/>
            </a:endParaRPr>
          </a:p>
        </p:txBody>
      </p:sp>
      <p:sp>
        <p:nvSpPr>
          <p:cNvPr id="2" name="矩形: 圆角 1"/>
          <p:cNvSpPr/>
          <p:nvPr/>
        </p:nvSpPr>
        <p:spPr>
          <a:xfrm>
            <a:off x="370371" y="2257440"/>
            <a:ext cx="6679232" cy="4068085"/>
          </a:xfrm>
          <a:prstGeom prst="roundRect">
            <a:avLst>
              <a:gd name="adj" fmla="val 11105"/>
            </a:avLst>
          </a:prstGeom>
          <a:noFill/>
          <a:ln w="1905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67408" y="4206805"/>
            <a:ext cx="873957"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User Layer</a:t>
            </a:r>
            <a:endParaRPr lang="en-US" altLang="zh-CN" sz="1200" dirty="0">
              <a:latin typeface="Times New Roman" panose="02020603050405020304" pitchFamily="18" charset="0"/>
              <a:cs typeface="Times New Roman" panose="02020603050405020304" pitchFamily="18" charset="0"/>
            </a:endParaRPr>
          </a:p>
        </p:txBody>
      </p:sp>
      <p:cxnSp>
        <p:nvCxnSpPr>
          <p:cNvPr id="9" name="直接连接符 8"/>
          <p:cNvCxnSpPr/>
          <p:nvPr/>
        </p:nvCxnSpPr>
        <p:spPr>
          <a:xfrm>
            <a:off x="370371" y="4221088"/>
            <a:ext cx="6679232" cy="0"/>
          </a:xfrm>
          <a:prstGeom prst="line">
            <a:avLst/>
          </a:prstGeom>
          <a:noFill/>
          <a:ln w="1905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cxnSp>
      <p:sp>
        <p:nvSpPr>
          <p:cNvPr id="15" name="矩形: 圆角 14"/>
          <p:cNvSpPr/>
          <p:nvPr/>
        </p:nvSpPr>
        <p:spPr>
          <a:xfrm>
            <a:off x="911423" y="2742565"/>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Ship hull surface deformation module</a:t>
            </a:r>
            <a:endParaRPr lang="zh-CN" altLang="en-US" sz="1600" b="1" dirty="0">
              <a:latin typeface="Times New Roman" panose="02020603050405020304" pitchFamily="18" charset="0"/>
              <a:cs typeface="Times New Roman" panose="02020603050405020304" pitchFamily="18" charset="0"/>
            </a:endParaRPr>
          </a:p>
        </p:txBody>
      </p:sp>
      <p:sp>
        <p:nvSpPr>
          <p:cNvPr id="21" name="矩形: 圆角 20"/>
          <p:cNvSpPr/>
          <p:nvPr/>
        </p:nvSpPr>
        <p:spPr>
          <a:xfrm>
            <a:off x="3980512" y="2742565"/>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Times New Roman" panose="02020603050405020304" pitchFamily="18" charset="0"/>
                <a:cs typeface="Times New Roman" panose="02020603050405020304" pitchFamily="18" charset="0"/>
              </a:rPr>
              <a:t>Ship hydrodynamic performance solver</a:t>
            </a:r>
            <a:endParaRPr lang="zh-CN" altLang="en-US" sz="1600" b="1" dirty="0">
              <a:latin typeface="Times New Roman" panose="02020603050405020304" pitchFamily="18" charset="0"/>
              <a:cs typeface="Times New Roman" panose="02020603050405020304" pitchFamily="18" charset="0"/>
            </a:endParaRPr>
          </a:p>
        </p:txBody>
      </p:sp>
      <p:sp>
        <p:nvSpPr>
          <p:cNvPr id="23" name="矩形: 圆角 22"/>
          <p:cNvSpPr/>
          <p:nvPr/>
        </p:nvSpPr>
        <p:spPr>
          <a:xfrm>
            <a:off x="911423" y="347368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Dynamic approximation model</a:t>
            </a:r>
            <a:endParaRPr lang="zh-CN" altLang="en-US" sz="1600" b="1" dirty="0">
              <a:latin typeface="Times New Roman" panose="02020603050405020304" pitchFamily="18" charset="0"/>
              <a:cs typeface="Times New Roman" panose="02020603050405020304" pitchFamily="18" charset="0"/>
            </a:endParaRPr>
          </a:p>
        </p:txBody>
      </p:sp>
      <p:sp>
        <p:nvSpPr>
          <p:cNvPr id="24" name="矩形: 圆角 23"/>
          <p:cNvSpPr/>
          <p:nvPr/>
        </p:nvSpPr>
        <p:spPr>
          <a:xfrm>
            <a:off x="3980512" y="347368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Times New Roman" panose="02020603050405020304" pitchFamily="18" charset="0"/>
                <a:cs typeface="Times New Roman" panose="02020603050405020304" pitchFamily="18" charset="0"/>
              </a:rPr>
              <a:t>Efficient optimization algorithm</a:t>
            </a:r>
            <a:endParaRPr lang="zh-CN" altLang="en-US" sz="1600" b="1">
              <a:latin typeface="Times New Roman" panose="02020603050405020304" pitchFamily="18" charset="0"/>
              <a:cs typeface="Times New Roman" panose="02020603050405020304" pitchFamily="18" charset="0"/>
            </a:endParaRPr>
          </a:p>
        </p:txBody>
      </p:sp>
      <p:sp>
        <p:nvSpPr>
          <p:cNvPr id="25" name="矩形: 圆角 24"/>
          <p:cNvSpPr/>
          <p:nvPr/>
        </p:nvSpPr>
        <p:spPr>
          <a:xfrm>
            <a:off x="911423" y="475879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Times New Roman" panose="02020603050405020304" pitchFamily="18" charset="0"/>
                <a:cs typeface="Times New Roman" panose="02020603050405020304" pitchFamily="18" charset="0"/>
              </a:rPr>
              <a:t>Ship type selection subsystem</a:t>
            </a:r>
            <a:endParaRPr lang="zh-CN" altLang="en-US" sz="1600" b="1" dirty="0">
              <a:latin typeface="Times New Roman" panose="02020603050405020304" pitchFamily="18" charset="0"/>
              <a:cs typeface="Times New Roman" panose="02020603050405020304" pitchFamily="18" charset="0"/>
            </a:endParaRPr>
          </a:p>
        </p:txBody>
      </p:sp>
      <p:sp>
        <p:nvSpPr>
          <p:cNvPr id="26" name="矩形: 圆角 25"/>
          <p:cNvSpPr/>
          <p:nvPr/>
        </p:nvSpPr>
        <p:spPr>
          <a:xfrm>
            <a:off x="911423" y="5529230"/>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Advanced parameter setting subsystem</a:t>
            </a:r>
            <a:endParaRPr lang="zh-CN" altLang="en-US" sz="1600" b="1" dirty="0">
              <a:latin typeface="Times New Roman" panose="02020603050405020304" pitchFamily="18" charset="0"/>
              <a:cs typeface="Times New Roman" panose="02020603050405020304" pitchFamily="18" charset="0"/>
            </a:endParaRPr>
          </a:p>
        </p:txBody>
      </p:sp>
      <p:sp>
        <p:nvSpPr>
          <p:cNvPr id="27" name="矩形: 圆角 26"/>
          <p:cNvSpPr/>
          <p:nvPr/>
        </p:nvSpPr>
        <p:spPr>
          <a:xfrm>
            <a:off x="3980512" y="4758791"/>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Optimization design subsystem</a:t>
            </a:r>
            <a:endParaRPr lang="zh-CN" altLang="en-US" sz="1600" b="1" dirty="0">
              <a:latin typeface="Times New Roman" panose="02020603050405020304" pitchFamily="18" charset="0"/>
              <a:cs typeface="Times New Roman" panose="02020603050405020304" pitchFamily="18" charset="0"/>
            </a:endParaRPr>
          </a:p>
        </p:txBody>
      </p:sp>
      <p:sp>
        <p:nvSpPr>
          <p:cNvPr id="28" name="矩形: 圆角 27"/>
          <p:cNvSpPr/>
          <p:nvPr/>
        </p:nvSpPr>
        <p:spPr>
          <a:xfrm>
            <a:off x="3980512" y="5529230"/>
            <a:ext cx="2621231" cy="4704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Times New Roman" panose="02020603050405020304" pitchFamily="18" charset="0"/>
                <a:cs typeface="Times New Roman" panose="02020603050405020304" pitchFamily="18" charset="0"/>
              </a:rPr>
              <a:t>Post-processing subsystem of optimization results</a:t>
            </a:r>
            <a:endParaRPr lang="zh-CN" alt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custDataLst>
              <p:tags r:id="rId1"/>
            </p:custDataLst>
          </p:nvPr>
        </p:nvPicPr>
        <p:blipFill>
          <a:blip r:embed="rId2"/>
          <a:srcRect l="17302" t="19343" r="19245" b="21278"/>
          <a:stretch>
            <a:fillRect/>
          </a:stretch>
        </p:blipFill>
        <p:spPr>
          <a:xfrm>
            <a:off x="551180" y="713740"/>
            <a:ext cx="11021695" cy="4417695"/>
          </a:xfrm>
          <a:prstGeom prst="rect">
            <a:avLst/>
          </a:prstGeom>
        </p:spPr>
      </p:pic>
      <p:sp>
        <p:nvSpPr>
          <p:cNvPr id="15" name="文本框 14"/>
          <p:cNvSpPr txBox="1"/>
          <p:nvPr>
            <p:custDataLst>
              <p:tags r:id="rId3"/>
            </p:custDataLst>
          </p:nvPr>
        </p:nvSpPr>
        <p:spPr>
          <a:xfrm>
            <a:off x="615315" y="5267960"/>
            <a:ext cx="10904220" cy="1477328"/>
          </a:xfrm>
          <a:prstGeom prst="rect">
            <a:avLst/>
          </a:prstGeom>
          <a:noFill/>
          <a:ln w="19050">
            <a:solidFill>
              <a:schemeClr val="accent1"/>
            </a:solidFill>
            <a:prstDash val="sysDash"/>
          </a:ln>
        </p:spPr>
        <p:txBody>
          <a:bodyPr wrap="square" rtlCol="0">
            <a:spAutoFit/>
          </a:bodyPr>
          <a:lstStyle>
            <a:defPPr>
              <a:defRPr lang="en-US"/>
            </a:defPPr>
            <a:lvl1pPr marL="342900" indent="-342900" algn="just">
              <a:lnSpc>
                <a:spcPct val="130000"/>
              </a:lnSpc>
              <a:buFont typeface="Wingdings" panose="05000000000000000000" pitchFamily="2" charset="2"/>
              <a:buChar char="l"/>
              <a:defRPr>
                <a:solidFill>
                  <a:srgbClr val="000000"/>
                </a:solidFill>
                <a:latin typeface="Times New Roman" panose="02020603050405020304"/>
                <a:ea typeface="微软雅黑" panose="020B0503020204020204" pitchFamily="34" charset="-122"/>
              </a:defRPr>
            </a:lvl1pPr>
          </a:lstStyle>
          <a:p>
            <a:pPr marL="0" indent="0">
              <a:lnSpc>
                <a:spcPct val="100000"/>
              </a:lnSpc>
              <a:buNone/>
            </a:pPr>
            <a:r>
              <a:rPr lang="en-US" altLang="zh-CN" dirty="0">
                <a:sym typeface="+mn-ea"/>
              </a:rPr>
              <a:t>This software is applicable to the line optimization and evaluation research of single and multi-hull ship types in inland rivers and coastal areas. It can provide a good platform for the development of new ship types and the research of energy-saving ship types. The software is widely used by ship design and performance research units, and has completed the line optimization research of multiple military and civilian ships, achieving good economic and military benefits.</a:t>
            </a:r>
            <a:endParaRPr lang="en-US" altLang="zh-CN" dirty="0">
              <a:sym typeface="+mn-ea"/>
            </a:endParaRPr>
          </a:p>
        </p:txBody>
      </p:sp>
      <p:sp>
        <p:nvSpPr>
          <p:cNvPr id="5" name="矩形 4"/>
          <p:cNvSpPr/>
          <p:nvPr/>
        </p:nvSpPr>
        <p:spPr>
          <a:xfrm>
            <a:off x="2167424" y="33111"/>
            <a:ext cx="7712368"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SBDO-Based Hull Form Optimization</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6"/>
          <p:cNvSpPr>
            <a:spLocks noChangeArrowheads="1"/>
          </p:cNvSpPr>
          <p:nvPr/>
        </p:nvSpPr>
        <p:spPr bwMode="auto">
          <a:xfrm>
            <a:off x="295910" y="762635"/>
            <a:ext cx="688021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nSpc>
                <a:spcPct val="130000"/>
              </a:lnSpc>
              <a:spcAft>
                <a:spcPct val="40000"/>
              </a:spcAft>
              <a:buClr>
                <a:srgbClr val="FF0000"/>
              </a:buClr>
              <a:buFont typeface="Wingdings" panose="05000000000000000000" pitchFamily="2" charset="2"/>
              <a:buChar char="n"/>
              <a:defRPr/>
            </a:pPr>
            <a:r>
              <a:rPr kumimoji="0" lang="en-US" altLang="zh-CN" sz="2400" b="1" i="0" u="none" strike="noStrike" kern="1200" cap="none" spc="0" normalizeH="0" baseline="0" noProof="0" dirty="0">
                <a:ln>
                  <a:noFill/>
                </a:ln>
                <a:solidFill>
                  <a:prstClr val="black"/>
                </a:solidFill>
                <a:effectLst/>
                <a:uLnTx/>
                <a:uFillTx/>
                <a:latin typeface="Calibri" panose="020F0502020204030204" charset="0"/>
                <a:ea typeface="黑体" panose="02010609060101010101" pitchFamily="49" charset="-122"/>
                <a:cs typeface="+mn-cs"/>
              </a:rPr>
              <a:t> </a:t>
            </a:r>
            <a:r>
              <a:rPr lang="en-US" altLang="zh-CN" sz="2400" dirty="0">
                <a:solidFill>
                  <a:prstClr val="black"/>
                </a:solidFill>
                <a:latin typeface="Calibri" panose="020F0502020204030204" charset="0"/>
                <a:ea typeface="黑体" panose="02010609060101010101" pitchFamily="49" charset="-122"/>
              </a:rPr>
              <a:t>7500T Bulk Carrier hull form Optimization Design</a:t>
            </a:r>
            <a:endParaRPr kumimoji="0" lang="en-US" altLang="zh-CN" sz="2400" b="1" i="0" u="none" strike="noStrike" kern="1200" cap="none" spc="0" normalizeH="0" baseline="0" noProof="0" dirty="0">
              <a:ln>
                <a:noFill/>
              </a:ln>
              <a:solidFill>
                <a:prstClr val="black"/>
              </a:solidFill>
              <a:effectLst/>
              <a:uLnTx/>
              <a:uFillTx/>
              <a:latin typeface="Calibri" panose="020F0502020204030204" charset="0"/>
              <a:ea typeface="黑体" panose="02010609060101010101" pitchFamily="49" charset="-122"/>
              <a:cs typeface="+mn-cs"/>
            </a:endParaRPr>
          </a:p>
        </p:txBody>
      </p:sp>
      <p:pic>
        <p:nvPicPr>
          <p:cNvPr id="6" name="图片 5"/>
          <p:cNvPicPr>
            <a:picLocks noChangeAspect="1"/>
          </p:cNvPicPr>
          <p:nvPr/>
        </p:nvPicPr>
        <p:blipFill rotWithShape="1">
          <a:blip r:embed="rId1"/>
          <a:srcRect l="15745" t="30980" r="58490" b="16917"/>
          <a:stretch>
            <a:fillRect/>
          </a:stretch>
        </p:blipFill>
        <p:spPr>
          <a:xfrm>
            <a:off x="6960096" y="1756023"/>
            <a:ext cx="4968880" cy="474910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081" y="1449705"/>
            <a:ext cx="5321919" cy="2392148"/>
          </a:xfrm>
          <a:prstGeom prst="rect">
            <a:avLst/>
          </a:prstGeom>
        </p:spPr>
      </p:pic>
      <p:sp>
        <p:nvSpPr>
          <p:cNvPr id="7" name="灯片编号占位符 2"/>
          <p:cNvSpPr>
            <a:spLocks noGrp="1"/>
          </p:cNvSpPr>
          <p:nvPr>
            <p:ph type="sldNum" sz="quarter" idx="12"/>
          </p:nvPr>
        </p:nvSpPr>
        <p:spPr>
          <a:xfrm>
            <a:off x="8610600" y="635635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矩形 8"/>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1" name="表格 10"/>
          <p:cNvGraphicFramePr>
            <a:graphicFrameLocks noGrp="1"/>
          </p:cNvGraphicFramePr>
          <p:nvPr>
            <p:custDataLst>
              <p:tags r:id="rId3"/>
            </p:custDataLst>
          </p:nvPr>
        </p:nvGraphicFramePr>
        <p:xfrm>
          <a:off x="838200" y="3985682"/>
          <a:ext cx="5688632" cy="2731368"/>
        </p:xfrm>
        <a:graphic>
          <a:graphicData uri="http://schemas.openxmlformats.org/drawingml/2006/table">
            <a:tbl>
              <a:tblPr firstRow="1" firstCol="1" bandRow="1">
                <a:tableStyleId>{5C22544A-7EE6-4342-B048-85BDC9FD1C3A}</a:tableStyleId>
              </a:tblPr>
              <a:tblGrid>
                <a:gridCol w="1722826"/>
                <a:gridCol w="1356955"/>
                <a:gridCol w="1354751"/>
                <a:gridCol w="1254100"/>
              </a:tblGrid>
              <a:tr h="432048">
                <a:tc>
                  <a:txBody>
                    <a:bodyPr/>
                    <a:lstStyle/>
                    <a:p>
                      <a:pPr indent="0" algn="ctr">
                        <a:spcAft>
                          <a:spcPts val="0"/>
                        </a:spcAft>
                      </a:pPr>
                      <a:r>
                        <a:rPr lang="en-US" sz="1600" b="1" kern="100" dirty="0">
                          <a:effectLst/>
                        </a:rPr>
                        <a:t> </a:t>
                      </a:r>
                      <a:endParaRPr lang="en-US"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b="1" kern="100" dirty="0">
                          <a:effectLst/>
                          <a:latin typeface="Times New Roman" panose="02020603050405020304" pitchFamily="18" charset="0"/>
                          <a:ea typeface="仿宋" panose="02010609060101010101" pitchFamily="49" charset="-122"/>
                          <a:cs typeface="Times New Roman" panose="02020603050405020304" pitchFamily="18" charset="0"/>
                        </a:rPr>
                        <a:t>Initial ship</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b="1" kern="100" dirty="0">
                          <a:effectLst/>
                        </a:rPr>
                        <a:t>Optimize  ship</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b="1" kern="100" dirty="0">
                          <a:effectLst/>
                          <a:latin typeface="Times New Roman" panose="02020603050405020304" pitchFamily="18" charset="0"/>
                          <a:ea typeface="仿宋" panose="02010609060101010101" pitchFamily="49" charset="-122"/>
                          <a:cs typeface="Times New Roman" panose="02020603050405020304" pitchFamily="18" charset="0"/>
                        </a:rPr>
                        <a:t>Differences</a:t>
                      </a:r>
                      <a:endParaRPr lang="zh-CN" altLang="en-US"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r>
              <a:tr h="470634">
                <a:tc>
                  <a:txBody>
                    <a:bodyPr/>
                    <a:lstStyle/>
                    <a:p>
                      <a:pPr indent="0" algn="ctr">
                        <a:spcAft>
                          <a:spcPts val="0"/>
                        </a:spcAft>
                      </a:pPr>
                      <a:r>
                        <a:rPr lang="en-US" altLang="zh-CN" sz="1600" b="1" kern="100" dirty="0">
                          <a:effectLst/>
                          <a:latin typeface="Times New Roman" panose="02020603050405020304" pitchFamily="18" charset="0"/>
                          <a:ea typeface="仿宋" panose="02010609060101010101" pitchFamily="49" charset="-122"/>
                          <a:cs typeface="Times New Roman" panose="02020603050405020304" pitchFamily="18" charset="0"/>
                        </a:rPr>
                        <a:t>Δ</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9477.19m</a:t>
                      </a:r>
                      <a:r>
                        <a:rPr lang="en-US" sz="1600" b="0" kern="100" baseline="30000">
                          <a:effectLst/>
                          <a:latin typeface="+mj-lt"/>
                        </a:rPr>
                        <a:t>3</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9475.11 m</a:t>
                      </a:r>
                      <a:r>
                        <a:rPr lang="en-US" sz="1600" b="0" kern="100" baseline="30000">
                          <a:effectLst/>
                          <a:latin typeface="+mj-lt"/>
                        </a:rPr>
                        <a:t>3</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-0.02%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r>
              <a:tr h="471195">
                <a:tc>
                  <a:txBody>
                    <a:bodyPr/>
                    <a:lstStyle/>
                    <a:p>
                      <a:pPr indent="0" algn="ctr">
                        <a:spcAft>
                          <a:spcPts val="0"/>
                        </a:spcAft>
                      </a:pPr>
                      <a:r>
                        <a:rPr lang="en-US" altLang="zh-CN" sz="1600" b="1" kern="100" dirty="0">
                          <a:effectLst/>
                        </a:rPr>
                        <a:t>XCB</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65.84 m</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64.24 m</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-2.42%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r>
              <a:tr h="470634">
                <a:tc>
                  <a:txBody>
                    <a:bodyPr/>
                    <a:lstStyle/>
                    <a:p>
                      <a:pPr indent="0" algn="ctr">
                        <a:spcAft>
                          <a:spcPts val="0"/>
                        </a:spcAft>
                      </a:pPr>
                      <a:r>
                        <a:rPr lang="en-US" altLang="zh-CN" sz="1600" b="1" kern="100" dirty="0">
                          <a:effectLst/>
                        </a:rPr>
                        <a:t>WS</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3183.81 m</a:t>
                      </a:r>
                      <a:r>
                        <a:rPr lang="en-US" sz="1600" b="0" kern="100" baseline="30000">
                          <a:effectLst/>
                          <a:latin typeface="+mj-lt"/>
                        </a:rPr>
                        <a:t>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3163.57 m</a:t>
                      </a:r>
                      <a:r>
                        <a:rPr lang="en-US" sz="1600" b="0" kern="100" baseline="30000">
                          <a:effectLst/>
                          <a:latin typeface="+mj-lt"/>
                        </a:rPr>
                        <a:t>2</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-0.64%</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r>
              <a:tr h="415662">
                <a:tc>
                  <a:txBody>
                    <a:bodyPr/>
                    <a:lstStyle/>
                    <a:p>
                      <a:pPr indent="0" algn="ctr">
                        <a:spcAft>
                          <a:spcPts val="0"/>
                        </a:spcAft>
                      </a:pPr>
                      <a:r>
                        <a:rPr lang="en-US" altLang="zh-CN" sz="1600" b="1" kern="100" dirty="0">
                          <a:effectLst/>
                        </a:rPr>
                        <a:t>CB</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0.8654</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0.8654</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effectLst/>
                          <a:latin typeface="+mj-lt"/>
                        </a:rPr>
                        <a:t>0.00%</a:t>
                      </a:r>
                      <a:endParaRPr lang="en-US" sz="1600" b="0" kern="100">
                        <a:effectLst/>
                        <a:latin typeface="+mj-lt"/>
                        <a:ea typeface="仿宋" panose="02010609060101010101" pitchFamily="49" charset="-122"/>
                        <a:cs typeface="Times New Roman" panose="02020603050405020304" pitchFamily="18" charset="0"/>
                      </a:endParaRPr>
                    </a:p>
                  </a:txBody>
                  <a:tcPr marL="68580" marR="68580" marT="0" marB="0" anchor="ctr"/>
                </a:tc>
              </a:tr>
              <a:tr h="471195">
                <a:tc>
                  <a:txBody>
                    <a:bodyPr/>
                    <a:lstStyle/>
                    <a:p>
                      <a:pPr indent="0" algn="ctr">
                        <a:spcAft>
                          <a:spcPts val="0"/>
                        </a:spcAft>
                      </a:pPr>
                      <a:r>
                        <a:rPr lang="en-US" altLang="zh-CN" sz="1600" b="1" kern="100" dirty="0">
                          <a:effectLst/>
                        </a:rPr>
                        <a:t>RT</a:t>
                      </a:r>
                      <a:endParaRPr lang="zh-CN" sz="16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solidFill>
                            <a:srgbClr val="FF0000"/>
                          </a:solidFill>
                          <a:effectLst/>
                          <a:latin typeface="+mj-lt"/>
                        </a:rPr>
                        <a:t>125.83 KN</a:t>
                      </a:r>
                      <a:endParaRPr lang="en-US" sz="1600" b="0" kern="100">
                        <a:solidFill>
                          <a:srgbClr val="FF0000"/>
                        </a:solidFill>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a:solidFill>
                            <a:srgbClr val="FF0000"/>
                          </a:solidFill>
                          <a:effectLst/>
                          <a:latin typeface="+mj-lt"/>
                        </a:rPr>
                        <a:t>122.14 KN</a:t>
                      </a:r>
                      <a:endParaRPr lang="en-US" sz="1600" b="0" kern="100">
                        <a:solidFill>
                          <a:srgbClr val="FF0000"/>
                        </a:solidFill>
                        <a:effectLst/>
                        <a:latin typeface="+mj-lt"/>
                        <a:ea typeface="仿宋" panose="02010609060101010101" pitchFamily="49" charset="-122"/>
                        <a:cs typeface="Times New Roman" panose="02020603050405020304" pitchFamily="18" charset="0"/>
                      </a:endParaRPr>
                    </a:p>
                  </a:txBody>
                  <a:tcPr marL="68580" marR="68580" marT="0" marB="0" anchor="ctr"/>
                </a:tc>
                <a:tc>
                  <a:txBody>
                    <a:bodyPr/>
                    <a:lstStyle/>
                    <a:p>
                      <a:pPr indent="0" algn="ctr">
                        <a:spcAft>
                          <a:spcPts val="0"/>
                        </a:spcAft>
                      </a:pPr>
                      <a:r>
                        <a:rPr lang="en-US" sz="1600" b="0" kern="100" dirty="0">
                          <a:solidFill>
                            <a:srgbClr val="FF0000"/>
                          </a:solidFill>
                          <a:effectLst/>
                          <a:latin typeface="+mj-lt"/>
                        </a:rPr>
                        <a:t>-2.93%</a:t>
                      </a:r>
                      <a:endParaRPr lang="en-US" sz="1600" b="0" kern="100" dirty="0">
                        <a:solidFill>
                          <a:srgbClr val="FF0000"/>
                        </a:solidFill>
                        <a:effectLst/>
                        <a:latin typeface="+mj-lt"/>
                        <a:ea typeface="仿宋" panose="02010609060101010101" pitchFamily="49" charset="-122"/>
                        <a:cs typeface="Times New Roman" panose="02020603050405020304" pitchFamily="18" charset="0"/>
                      </a:endParaRPr>
                    </a:p>
                  </a:txBody>
                  <a:tcPr marL="68580" marR="68580" marT="0" marB="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6"/>
          <p:cNvSpPr>
            <a:spLocks noChangeArrowheads="1"/>
          </p:cNvSpPr>
          <p:nvPr/>
        </p:nvSpPr>
        <p:spPr bwMode="auto">
          <a:xfrm>
            <a:off x="295910" y="762635"/>
            <a:ext cx="5944106"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nSpc>
                <a:spcPct val="130000"/>
              </a:lnSpc>
              <a:spcAft>
                <a:spcPct val="40000"/>
              </a:spcAft>
              <a:buClr>
                <a:srgbClr val="FF0000"/>
              </a:buClr>
              <a:buFont typeface="Wingdings" panose="05000000000000000000" pitchFamily="2" charset="2"/>
              <a:buChar char="n"/>
              <a:defRPr/>
            </a:pPr>
            <a:r>
              <a:rPr lang="en-US" altLang="zh-CN" sz="2400" dirty="0">
                <a:solidFill>
                  <a:prstClr val="black"/>
                </a:solidFill>
                <a:latin typeface="Calibri" panose="020F0502020204030204" charset="0"/>
                <a:ea typeface="黑体" panose="02010609060101010101" pitchFamily="49" charset="-122"/>
              </a:rPr>
              <a:t>Optimized design of 3300m³ LPG</a:t>
            </a:r>
            <a:endParaRPr kumimoji="0" lang="en-US" altLang="zh-CN" sz="2400" b="1" i="0" u="none" strike="noStrike" kern="1200" cap="none" spc="0" normalizeH="0" baseline="0" noProof="0" dirty="0">
              <a:ln>
                <a:noFill/>
              </a:ln>
              <a:solidFill>
                <a:prstClr val="black"/>
              </a:solidFill>
              <a:effectLst/>
              <a:uLnTx/>
              <a:uFillTx/>
              <a:latin typeface="Calibri" panose="020F0502020204030204" charset="0"/>
              <a:ea typeface="黑体" panose="02010609060101010101" pitchFamily="49" charset="-122"/>
              <a:cs typeface="+mn-cs"/>
            </a:endParaRPr>
          </a:p>
        </p:txBody>
      </p:sp>
      <p:pic>
        <p:nvPicPr>
          <p:cNvPr id="7" name="图片 6"/>
          <p:cNvPicPr>
            <a:picLocks noChangeAspect="1"/>
          </p:cNvPicPr>
          <p:nvPr/>
        </p:nvPicPr>
        <p:blipFill rotWithShape="1">
          <a:blip r:embed="rId1">
            <a:extLst>
              <a:ext uri="{28A0092B-C50C-407E-A947-70E740481C1C}">
                <a14:useLocalDpi xmlns:a14="http://schemas.microsoft.com/office/drawing/2010/main" val="0"/>
              </a:ext>
            </a:extLst>
          </a:blip>
          <a:srcRect t="6686" b="11730"/>
          <a:stretch>
            <a:fillRect/>
          </a:stretch>
        </p:blipFill>
        <p:spPr>
          <a:xfrm>
            <a:off x="5447928" y="3644816"/>
            <a:ext cx="6664217" cy="3096344"/>
          </a:xfrm>
          <a:prstGeom prst="rect">
            <a:avLst/>
          </a:prstGeom>
        </p:spPr>
      </p:pic>
      <p:pic>
        <p:nvPicPr>
          <p:cNvPr id="8" name="图片 7"/>
          <p:cNvPicPr>
            <a:picLocks noChangeAspect="1"/>
          </p:cNvPicPr>
          <p:nvPr/>
        </p:nvPicPr>
        <p:blipFill>
          <a:blip r:embed="rId2"/>
          <a:stretch>
            <a:fillRect/>
          </a:stretch>
        </p:blipFill>
        <p:spPr>
          <a:xfrm>
            <a:off x="263525" y="1539875"/>
            <a:ext cx="5122545" cy="2404745"/>
          </a:xfrm>
          <a:prstGeom prst="rect">
            <a:avLst/>
          </a:prstGeom>
        </p:spPr>
      </p:pic>
      <p:sp>
        <p:nvSpPr>
          <p:cNvPr id="11" name="文本框 10"/>
          <p:cNvSpPr txBox="1"/>
          <p:nvPr/>
        </p:nvSpPr>
        <p:spPr>
          <a:xfrm>
            <a:off x="695400" y="4008358"/>
            <a:ext cx="4451349" cy="369332"/>
          </a:xfrm>
          <a:prstGeom prst="rect">
            <a:avLst/>
          </a:prstGeom>
          <a:noFill/>
        </p:spPr>
        <p:txBody>
          <a:bodyPr wrap="square">
            <a:spAutoFit/>
          </a:bodyPr>
          <a:lstStyle/>
          <a:p>
            <a:pPr lvl="0" algn="just">
              <a:defRPr/>
            </a:pPr>
            <a:r>
              <a:rPr kumimoji="0" lang="zh-CN"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Optimize  ship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Initial ship</a:t>
            </a:r>
            <a:endParaRPr lang="en-US" altLang="zh-CN"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Rectangle 1"/>
          <p:cNvSpPr>
            <a:spLocks noChangeArrowheads="1"/>
          </p:cNvSpPr>
          <p:nvPr/>
        </p:nvSpPr>
        <p:spPr bwMode="auto">
          <a:xfrm>
            <a:off x="380365" y="4810760"/>
            <a:ext cx="4622165" cy="122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just" defTabSz="914400" eaLnBrk="0" fontAlgn="base" hangingPunct="0">
              <a:lnSpc>
                <a:spcPct val="150000"/>
              </a:lnSpc>
              <a:spcBef>
                <a:spcPct val="0"/>
              </a:spcBef>
              <a:spcAft>
                <a:spcPct val="0"/>
              </a:spcAft>
              <a:defRPr/>
            </a:pPr>
            <a:r>
              <a:rPr lang="en-US" altLang="zh-CN" sz="1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The designed speed is 13 knots, reducing resistance by 2.44% and increasing propulsion efficiency by 4.96%.</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p:cNvPicPr>
            <a:picLocks noChangeAspect="1"/>
          </p:cNvPicPr>
          <p:nvPr/>
        </p:nvPicPr>
        <p:blipFill rotWithShape="1">
          <a:blip r:embed="rId3" cstate="print">
            <a:extLst>
              <a:ext uri="{28A0092B-C50C-407E-A947-70E740481C1C}">
                <a14:useLocalDpi xmlns:a14="http://schemas.microsoft.com/office/drawing/2010/main" val="0"/>
              </a:ext>
            </a:extLst>
          </a:blip>
          <a:srcRect l="30963" t="2398" r="26714" b="6697"/>
          <a:stretch>
            <a:fillRect/>
          </a:stretch>
        </p:blipFill>
        <p:spPr>
          <a:xfrm>
            <a:off x="9408368" y="980728"/>
            <a:ext cx="2232248" cy="2404807"/>
          </a:xfrm>
          <a:prstGeom prst="rect">
            <a:avLst/>
          </a:prstGeom>
        </p:spPr>
      </p:pic>
      <p:pic>
        <p:nvPicPr>
          <p:cNvPr id="15" name="图片 14"/>
          <p:cNvPicPr>
            <a:picLocks noChangeAspect="1"/>
          </p:cNvPicPr>
          <p:nvPr/>
        </p:nvPicPr>
        <p:blipFill rotWithShape="1">
          <a:blip r:embed="rId4" cstate="print">
            <a:extLst>
              <a:ext uri="{28A0092B-C50C-407E-A947-70E740481C1C}">
                <a14:useLocalDpi xmlns:a14="http://schemas.microsoft.com/office/drawing/2010/main" val="0"/>
              </a:ext>
            </a:extLst>
          </a:blip>
          <a:srcRect l="28157" r="24059" b="6694"/>
          <a:stretch>
            <a:fillRect/>
          </a:stretch>
        </p:blipFill>
        <p:spPr>
          <a:xfrm>
            <a:off x="6150335" y="914208"/>
            <a:ext cx="2520280" cy="2468245"/>
          </a:xfrm>
          <a:prstGeom prst="rect">
            <a:avLst/>
          </a:prstGeom>
          <a:ln>
            <a:noFill/>
          </a:ln>
        </p:spPr>
      </p:pic>
      <p:sp>
        <p:nvSpPr>
          <p:cNvPr id="17" name="文本框 16"/>
          <p:cNvSpPr txBox="1"/>
          <p:nvPr/>
        </p:nvSpPr>
        <p:spPr>
          <a:xfrm>
            <a:off x="6803577" y="3290882"/>
            <a:ext cx="1178528" cy="369332"/>
          </a:xfrm>
          <a:prstGeom prst="rect">
            <a:avLst/>
          </a:prstGeom>
        </p:spPr>
        <p:txBody>
          <a:bodyPr wrap="none">
            <a:spAutoFit/>
          </a:bodyPr>
          <a:lstStyle>
            <a:defPPr>
              <a:defRPr lang="en-US"/>
            </a:defPPr>
            <a:lvl1pPr indent="0" algn="ctr">
              <a:spcAft>
                <a:spcPts val="0"/>
              </a:spcAft>
              <a:defRPr b="1" kern="100"/>
            </a:lvl1pPr>
          </a:lstStyle>
          <a:p>
            <a:r>
              <a:rPr lang="en-US" altLang="zh-CN" dirty="0"/>
              <a:t>Initial ship</a:t>
            </a:r>
            <a:endParaRPr lang="en-US" altLang="zh-CN" dirty="0"/>
          </a:p>
        </p:txBody>
      </p:sp>
      <p:sp>
        <p:nvSpPr>
          <p:cNvPr id="5" name="灯片编号占位符 2"/>
          <p:cNvSpPr>
            <a:spLocks noGrp="1"/>
          </p:cNvSpPr>
          <p:nvPr>
            <p:ph type="sldNum" sz="quarter" idx="12"/>
          </p:nvPr>
        </p:nvSpPr>
        <p:spPr>
          <a:xfrm>
            <a:off x="8610600" y="635635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矩形 12"/>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矩形 1"/>
          <p:cNvSpPr/>
          <p:nvPr/>
        </p:nvSpPr>
        <p:spPr>
          <a:xfrm>
            <a:off x="9725195" y="3297176"/>
            <a:ext cx="1545231" cy="369332"/>
          </a:xfrm>
          <a:prstGeom prst="rect">
            <a:avLst/>
          </a:prstGeom>
        </p:spPr>
        <p:txBody>
          <a:bodyPr wrap="none">
            <a:spAutoFit/>
          </a:bodyPr>
          <a:lstStyle/>
          <a:p>
            <a:pPr indent="0" algn="ctr">
              <a:spcAft>
                <a:spcPts val="0"/>
              </a:spcAft>
            </a:pPr>
            <a:r>
              <a:rPr lang="en-US" altLang="zh-CN" b="1" kern="100" dirty="0"/>
              <a:t>Optimize  ship</a:t>
            </a:r>
            <a:endParaRPr lang="zh-CN" altLang="zh-CN" b="1" kern="100" dirty="0">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191051" y="801278"/>
            <a:ext cx="8540223" cy="511807"/>
          </a:xfrm>
          <a:prstGeom prst="rect">
            <a:avLst/>
          </a:prstGeom>
          <a:noFill/>
        </p:spPr>
        <p:txBody>
          <a:bodyPr wrap="none" rtlCol="0" anchor="t">
            <a:spAutoFit/>
          </a:bodyPr>
          <a:lstStyle/>
          <a:p>
            <a:pPr marL="342900" lvl="0" indent="-342900">
              <a:lnSpc>
                <a:spcPct val="125000"/>
              </a:lnSpc>
              <a:buFont typeface="Wingdings" panose="05000000000000000000" charset="0"/>
              <a:buChar char="Ø"/>
              <a:defRPr/>
            </a:pPr>
            <a:r>
              <a:rPr kumimoji="0"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 </a:t>
            </a:r>
            <a:r>
              <a:rPr lang="en-US" altLang="zh-CN" sz="2400" b="1" dirty="0">
                <a:solidFill>
                  <a:srgbClr val="002060"/>
                </a:solidFill>
                <a:latin typeface="微软雅黑" panose="020B0503020204020204" pitchFamily="34" charset="-122"/>
                <a:ea typeface="微软雅黑" panose="020B0503020204020204" pitchFamily="34" charset="-122"/>
                <a:sym typeface="+mn-ea"/>
              </a:rPr>
              <a:t>A case of installing a bulbous bow on a bulk carrier</a:t>
            </a:r>
            <a:endPar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pic>
        <p:nvPicPr>
          <p:cNvPr id="14" name="Picture 13" descr="比较"/>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2638" y="1489132"/>
            <a:ext cx="5528915"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5" descr="whutfr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0557" y="1322040"/>
            <a:ext cx="3625606" cy="242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1" descr="IMG_16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980" y="3674539"/>
            <a:ext cx="5400600" cy="2639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6" descr="GMUfre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09279" y="4001023"/>
            <a:ext cx="3960440" cy="2572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16560" y="790823"/>
            <a:ext cx="10188815" cy="406971"/>
          </a:xfrm>
          <a:prstGeom prst="rect">
            <a:avLst/>
          </a:prstGeom>
          <a:noFill/>
        </p:spPr>
        <p:txBody>
          <a:bodyPr wrap="none" rtlCol="0" anchor="t">
            <a:spAutoFit/>
          </a:bodyPr>
          <a:lstStyle>
            <a:defPPr>
              <a:defRPr lang="en-US"/>
            </a:defPPr>
            <a:lvl1pPr marL="342900" lvl="0" indent="-342900">
              <a:lnSpc>
                <a:spcPct val="125000"/>
              </a:lnSpc>
              <a:buFont typeface="Wingdings" panose="05000000000000000000" charset="0"/>
              <a:buChar char="Ø"/>
              <a:defRPr kumimoji="0" sz="2400" b="1" i="0" u="none" strike="noStrike" cap="none" spc="0" normalizeH="0" baseline="0">
                <a:ln>
                  <a:noFill/>
                </a:ln>
                <a:solidFill>
                  <a:srgbClr val="002060"/>
                </a:solidFill>
                <a:effectLst/>
                <a:uLnTx/>
                <a:uFillTx/>
                <a:latin typeface="微软雅黑" panose="020B0503020204020204" pitchFamily="34" charset="-122"/>
                <a:ea typeface="微软雅黑" panose="020B0503020204020204" pitchFamily="34" charset="-122"/>
              </a:defRPr>
            </a:lvl1pPr>
          </a:lstStyle>
          <a:p>
            <a:r>
              <a:rPr lang="en-US" altLang="zh-CN" sz="1800" dirty="0">
                <a:sym typeface="+mn-ea"/>
              </a:rPr>
              <a:t>Optimization Design of the Marine Propeller Pre-Swirl Duct for a Container Ship</a:t>
            </a:r>
            <a:endParaRPr lang="zh-CN" altLang="en-US" sz="1800" dirty="0">
              <a:sym typeface="+mn-ea"/>
            </a:endParaRPr>
          </a:p>
        </p:txBody>
      </p:sp>
      <p:pic>
        <p:nvPicPr>
          <p:cNvPr id="7" name="图片 6" descr="矩形&#10;&#10;AI 生成的内容可能不正确。"/>
          <p:cNvPicPr>
            <a:picLocks noChangeAspect="1"/>
          </p:cNvPicPr>
          <p:nvPr/>
        </p:nvPicPr>
        <p:blipFill>
          <a:blip r:embed="rId1"/>
          <a:stretch>
            <a:fillRect/>
          </a:stretch>
        </p:blipFill>
        <p:spPr>
          <a:xfrm>
            <a:off x="142875" y="1423035"/>
            <a:ext cx="4725670" cy="949325"/>
          </a:xfrm>
          <a:prstGeom prst="rect">
            <a:avLst/>
          </a:prstGeom>
        </p:spPr>
      </p:pic>
      <p:sp>
        <p:nvSpPr>
          <p:cNvPr id="11" name="文本框 10"/>
          <p:cNvSpPr txBox="1"/>
          <p:nvPr/>
        </p:nvSpPr>
        <p:spPr>
          <a:xfrm>
            <a:off x="6607320" y="5688013"/>
            <a:ext cx="5231849" cy="753220"/>
          </a:xfrm>
          <a:prstGeom prst="rect">
            <a:avLst/>
          </a:prstGeom>
          <a:noFill/>
        </p:spPr>
        <p:txBody>
          <a:bodyPr wrap="square" rtlCol="0" anchor="t">
            <a:spAutoFit/>
          </a:bodyPr>
          <a:lstStyle/>
          <a:p>
            <a:pPr lvl="0" algn="ctr">
              <a:lnSpc>
                <a:spcPct val="125000"/>
              </a:lnSpc>
              <a:defRPr/>
            </a:pPr>
            <a:r>
              <a:rPr lang="en-US" altLang="zh-CN" b="1" dirty="0">
                <a:solidFill>
                  <a:srgbClr val="002060"/>
                </a:solidFill>
                <a:latin typeface="微软雅黑" panose="020B0503020204020204" pitchFamily="34" charset="-122"/>
                <a:ea typeface="微软雅黑" panose="020B0503020204020204" pitchFamily="34" charset="-122"/>
                <a:sym typeface="+mn-ea"/>
              </a:rPr>
              <a:t>Optimization design technology route based on approximate models</a:t>
            </a:r>
            <a:endParaRPr kumimoji="0" lang="zh-CN" altLang="en-US"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3" name="组合 12"/>
          <p:cNvGrpSpPr/>
          <p:nvPr/>
        </p:nvGrpSpPr>
        <p:grpSpPr>
          <a:xfrm>
            <a:off x="5248952" y="1271543"/>
            <a:ext cx="6787674" cy="2224642"/>
            <a:chOff x="982" y="2901"/>
            <a:chExt cx="17006" cy="6058"/>
          </a:xfrm>
        </p:grpSpPr>
        <p:grpSp>
          <p:nvGrpSpPr>
            <p:cNvPr id="12" name="组合 11"/>
            <p:cNvGrpSpPr/>
            <p:nvPr/>
          </p:nvGrpSpPr>
          <p:grpSpPr>
            <a:xfrm>
              <a:off x="982" y="2901"/>
              <a:ext cx="17006" cy="6058"/>
              <a:chOff x="533096" y="2148216"/>
              <a:chExt cx="8139903" cy="3761725"/>
            </a:xfrm>
          </p:grpSpPr>
          <p:sp>
            <p:nvSpPr>
              <p:cNvPr id="14" name="Rectangle 9"/>
              <p:cNvSpPr>
                <a:spLocks noChangeArrowheads="1"/>
              </p:cNvSpPr>
              <p:nvPr/>
            </p:nvSpPr>
            <p:spPr bwMode="auto">
              <a:xfrm>
                <a:off x="3431061" y="2148216"/>
                <a:ext cx="1820350" cy="84865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defRPr/>
                </a:pPr>
                <a:r>
                  <a:rPr lang="en-US" altLang="zh-CN" sz="1100" dirty="0">
                    <a:solidFill>
                      <a:prstClr val="black"/>
                    </a:solidFill>
                    <a:latin typeface="Times New Roman" panose="02020603050405020304" pitchFamily="18" charset="0"/>
                    <a:cs typeface="Times New Roman" panose="02020603050405020304" pitchFamily="18" charset="0"/>
                  </a:rPr>
                  <a:t>Intelligent </a:t>
                </a:r>
                <a:endParaRPr lang="en-US" altLang="zh-CN" sz="1100" dirty="0">
                  <a:solidFill>
                    <a:prstClr val="black"/>
                  </a:solidFill>
                  <a:latin typeface="Times New Roman" panose="02020603050405020304" pitchFamily="18" charset="0"/>
                  <a:cs typeface="Times New Roman" panose="02020603050405020304" pitchFamily="18" charset="0"/>
                </a:endParaRPr>
              </a:p>
              <a:p>
                <a:pPr lvl="0" algn="ctr">
                  <a:defRPr/>
                </a:pPr>
                <a:r>
                  <a:rPr lang="en-US" altLang="zh-CN" sz="1100" dirty="0">
                    <a:solidFill>
                      <a:prstClr val="black"/>
                    </a:solidFill>
                    <a:latin typeface="Times New Roman" panose="02020603050405020304" pitchFamily="18" charset="0"/>
                    <a:cs typeface="Times New Roman" panose="02020603050405020304" pitchFamily="18" charset="0"/>
                  </a:rPr>
                  <a:t>Optimization Algorithm</a:t>
                </a:r>
                <a:endParaRPr lang="en-US" altLang="zh-CN" sz="1100" dirty="0">
                  <a:solidFill>
                    <a:prstClr val="black"/>
                  </a:solidFill>
                  <a:latin typeface="Times New Roman" panose="02020603050405020304" pitchFamily="18" charset="0"/>
                  <a:cs typeface="Times New Roman" panose="02020603050405020304" pitchFamily="18" charset="0"/>
                </a:endParaRPr>
              </a:p>
            </p:txBody>
          </p:sp>
          <p:sp>
            <p:nvSpPr>
              <p:cNvPr id="20" name="Line 10"/>
              <p:cNvSpPr>
                <a:spLocks noChangeShapeType="1"/>
              </p:cNvSpPr>
              <p:nvPr/>
            </p:nvSpPr>
            <p:spPr bwMode="auto">
              <a:xfrm flipH="1">
                <a:off x="1838970" y="2733949"/>
                <a:ext cx="1393825" cy="135731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1" name="Line 11"/>
              <p:cNvSpPr>
                <a:spLocks noChangeShapeType="1"/>
              </p:cNvSpPr>
              <p:nvPr/>
            </p:nvSpPr>
            <p:spPr bwMode="auto">
              <a:xfrm flipV="1">
                <a:off x="2006558" y="2851096"/>
                <a:ext cx="1311275" cy="130492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5" name="Rectangle 13"/>
              <p:cNvSpPr>
                <a:spLocks noChangeArrowheads="1"/>
              </p:cNvSpPr>
              <p:nvPr/>
            </p:nvSpPr>
            <p:spPr bwMode="auto">
              <a:xfrm>
                <a:off x="3682444" y="4139707"/>
                <a:ext cx="1393441" cy="93044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defRPr/>
                </a:pPr>
                <a:r>
                  <a:rPr lang="en-US" altLang="zh-CN" sz="16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Data </a:t>
                </a:r>
                <a:endParaRPr lang="en-US" altLang="zh-CN" sz="16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a:p>
                <a:pPr lvl="0" algn="ctr">
                  <a:defRPr/>
                </a:pPr>
                <a:r>
                  <a:rPr lang="en-US" altLang="zh-CN" sz="16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transmission</a:t>
                </a: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Line 14"/>
              <p:cNvSpPr>
                <a:spLocks noChangeShapeType="1"/>
              </p:cNvSpPr>
              <p:nvPr/>
            </p:nvSpPr>
            <p:spPr bwMode="auto">
              <a:xfrm flipH="1" flipV="1">
                <a:off x="5299075" y="2619375"/>
                <a:ext cx="1566863" cy="130175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4" name="Line 15"/>
              <p:cNvSpPr>
                <a:spLocks noChangeShapeType="1"/>
              </p:cNvSpPr>
              <p:nvPr/>
            </p:nvSpPr>
            <p:spPr bwMode="auto">
              <a:xfrm flipV="1">
                <a:off x="5190741" y="4591048"/>
                <a:ext cx="484573" cy="1724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5" name="AutoShape 16"/>
              <p:cNvSpPr>
                <a:spLocks noChangeArrowheads="1"/>
              </p:cNvSpPr>
              <p:nvPr/>
            </p:nvSpPr>
            <p:spPr bwMode="auto">
              <a:xfrm>
                <a:off x="4002088" y="3371850"/>
                <a:ext cx="1068387" cy="503238"/>
              </a:xfrm>
              <a:prstGeom prst="curvedUpArrow">
                <a:avLst>
                  <a:gd name="adj1" fmla="val 42461"/>
                  <a:gd name="adj2" fmla="val 84921"/>
                  <a:gd name="adj3" fmla="val 33292"/>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Text Box 17"/>
              <p:cNvSpPr txBox="1">
                <a:spLocks noChangeArrowheads="1"/>
              </p:cNvSpPr>
              <p:nvPr/>
            </p:nvSpPr>
            <p:spPr bwMode="auto">
              <a:xfrm rot="1865864">
                <a:off x="5198705" y="3005818"/>
                <a:ext cx="2219325" cy="46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dirty="0">
                    <a:solidFill>
                      <a:prstClr val="black"/>
                    </a:solidFill>
                    <a:latin typeface="Times New Roman" panose="02020603050405020304" pitchFamily="18" charset="0"/>
                    <a:cs typeface="Times New Roman" panose="02020603050405020304" pitchFamily="18" charset="0"/>
                  </a:rPr>
                  <a:t>Objective function</a:t>
                </a:r>
                <a:endPar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 name="Text Box 18"/>
              <p:cNvSpPr txBox="1">
                <a:spLocks noChangeArrowheads="1"/>
              </p:cNvSpPr>
              <p:nvPr/>
            </p:nvSpPr>
            <p:spPr bwMode="auto">
              <a:xfrm rot="19263205">
                <a:off x="1639646" y="2854959"/>
                <a:ext cx="1644625" cy="468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fontAlgn="t">
                  <a:defRPr/>
                </a:pPr>
                <a:r>
                  <a:rPr lang="en-US" altLang="zh-CN" dirty="0">
                    <a:solidFill>
                      <a:prstClr val="black"/>
                    </a:solidFill>
                    <a:latin typeface="Times New Roman" panose="02020603050405020304" pitchFamily="18" charset="0"/>
                    <a:cs typeface="Times New Roman" panose="02020603050405020304" pitchFamily="18" charset="0"/>
                  </a:rPr>
                  <a:t>Design variables</a:t>
                </a:r>
                <a:endPar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Text Box 19"/>
              <p:cNvSpPr txBox="1">
                <a:spLocks noChangeArrowheads="1"/>
              </p:cNvSpPr>
              <p:nvPr/>
            </p:nvSpPr>
            <p:spPr bwMode="auto">
              <a:xfrm rot="19341259">
                <a:off x="2260389" y="3117854"/>
                <a:ext cx="1597535" cy="78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fontAlgn="t">
                  <a:spcBef>
                    <a:spcPct val="50000"/>
                  </a:spcBef>
                  <a:defRPr/>
                </a:pPr>
                <a:r>
                  <a:rPr lang="en-US" altLang="zh-CN" dirty="0">
                    <a:solidFill>
                      <a:prstClr val="black"/>
                    </a:solidFill>
                    <a:latin typeface="Times New Roman" panose="02020603050405020304" pitchFamily="18" charset="0"/>
                    <a:cs typeface="Times New Roman" panose="02020603050405020304" pitchFamily="18" charset="0"/>
                  </a:rPr>
                  <a:t>Constraint conditions</a:t>
                </a:r>
                <a:endPar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 name="Text Box 20"/>
              <p:cNvSpPr txBox="1">
                <a:spLocks noChangeArrowheads="1"/>
              </p:cNvSpPr>
              <p:nvPr/>
            </p:nvSpPr>
            <p:spPr bwMode="auto">
              <a:xfrm>
                <a:off x="533096" y="5389546"/>
                <a:ext cx="2311008" cy="520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1400" dirty="0">
                    <a:solidFill>
                      <a:prstClr val="black"/>
                    </a:solidFill>
                    <a:latin typeface="Times New Roman" panose="02020603050405020304" pitchFamily="18" charset="0"/>
                    <a:cs typeface="Times New Roman" panose="02020603050405020304" pitchFamily="18" charset="0"/>
                  </a:rPr>
                  <a:t>Intelligent CAD</a:t>
                </a:r>
                <a:endParaRPr lang="en-US" altLang="zh-CN" sz="1400" dirty="0">
                  <a:solidFill>
                    <a:prstClr val="black"/>
                  </a:solidFill>
                  <a:latin typeface="Times New Roman" panose="02020603050405020304" pitchFamily="18" charset="0"/>
                  <a:cs typeface="Times New Roman" panose="02020603050405020304" pitchFamily="18" charset="0"/>
                </a:endParaRPr>
              </a:p>
            </p:txBody>
          </p:sp>
          <p:sp>
            <p:nvSpPr>
              <p:cNvPr id="30" name="Text Box 21"/>
              <p:cNvSpPr txBox="1">
                <a:spLocks noChangeArrowheads="1"/>
              </p:cNvSpPr>
              <p:nvPr/>
            </p:nvSpPr>
            <p:spPr bwMode="auto">
              <a:xfrm>
                <a:off x="5465208" y="5144582"/>
                <a:ext cx="3207791" cy="57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1600" dirty="0">
                    <a:solidFill>
                      <a:prstClr val="black"/>
                    </a:solidFill>
                    <a:latin typeface="Times New Roman" panose="02020603050405020304" pitchFamily="18" charset="0"/>
                    <a:cs typeface="Times New Roman" panose="02020603050405020304" pitchFamily="18" charset="0"/>
                  </a:rPr>
                  <a:t>Performance Evaluation</a:t>
                </a:r>
                <a:endParaRPr lang="en-US" altLang="zh-CN" sz="1600" dirty="0">
                  <a:solidFill>
                    <a:prstClr val="black"/>
                  </a:solidFill>
                  <a:latin typeface="Times New Roman" panose="02020603050405020304" pitchFamily="18" charset="0"/>
                  <a:cs typeface="Times New Roman" panose="02020603050405020304" pitchFamily="18" charset="0"/>
                </a:endParaRPr>
              </a:p>
            </p:txBody>
          </p:sp>
          <p:pic>
            <p:nvPicPr>
              <p:cNvPr id="18" name="Picture 23" descr="流体动画（新）"/>
              <p:cNvPicPr>
                <a:picLocks noChangeAspect="1" noChangeArrowheads="1"/>
              </p:cNvPicPr>
              <p:nvPr/>
            </p:nvPicPr>
            <p:blipFill>
              <a:blip r:embed="rId2"/>
              <a:srcRect/>
              <a:stretch>
                <a:fillRect/>
              </a:stretch>
            </p:blipFill>
            <p:spPr bwMode="auto">
              <a:xfrm>
                <a:off x="5724525" y="3933825"/>
                <a:ext cx="274637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Line 15"/>
              <p:cNvSpPr>
                <a:spLocks noChangeShapeType="1"/>
              </p:cNvSpPr>
              <p:nvPr/>
            </p:nvSpPr>
            <p:spPr bwMode="auto">
              <a:xfrm>
                <a:off x="2255273" y="4630928"/>
                <a:ext cx="1373242" cy="372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pic>
          <p:nvPicPr>
            <p:cNvPr id="19" name="图片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7" y="5400"/>
              <a:ext cx="3352" cy="2770"/>
            </a:xfrm>
            <a:prstGeom prst="rect">
              <a:avLst/>
            </a:prstGeom>
          </p:spPr>
        </p:pic>
      </p:grpSp>
      <p:pic>
        <p:nvPicPr>
          <p:cNvPr id="4" name="图片 3"/>
          <p:cNvPicPr/>
          <p:nvPr/>
        </p:nvPicPr>
        <p:blipFill>
          <a:blip r:embed="rId4">
            <a:extLst>
              <a:ext uri="{28A0092B-C50C-407E-A947-70E740481C1C}">
                <a14:useLocalDpi xmlns:a14="http://schemas.microsoft.com/office/drawing/2010/main" val="0"/>
              </a:ext>
            </a:extLst>
          </a:blip>
          <a:srcRect r="29271"/>
          <a:stretch>
            <a:fillRect/>
          </a:stretch>
        </p:blipFill>
        <p:spPr>
          <a:xfrm>
            <a:off x="9451440" y="3661469"/>
            <a:ext cx="2495599" cy="1225613"/>
          </a:xfrm>
          <a:prstGeom prst="rect">
            <a:avLst/>
          </a:prstGeom>
        </p:spPr>
      </p:pic>
      <p:sp>
        <p:nvSpPr>
          <p:cNvPr id="5" name="Text Box 21"/>
          <p:cNvSpPr txBox="1">
            <a:spLocks noChangeArrowheads="1"/>
          </p:cNvSpPr>
          <p:nvPr/>
        </p:nvSpPr>
        <p:spPr bwMode="auto">
          <a:xfrm>
            <a:off x="7993607" y="4040150"/>
            <a:ext cx="1800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b="1">
                <a:solidFill>
                  <a:schemeClr val="tx1"/>
                </a:solidFill>
                <a:latin typeface="Arial" panose="020B0604020202020204" pitchFamily="34" charset="0"/>
                <a:ea typeface="微软雅黑" panose="020B0503020204020204" pitchFamily="34" charset="-122"/>
              </a:defRPr>
            </a:lvl1pPr>
            <a:lvl2pPr marL="742950" indent="-285750">
              <a:defRPr sz="1200" b="1">
                <a:solidFill>
                  <a:schemeClr val="tx1"/>
                </a:solidFill>
                <a:latin typeface="Arial" panose="020B0604020202020204" pitchFamily="34" charset="0"/>
                <a:ea typeface="微软雅黑" panose="020B0503020204020204" pitchFamily="34" charset="-122"/>
              </a:defRPr>
            </a:lvl2pPr>
            <a:lvl3pPr marL="1143000" indent="-228600">
              <a:defRPr sz="1200" b="1">
                <a:solidFill>
                  <a:schemeClr val="tx1"/>
                </a:solidFill>
                <a:latin typeface="Arial" panose="020B0604020202020204" pitchFamily="34" charset="0"/>
                <a:ea typeface="微软雅黑" panose="020B0503020204020204" pitchFamily="34" charset="-122"/>
              </a:defRPr>
            </a:lvl3pPr>
            <a:lvl4pPr marL="1600200" indent="-228600">
              <a:defRPr sz="1200" b="1">
                <a:solidFill>
                  <a:schemeClr val="tx1"/>
                </a:solidFill>
                <a:latin typeface="Arial" panose="020B0604020202020204" pitchFamily="34" charset="0"/>
                <a:ea typeface="微软雅黑" panose="020B0503020204020204" pitchFamily="34" charset="-122"/>
              </a:defRPr>
            </a:lvl4pPr>
            <a:lvl5pPr marL="2057400" indent="-228600">
              <a:defRPr sz="1200" b="1">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1200" b="1">
                <a:solidFill>
                  <a:schemeClr val="tx1"/>
                </a:solidFill>
                <a:latin typeface="Arial" panose="020B0604020202020204" pitchFamily="34" charset="0"/>
                <a:ea typeface="微软雅黑" panose="020B0503020204020204" pitchFamily="34" charset="-122"/>
              </a:defRPr>
            </a:lvl9pPr>
          </a:lstStyle>
          <a:p>
            <a:pPr lvl="0" algn="ctr">
              <a:spcBef>
                <a:spcPct val="50000"/>
              </a:spcBef>
              <a:defRPr/>
            </a:pPr>
            <a:r>
              <a:rPr lang="en-US" altLang="zh-CN" sz="2000" dirty="0">
                <a:solidFill>
                  <a:prstClr val="black"/>
                </a:solidFill>
                <a:latin typeface="Times New Roman" panose="02020603050405020304" pitchFamily="18" charset="0"/>
                <a:cs typeface="Times New Roman" panose="02020603050405020304" pitchFamily="18" charset="0"/>
              </a:rPr>
              <a:t>Approximate model</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 name="矩形 7"/>
          <p:cNvSpPr/>
          <p:nvPr/>
        </p:nvSpPr>
        <p:spPr>
          <a:xfrm>
            <a:off x="8155296" y="3589461"/>
            <a:ext cx="3845360" cy="1440160"/>
          </a:xfrm>
          <a:prstGeom prst="rect">
            <a:avLst/>
          </a:prstGeom>
          <a:noFill/>
          <a:ln w="28575">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9" name="Line 15"/>
          <p:cNvSpPr>
            <a:spLocks noChangeShapeType="1"/>
          </p:cNvSpPr>
          <p:nvPr/>
        </p:nvSpPr>
        <p:spPr bwMode="auto">
          <a:xfrm rot="16380000" flipV="1">
            <a:off x="10639632" y="3405172"/>
            <a:ext cx="215904" cy="11315"/>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31" name="文本框 30"/>
          <p:cNvSpPr txBox="1"/>
          <p:nvPr/>
        </p:nvSpPr>
        <p:spPr>
          <a:xfrm>
            <a:off x="1127760" y="44450"/>
            <a:ext cx="9854565" cy="583565"/>
          </a:xfrm>
          <a:prstGeom prst="rect">
            <a:avLst/>
          </a:prstGeom>
          <a:noFill/>
        </p:spPr>
        <p:txBody>
          <a:bodyPr wrap="square" rtlCol="0" anchor="t">
            <a:noAutofit/>
          </a:bodyPr>
          <a:lstStyle/>
          <a:p>
            <a:pPr marL="0" marR="0" lvl="1" indent="0" algn="ctr" defTabSz="914400" rtl="0" eaLnBrk="1" fontAlgn="base" latinLnBrk="0" hangingPunct="1">
              <a:lnSpc>
                <a:spcPct val="100000"/>
              </a:lnSpc>
              <a:spcBef>
                <a:spcPct val="0"/>
              </a:spcBef>
              <a:spcAft>
                <a:spcPts val="600"/>
              </a:spcAft>
              <a:buClr>
                <a:srgbClr val="FF0000"/>
              </a:buClr>
              <a:buSzTx/>
              <a:buFont typeface="Wingdings" panose="05000000000000000000" charset="0"/>
              <a:buNone/>
              <a:defRPr/>
            </a:pPr>
            <a:endParaRPr kumimoji="0" lang="zh-CN" altLang="en-US" sz="32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17" name="文本框 16"/>
          <p:cNvSpPr txBox="1"/>
          <p:nvPr/>
        </p:nvSpPr>
        <p:spPr>
          <a:xfrm>
            <a:off x="695400" y="5986145"/>
            <a:ext cx="5024760" cy="369332"/>
          </a:xfrm>
          <a:prstGeom prst="rect">
            <a:avLst/>
          </a:prstGeom>
          <a:noFill/>
        </p:spPr>
        <p:txBody>
          <a:bodyPr wrap="square" rtlCol="0">
            <a:spAutoFit/>
          </a:bodyPr>
          <a:lstStyle/>
          <a:p>
            <a:pPr lvl="0">
              <a:defRPr/>
            </a:pP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The energy-saving effect reached 3.59%.</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8" name="图片 27"/>
          <p:cNvPicPr>
            <a:picLocks noChangeAspect="1"/>
          </p:cNvPicPr>
          <p:nvPr/>
        </p:nvPicPr>
        <p:blipFill>
          <a:blip r:embed="rId5"/>
          <a:stretch>
            <a:fillRect/>
          </a:stretch>
        </p:blipFill>
        <p:spPr>
          <a:xfrm>
            <a:off x="5069840" y="3567430"/>
            <a:ext cx="1807210" cy="1665605"/>
          </a:xfrm>
          <a:prstGeom prst="rect">
            <a:avLst/>
          </a:prstGeom>
        </p:spPr>
      </p:pic>
      <p:pic>
        <p:nvPicPr>
          <p:cNvPr id="33" name="图片 32"/>
          <p:cNvPicPr>
            <a:picLocks noChangeAspect="1"/>
          </p:cNvPicPr>
          <p:nvPr/>
        </p:nvPicPr>
        <p:blipFill>
          <a:blip r:embed="rId6"/>
          <a:stretch>
            <a:fillRect/>
          </a:stretch>
        </p:blipFill>
        <p:spPr>
          <a:xfrm>
            <a:off x="176530" y="3002915"/>
            <a:ext cx="5072380" cy="2418715"/>
          </a:xfrm>
          <a:prstGeom prst="rect">
            <a:avLst/>
          </a:prstGeom>
        </p:spPr>
      </p:pic>
      <p:sp>
        <p:nvSpPr>
          <p:cNvPr id="34" name="矩形 33"/>
          <p:cNvSpPr/>
          <p:nvPr/>
        </p:nvSpPr>
        <p:spPr>
          <a:xfrm>
            <a:off x="407368" y="140950"/>
            <a:ext cx="3457999" cy="461665"/>
          </a:xfrm>
          <a:prstGeom prst="rect">
            <a:avLst/>
          </a:prstGeom>
        </p:spPr>
        <p:txBody>
          <a:bodyPr wrap="none">
            <a:spAutoFit/>
          </a:bodyPr>
          <a:lstStyle/>
          <a:p>
            <a:pPr marL="342900" marR="0" lvl="0" indent="-342900" algn="ctr" defTabSz="457200" rtl="0" eaLnBrk="0" fontAlgn="auto" latinLnBrk="0" hangingPunct="0">
              <a:lnSpc>
                <a:spcPct val="100000"/>
              </a:lnSpc>
              <a:spcBef>
                <a:spcPts val="0"/>
              </a:spcBef>
              <a:spcAft>
                <a:spcPts val="0"/>
              </a:spcAft>
              <a:buClrTx/>
              <a:buSzTx/>
              <a:buFont typeface="Wingdings" panose="05000000000000000000" charset="0"/>
              <a:buChar char="Ø"/>
              <a:defRPr/>
            </a:pPr>
            <a:r>
              <a:rPr kumimoji="0" lang="en-US" altLang="zh-CN"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Optimization Case</a:t>
            </a:r>
            <a:endPar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endParaRPr lang="en-US" noProof="1"/>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GeneHull Intelligent Design Platform</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2316761" y="33111"/>
            <a:ext cx="7558479" cy="646331"/>
          </a:xfrm>
          <a:prstGeom prst="rect">
            <a:avLst/>
          </a:prstGeom>
        </p:spPr>
        <p:txBody>
          <a:bodyPr wrap="none">
            <a:spAutoFit/>
          </a:bodyPr>
          <a:lstStyle/>
          <a:p>
            <a:pPr marL="0" marR="0" lvl="0" indent="0" algn="ctr" defTabSz="457200" rtl="0" eaLnBrk="0" fontAlgn="auto" latinLnBrk="0" hangingPunct="0">
              <a:lnSpc>
                <a:spcPct val="100000"/>
              </a:lnSpc>
              <a:spcBef>
                <a:spcPts val="0"/>
              </a:spcBef>
              <a:spcAft>
                <a:spcPts val="0"/>
              </a:spcAft>
              <a:buClrTx/>
              <a:buSzTx/>
              <a:buFontTx/>
              <a:buNone/>
              <a:defRPr/>
            </a:pPr>
            <a:r>
              <a:rPr kumimoji="0" lang="en-US" altLang="zh-CN" sz="3600" b="1" i="0" u="none" strike="noStrike" kern="1200" cap="none" spc="0" normalizeH="0" baseline="0" noProof="0" dirty="0" err="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GeneHull</a:t>
            </a:r>
            <a:r>
              <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 Intelligent Design Platform</a:t>
            </a:r>
            <a:endParaRPr kumimoji="0" lang="en-US" altLang="zh-CN" sz="36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32" name="平行四边形 31"/>
          <p:cNvSpPr/>
          <p:nvPr/>
        </p:nvSpPr>
        <p:spPr>
          <a:xfrm>
            <a:off x="191135" y="683895"/>
            <a:ext cx="7201009" cy="47688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微软雅黑" panose="020B0503020204020204" pitchFamily="34" charset="-122"/>
              </a:rPr>
              <a:t>The main problems existing in ship CAD software</a:t>
            </a:r>
            <a:endParaRPr lang="zh-CN" altLang="en-US" sz="2000" b="1" dirty="0">
              <a:solidFill>
                <a:schemeClr val="tx1"/>
              </a:solidFill>
              <a:latin typeface="Times New Roman" panose="02020603050405020304" pitchFamily="18" charset="0"/>
              <a:ea typeface="微软雅黑" panose="020B0503020204020204" pitchFamily="34" charset="-122"/>
            </a:endParaRPr>
          </a:p>
        </p:txBody>
      </p:sp>
      <p:sp>
        <p:nvSpPr>
          <p:cNvPr id="14" name="文本框 13"/>
          <p:cNvSpPr txBox="1"/>
          <p:nvPr/>
        </p:nvSpPr>
        <p:spPr>
          <a:xfrm>
            <a:off x="371475" y="1340485"/>
            <a:ext cx="11381105" cy="1883657"/>
          </a:xfrm>
          <a:prstGeom prst="rect">
            <a:avLst/>
          </a:prstGeom>
          <a:noFill/>
          <a:ln w="28575">
            <a:solidFill>
              <a:schemeClr val="accent1"/>
            </a:solidFill>
            <a:prstDash val="dash"/>
          </a:ln>
        </p:spPr>
        <p:txBody>
          <a:bodyPr wrap="square" rtlCol="0">
            <a:spAutoFit/>
          </a:bodyPr>
          <a:lstStyle/>
          <a:p>
            <a:pPr marR="0" lvl="0" algn="l" defTabSz="457200" rtl="0" eaLnBrk="1" fontAlgn="auto" latinLnBrk="0" hangingPunct="1">
              <a:lnSpc>
                <a:spcPct val="150000"/>
              </a:lnSpc>
              <a:spcBef>
                <a:spcPts val="0"/>
              </a:spcBef>
              <a:spcAft>
                <a:spcPts val="0"/>
              </a:spcAft>
              <a:buClrTx/>
              <a:buSzTx/>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(1)The lack of an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autonomous geometric core</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makes it difficult to achieve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parametric geometric modeling</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for complex ship shapes;</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a:p>
            <a:pPr marR="0" lvl="0" algn="l" defTabSz="457200" rtl="0" eaLnBrk="1" fontAlgn="auto" latinLnBrk="0" hangingPunct="1">
              <a:lnSpc>
                <a:spcPct val="150000"/>
              </a:lnSpc>
              <a:spcBef>
                <a:spcPts val="0"/>
              </a:spcBef>
              <a:spcAft>
                <a:spcPts val="0"/>
              </a:spcAft>
              <a:buClrTx/>
              <a:buSzTx/>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(2) The connection between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design and simulation</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 data is not smooth;</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a:p>
            <a:pPr marR="0" lvl="0" algn="l" defTabSz="457200" rtl="0" eaLnBrk="1" fontAlgn="auto" latinLnBrk="0" hangingPunct="1">
              <a:lnSpc>
                <a:spcPct val="150000"/>
              </a:lnSpc>
              <a:spcBef>
                <a:spcPts val="0"/>
              </a:spcBef>
              <a:spcAft>
                <a:spcPts val="0"/>
              </a:spcAft>
              <a:buClrTx/>
              <a:buSzTx/>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(3) The </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intelligent design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rPr>
              <a:t>capability is weak.</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endParaRPr>
          </a:p>
        </p:txBody>
      </p:sp>
      <p:pic>
        <p:nvPicPr>
          <p:cNvPr id="5" name="图片 4"/>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9264352" y="3459384"/>
            <a:ext cx="2408753" cy="2179416"/>
          </a:xfrm>
          <a:prstGeom prst="rect">
            <a:avLst/>
          </a:prstGeom>
        </p:spPr>
      </p:pic>
      <p:sp>
        <p:nvSpPr>
          <p:cNvPr id="22" name="文本框 21"/>
          <p:cNvSpPr txBox="1"/>
          <p:nvPr>
            <p:custDataLst>
              <p:tags r:id="rId3"/>
            </p:custDataLst>
          </p:nvPr>
        </p:nvSpPr>
        <p:spPr>
          <a:xfrm>
            <a:off x="3719736" y="5725975"/>
            <a:ext cx="4896383" cy="1014213"/>
          </a:xfrm>
          <a:prstGeom prst="rect">
            <a:avLst/>
          </a:prstGeom>
          <a:noFill/>
        </p:spPr>
        <p:txBody>
          <a:bodyPr wrap="square" rtlCol="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Based on the unified model, achieve design simulation optimization and complete the entire link connection.</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endParaRPr>
          </a:p>
        </p:txBody>
      </p:sp>
      <p:pic>
        <p:nvPicPr>
          <p:cNvPr id="7" name="图片 6"/>
          <p:cNvPicPr>
            <a:picLocks noChangeAspect="1"/>
          </p:cNvPicPr>
          <p:nvPr/>
        </p:nvPicPr>
        <p:blipFill>
          <a:blip r:embed="rId4"/>
          <a:stretch>
            <a:fillRect/>
          </a:stretch>
        </p:blipFill>
        <p:spPr>
          <a:xfrm>
            <a:off x="479376" y="3456305"/>
            <a:ext cx="2316480" cy="2182495"/>
          </a:xfrm>
          <a:prstGeom prst="rect">
            <a:avLst/>
          </a:prstGeom>
        </p:spPr>
      </p:pic>
      <p:sp>
        <p:nvSpPr>
          <p:cNvPr id="9" name="文本框 8"/>
          <p:cNvSpPr txBox="1"/>
          <p:nvPr/>
        </p:nvSpPr>
        <p:spPr>
          <a:xfrm>
            <a:off x="146582" y="5724525"/>
            <a:ext cx="3233579"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Reconstruct the parametric modeling architecture based on the SGK core</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endParaRPr>
          </a:p>
        </p:txBody>
      </p:sp>
      <p:sp>
        <p:nvSpPr>
          <p:cNvPr id="23" name="文本框 22"/>
          <p:cNvSpPr txBox="1"/>
          <p:nvPr>
            <p:custDataLst>
              <p:tags r:id="rId5"/>
            </p:custDataLst>
          </p:nvPr>
        </p:nvSpPr>
        <p:spPr>
          <a:xfrm>
            <a:off x="9056882" y="5724525"/>
            <a:ext cx="2988536"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rPr>
              <a:t>Realizing intelligent reasoning of knowledge through large models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mn-cs"/>
            </a:endParaRPr>
          </a:p>
        </p:txBody>
      </p:sp>
      <p:pic>
        <p:nvPicPr>
          <p:cNvPr id="4" name="图片 3"/>
          <p:cNvPicPr>
            <a:picLocks noChangeAspect="1"/>
          </p:cNvPicPr>
          <p:nvPr/>
        </p:nvPicPr>
        <p:blipFill>
          <a:blip r:embed="rId6"/>
          <a:stretch>
            <a:fillRect/>
          </a:stretch>
        </p:blipFill>
        <p:spPr>
          <a:xfrm>
            <a:off x="3442541" y="3633859"/>
            <a:ext cx="5306918" cy="17490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2316761" y="33111"/>
            <a:ext cx="7558479" cy="646331"/>
          </a:xfrm>
          <a:prstGeom prst="rect">
            <a:avLst/>
          </a:prstGeom>
        </p:spPr>
        <p:txBody>
          <a:bodyPr wrap="none">
            <a:spAutoFit/>
          </a:bodyPr>
          <a:lstStyle/>
          <a:p>
            <a:pPr algn="ctr" eaLnBrk="0" hangingPunct="0"/>
            <a:r>
              <a:rPr lang="en-US" altLang="zh-CN" sz="3600" b="1"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GeneHull</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Intelligent Design Platform</a:t>
            </a:r>
            <a:endPar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平行四边形 31"/>
          <p:cNvSpPr/>
          <p:nvPr/>
        </p:nvSpPr>
        <p:spPr>
          <a:xfrm>
            <a:off x="191135" y="683895"/>
            <a:ext cx="6694170" cy="47688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1"/>
          <p:cNvSpPr txBox="1">
            <a:spLocks noChangeArrowheads="1"/>
          </p:cNvSpPr>
          <p:nvPr/>
        </p:nvSpPr>
        <p:spPr bwMode="auto">
          <a:xfrm>
            <a:off x="392430" y="687705"/>
            <a:ext cx="8655898" cy="530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buClr>
                <a:srgbClr val="FF0000"/>
              </a:buClr>
              <a:buFont typeface="Wingdings" panose="05000000000000000000" pitchFamily="2" charset="2"/>
              <a:buChar char="n"/>
            </a:pPr>
            <a:r>
              <a:rPr lang="en-US" altLang="zh-CN" sz="2400" b="1" dirty="0" err="1">
                <a:latin typeface="Times New Roman" panose="02020603050405020304" pitchFamily="18" charset="0"/>
                <a:ea typeface="微软雅黑" panose="020B0503020204020204" pitchFamily="34" charset="-122"/>
                <a:sym typeface="Times New Roman" panose="02020603050405020304" pitchFamily="18" charset="0"/>
              </a:rPr>
              <a:t>GeneHull</a:t>
            </a:r>
            <a:r>
              <a:rPr lang="en-US" altLang="zh-CN" sz="2400" b="1" dirty="0">
                <a:latin typeface="Times New Roman" panose="02020603050405020304" pitchFamily="18" charset="0"/>
                <a:ea typeface="微软雅黑" panose="020B0503020204020204" pitchFamily="34" charset="-122"/>
                <a:sym typeface="Times New Roman" panose="02020603050405020304" pitchFamily="18" charset="0"/>
              </a:rPr>
              <a:t> Ship Intelligent Design and Optimization Platform</a:t>
            </a:r>
            <a:endParaRPr lang="zh-CN" altLang="en-US" sz="2400" b="1" dirty="0">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9" name="图片 8" descr="打开KCSahp主界面"/>
          <p:cNvPicPr>
            <a:picLocks noChangeAspect="1"/>
          </p:cNvPicPr>
          <p:nvPr/>
        </p:nvPicPr>
        <p:blipFill>
          <a:blip r:embed="rId1"/>
          <a:stretch>
            <a:fillRect/>
          </a:stretch>
        </p:blipFill>
        <p:spPr>
          <a:xfrm>
            <a:off x="6120130" y="1303655"/>
            <a:ext cx="5873750" cy="3091180"/>
          </a:xfrm>
          <a:prstGeom prst="rect">
            <a:avLst/>
          </a:prstGeom>
        </p:spPr>
      </p:pic>
      <p:sp>
        <p:nvSpPr>
          <p:cNvPr id="11" name="文本框 10"/>
          <p:cNvSpPr txBox="1"/>
          <p:nvPr/>
        </p:nvSpPr>
        <p:spPr>
          <a:xfrm>
            <a:off x="337820" y="4554855"/>
            <a:ext cx="11598275" cy="2219325"/>
          </a:xfrm>
          <a:prstGeom prst="rect">
            <a:avLst/>
          </a:prstGeom>
          <a:noFill/>
          <a:ln w="19050">
            <a:solidFill>
              <a:srgbClr val="FF0000"/>
            </a:solidFill>
            <a:prstDash val="dash"/>
          </a:ln>
        </p:spPr>
        <p:txBody>
          <a:bodyPr wrap="square" rtlCol="0" anchor="t">
            <a:noAutofit/>
          </a:bodyPr>
          <a:lstStyle/>
          <a:p>
            <a:pPr indent="0" algn="just" fontAlgn="auto">
              <a:lnSpc>
                <a:spcPct val="150000"/>
              </a:lnSpc>
            </a:pPr>
            <a:r>
              <a:rPr lang="en-US" altLang="zh-CN" dirty="0">
                <a:latin typeface="Times New Roman" panose="02020603050405020304" pitchFamily="18" charset="0"/>
                <a:ea typeface="微软雅黑" panose="020B0503020204020204" pitchFamily="34" charset="-122"/>
                <a:cs typeface="微软雅黑" panose="020B0503020204020204" pitchFamily="34" charset="-122"/>
                <a:sym typeface="+mn-ea"/>
              </a:rPr>
              <a:t>Based on the SGK core of CSSC SEAGOSOFT, the intelligent design and optimization platform for ships - </a:t>
            </a:r>
            <a:r>
              <a:rPr lang="en-US" altLang="zh-CN" dirty="0" err="1">
                <a:latin typeface="Times New Roman" panose="02020603050405020304" pitchFamily="18" charset="0"/>
                <a:ea typeface="微软雅黑" panose="020B0503020204020204" pitchFamily="34" charset="-122"/>
                <a:cs typeface="微软雅黑" panose="020B0503020204020204" pitchFamily="34" charset="-122"/>
                <a:sym typeface="+mn-ea"/>
              </a:rPr>
              <a:t>GeneHull</a:t>
            </a:r>
            <a:r>
              <a:rPr lang="en-US" altLang="zh-CN" dirty="0">
                <a:latin typeface="Times New Roman" panose="02020603050405020304" pitchFamily="18" charset="0"/>
                <a:ea typeface="微软雅黑" panose="020B0503020204020204" pitchFamily="34" charset="-122"/>
                <a:cs typeface="微软雅黑" panose="020B0503020204020204" pitchFamily="34" charset="-122"/>
                <a:sym typeface="+mn-ea"/>
              </a:rPr>
              <a:t> was independently developed. This platform can achieve parametric geometric modeling of complex hulls, embed multiple types of ship performance knowledge bases, and integrate with mainstream CFD simulation software. It supports the "design - simulation - optimization" integrated process and can be applied to the intelligent design and simulation of various ship types, significantly improving the design quality and efficiency of ships.</a:t>
            </a:r>
            <a:endParaRPr lang="en-US" altLang="zh-CN" dirty="0">
              <a:latin typeface="Times New Roman" panose="02020603050405020304" pitchFamily="18" charset="0"/>
              <a:ea typeface="微软雅黑" panose="020B0503020204020204" pitchFamily="34" charset="-122"/>
              <a:cs typeface="微软雅黑" panose="020B0503020204020204" pitchFamily="34" charset="-122"/>
              <a:sym typeface="+mn-ea"/>
            </a:endParaRPr>
          </a:p>
        </p:txBody>
      </p:sp>
      <p:pic>
        <p:nvPicPr>
          <p:cNvPr id="12" name="图片 11"/>
          <p:cNvPicPr>
            <a:picLocks noChangeAspect="1"/>
          </p:cNvPicPr>
          <p:nvPr/>
        </p:nvPicPr>
        <p:blipFill>
          <a:blip r:embed="rId2"/>
          <a:stretch>
            <a:fillRect/>
          </a:stretch>
        </p:blipFill>
        <p:spPr>
          <a:xfrm>
            <a:off x="335280" y="1341120"/>
            <a:ext cx="5495925" cy="30911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66"/>
          <p:cNvSpPr txBox="1"/>
          <p:nvPr/>
        </p:nvSpPr>
        <p:spPr>
          <a:xfrm>
            <a:off x="182679" y="2904680"/>
            <a:ext cx="1632178"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Knowledge Base Layer</a:t>
            </a:r>
            <a:endParaRPr lang="zh-CN" altLang="en-US" sz="1200" dirty="0">
              <a:latin typeface="Times New Roman" panose="02020603050405020304" pitchFamily="18" charset="0"/>
              <a:cs typeface="Times New Roman" panose="02020603050405020304" pitchFamily="18" charset="0"/>
            </a:endParaRPr>
          </a:p>
        </p:txBody>
      </p:sp>
      <p:sp>
        <p:nvSpPr>
          <p:cNvPr id="66" name="文本框 65"/>
          <p:cNvSpPr txBox="1"/>
          <p:nvPr/>
        </p:nvSpPr>
        <p:spPr>
          <a:xfrm>
            <a:off x="173355" y="2062273"/>
            <a:ext cx="1167307"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Inference Layer</a:t>
            </a:r>
            <a:endParaRPr lang="zh-CN" altLang="en-US" sz="1200" dirty="0">
              <a:latin typeface="Times New Roman" panose="02020603050405020304" pitchFamily="18" charset="0"/>
              <a:cs typeface="Times New Roman" panose="02020603050405020304" pitchFamily="18" charset="0"/>
            </a:endParaRPr>
          </a:p>
        </p:txBody>
      </p:sp>
      <p:sp>
        <p:nvSpPr>
          <p:cNvPr id="65" name="文本框 64"/>
          <p:cNvSpPr txBox="1"/>
          <p:nvPr/>
        </p:nvSpPr>
        <p:spPr>
          <a:xfrm>
            <a:off x="5557725" y="1220544"/>
            <a:ext cx="907621" cy="276999"/>
          </a:xfrm>
          <a:prstGeom prst="rect">
            <a:avLst/>
          </a:prstGeom>
          <a:solidFill>
            <a:schemeClr val="accent3">
              <a:lumMod val="20000"/>
              <a:lumOff val="80000"/>
            </a:schemeClr>
          </a:solidFill>
          <a:ln w="19050">
            <a:noFill/>
            <a:prstDash val="lgDash"/>
          </a:ln>
        </p:spPr>
        <p:txBody>
          <a:bodyPr wrap="none" rtlCol="0">
            <a:spAutoFit/>
          </a:bodyPr>
          <a:lstStyle/>
          <a:p>
            <a:r>
              <a:rPr lang="en-US" altLang="zh-CN" sz="1200" dirty="0">
                <a:latin typeface="Times New Roman" panose="02020603050405020304" pitchFamily="18" charset="0"/>
                <a:cs typeface="Times New Roman" panose="02020603050405020304" pitchFamily="18" charset="0"/>
              </a:rPr>
              <a:t>CAD Layer</a:t>
            </a:r>
            <a:endParaRPr lang="zh-CN" altLang="en-US" sz="1200" dirty="0">
              <a:latin typeface="Times New Roman" panose="02020603050405020304" pitchFamily="18" charset="0"/>
              <a:cs typeface="Times New Roman" panose="02020603050405020304" pitchFamily="18" charset="0"/>
            </a:endParaRPr>
          </a:p>
        </p:txBody>
      </p:sp>
      <p:sp>
        <p:nvSpPr>
          <p:cNvPr id="7" name="矩形 6"/>
          <p:cNvSpPr/>
          <p:nvPr/>
        </p:nvSpPr>
        <p:spPr>
          <a:xfrm>
            <a:off x="191344" y="1233941"/>
            <a:ext cx="6264696" cy="764888"/>
          </a:xfrm>
          <a:prstGeom prst="rect">
            <a:avLst/>
          </a:prstGeom>
          <a:noFill/>
          <a:ln w="19050">
            <a:solidFill>
              <a:srgbClr val="FF434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平行四边形 2"/>
          <p:cNvSpPr/>
          <p:nvPr/>
        </p:nvSpPr>
        <p:spPr>
          <a:xfrm>
            <a:off x="191344" y="683645"/>
            <a:ext cx="5256584"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Software system architecture</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2" name="标题 2"/>
          <p:cNvSpPr txBox="1"/>
          <p:nvPr/>
        </p:nvSpPr>
        <p:spPr>
          <a:xfrm>
            <a:off x="173355" y="186562"/>
            <a:ext cx="11775989" cy="514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indent="0">
              <a:buFont typeface="Wingdings" panose="05000000000000000000" pitchFamily="2" charset="2"/>
              <a:defRPr/>
            </a:pPr>
            <a:endParaRPr lang="zh-CN" altLang="en-US" sz="2400" b="1" kern="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26" name="矩形 25"/>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5" name="矩形 4"/>
          <p:cNvSpPr/>
          <p:nvPr/>
        </p:nvSpPr>
        <p:spPr>
          <a:xfrm>
            <a:off x="335360" y="1340768"/>
            <a:ext cx="1776942"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KBE User Design Interface</a:t>
            </a:r>
            <a:endParaRPr lang="en-US" altLang="zh-CN" sz="1200" dirty="0">
              <a:solidFill>
                <a:schemeClr val="tx1"/>
              </a:solidFill>
              <a:latin typeface="Times New Roman" panose="02020603050405020304" pitchFamily="18" charset="0"/>
              <a:cs typeface="Times New Roman" panose="02020603050405020304" pitchFamily="18" charset="0"/>
            </a:endParaRPr>
          </a:p>
          <a:p>
            <a:pPr algn="ctr"/>
            <a:r>
              <a:rPr lang="en-US" altLang="zh-CN" sz="1200" dirty="0">
                <a:solidFill>
                  <a:schemeClr val="tx1"/>
                </a:solidFill>
                <a:latin typeface="Times New Roman" panose="02020603050405020304" pitchFamily="18" charset="0"/>
                <a:cs typeface="Times New Roman" panose="02020603050405020304" pitchFamily="18" charset="0"/>
              </a:rPr>
              <a:t>Parameter Indicator Input</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18" name="矩形 17"/>
          <p:cNvSpPr/>
          <p:nvPr/>
        </p:nvSpPr>
        <p:spPr>
          <a:xfrm>
            <a:off x="2399793" y="1340768"/>
            <a:ext cx="1776941"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Ship CAD System</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19" name="矩形 18"/>
          <p:cNvSpPr/>
          <p:nvPr/>
        </p:nvSpPr>
        <p:spPr>
          <a:xfrm>
            <a:off x="2399793" y="2194314"/>
            <a:ext cx="1776941"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Reasoning</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0" name="矩形 19"/>
          <p:cNvSpPr/>
          <p:nvPr/>
        </p:nvSpPr>
        <p:spPr>
          <a:xfrm>
            <a:off x="4365582" y="2192324"/>
            <a:ext cx="1776940"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Product Solution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6" name="流程图: 磁盘 5"/>
          <p:cNvSpPr/>
          <p:nvPr/>
        </p:nvSpPr>
        <p:spPr>
          <a:xfrm>
            <a:off x="968995"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Rule Database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1" name="流程图: 磁盘 20"/>
          <p:cNvSpPr/>
          <p:nvPr/>
        </p:nvSpPr>
        <p:spPr>
          <a:xfrm>
            <a:off x="2193624"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Engineering Case Database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2" name="流程图: 磁盘 21"/>
          <p:cNvSpPr/>
          <p:nvPr/>
        </p:nvSpPr>
        <p:spPr>
          <a:xfrm>
            <a:off x="3418253"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LLM</a:t>
            </a:r>
            <a:endParaRPr lang="en-US" altLang="zh-CN" sz="1200" dirty="0">
              <a:solidFill>
                <a:schemeClr val="tx1"/>
              </a:solidFill>
              <a:latin typeface="Times New Roman" panose="02020603050405020304" pitchFamily="18" charset="0"/>
              <a:cs typeface="Times New Roman" panose="02020603050405020304" pitchFamily="18" charset="0"/>
            </a:endParaRPr>
          </a:p>
          <a:p>
            <a:pPr algn="ctr"/>
            <a:r>
              <a:rPr lang="en-US" altLang="zh-CN" sz="1200" dirty="0">
                <a:solidFill>
                  <a:schemeClr val="tx1"/>
                </a:solidFill>
                <a:latin typeface="Times New Roman" panose="02020603050405020304" pitchFamily="18" charset="0"/>
                <a:cs typeface="Times New Roman" panose="02020603050405020304" pitchFamily="18" charset="0"/>
              </a:rPr>
              <a:t>Qwen2.5/KIMI/DEEPSEEK, etc.</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3" name="流程图: 磁盘 22"/>
          <p:cNvSpPr/>
          <p:nvPr/>
        </p:nvSpPr>
        <p:spPr>
          <a:xfrm>
            <a:off x="4642881" y="3327669"/>
            <a:ext cx="949350" cy="1253459"/>
          </a:xfrm>
          <a:prstGeom prst="flowChartMagneticDisk">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Graph</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5" name="矩形 24"/>
          <p:cNvSpPr/>
          <p:nvPr/>
        </p:nvSpPr>
        <p:spPr>
          <a:xfrm>
            <a:off x="813321" y="5074634"/>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Representation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7" name="矩形 26"/>
          <p:cNvSpPr/>
          <p:nvPr/>
        </p:nvSpPr>
        <p:spPr>
          <a:xfrm>
            <a:off x="2108342" y="5059280"/>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Acquisition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8" name="矩形 27"/>
          <p:cNvSpPr/>
          <p:nvPr/>
        </p:nvSpPr>
        <p:spPr>
          <a:xfrm>
            <a:off x="3374678" y="5053684"/>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Integration</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9" name="矩形 28"/>
          <p:cNvSpPr/>
          <p:nvPr/>
        </p:nvSpPr>
        <p:spPr>
          <a:xfrm>
            <a:off x="4604446" y="5053684"/>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Knowledge Management</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0" name="矩形 29"/>
          <p:cNvSpPr/>
          <p:nvPr/>
        </p:nvSpPr>
        <p:spPr>
          <a:xfrm>
            <a:off x="4597905" y="5994439"/>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Design Case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1" name="矩形 30"/>
          <p:cNvSpPr/>
          <p:nvPr/>
        </p:nvSpPr>
        <p:spPr>
          <a:xfrm>
            <a:off x="843038" y="5994439"/>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Expert Experience</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2" name="矩形 31"/>
          <p:cNvSpPr/>
          <p:nvPr/>
        </p:nvSpPr>
        <p:spPr>
          <a:xfrm>
            <a:off x="2720472" y="5994439"/>
            <a:ext cx="1131514" cy="5146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Times New Roman" panose="02020603050405020304" pitchFamily="18" charset="0"/>
                <a:cs typeface="Times New Roman" panose="02020603050405020304" pitchFamily="18" charset="0"/>
              </a:rPr>
              <a:t>Written Documents</a:t>
            </a:r>
            <a:endParaRPr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33" name="矩形 32"/>
          <p:cNvSpPr/>
          <p:nvPr/>
        </p:nvSpPr>
        <p:spPr>
          <a:xfrm>
            <a:off x="191053" y="2075670"/>
            <a:ext cx="6264986" cy="764888"/>
          </a:xfrm>
          <a:prstGeom prst="rect">
            <a:avLst/>
          </a:prstGeom>
          <a:noFill/>
          <a:ln w="19050">
            <a:solidFill>
              <a:srgbClr val="FF434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4" name="矩形 33"/>
          <p:cNvSpPr/>
          <p:nvPr/>
        </p:nvSpPr>
        <p:spPr>
          <a:xfrm>
            <a:off x="191052" y="2912995"/>
            <a:ext cx="6264987" cy="3808480"/>
          </a:xfrm>
          <a:prstGeom prst="rect">
            <a:avLst/>
          </a:prstGeom>
          <a:noFill/>
          <a:ln w="19050">
            <a:solidFill>
              <a:srgbClr val="FF434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5" name="矩形 34"/>
          <p:cNvSpPr/>
          <p:nvPr/>
        </p:nvSpPr>
        <p:spPr>
          <a:xfrm>
            <a:off x="695976" y="3254116"/>
            <a:ext cx="5184575" cy="1471028"/>
          </a:xfrm>
          <a:prstGeom prst="rect">
            <a:avLst/>
          </a:prstGeom>
          <a:noFill/>
          <a:ln w="1905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6" name="矩形 35"/>
          <p:cNvSpPr/>
          <p:nvPr/>
        </p:nvSpPr>
        <p:spPr>
          <a:xfrm>
            <a:off x="695976" y="4969491"/>
            <a:ext cx="5184575" cy="691757"/>
          </a:xfrm>
          <a:prstGeom prst="rect">
            <a:avLst/>
          </a:prstGeom>
          <a:noFill/>
          <a:ln w="1905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p:cNvSpPr/>
          <p:nvPr/>
        </p:nvSpPr>
        <p:spPr>
          <a:xfrm>
            <a:off x="695976" y="5868945"/>
            <a:ext cx="5184575" cy="728407"/>
          </a:xfrm>
          <a:prstGeom prst="rect">
            <a:avLst/>
          </a:prstGeom>
          <a:noFill/>
          <a:ln w="19050">
            <a:solidFill>
              <a:srgbClr val="0070C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39" name="连接符: 肘形 38"/>
          <p:cNvCxnSpPr>
            <a:stCxn id="20" idx="3"/>
            <a:endCxn id="35" idx="3"/>
          </p:cNvCxnSpPr>
          <p:nvPr/>
        </p:nvCxnSpPr>
        <p:spPr>
          <a:xfrm flipH="1">
            <a:off x="5880551" y="2449627"/>
            <a:ext cx="261971" cy="1540003"/>
          </a:xfrm>
          <a:prstGeom prst="bentConnector3">
            <a:avLst>
              <a:gd name="adj1" fmla="val -8726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9" idx="3"/>
            <a:endCxn id="20" idx="1"/>
          </p:cNvCxnSpPr>
          <p:nvPr/>
        </p:nvCxnSpPr>
        <p:spPr>
          <a:xfrm flipV="1">
            <a:off x="4176734" y="2449627"/>
            <a:ext cx="188848" cy="199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5" idx="3"/>
            <a:endCxn id="18" idx="1"/>
          </p:cNvCxnSpPr>
          <p:nvPr/>
        </p:nvCxnSpPr>
        <p:spPr>
          <a:xfrm>
            <a:off x="2112302" y="1598071"/>
            <a:ext cx="28749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18" idx="2"/>
            <a:endCxn id="19" idx="0"/>
          </p:cNvCxnSpPr>
          <p:nvPr/>
        </p:nvCxnSpPr>
        <p:spPr>
          <a:xfrm>
            <a:off x="3288264" y="1855374"/>
            <a:ext cx="0" cy="3389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19" idx="2"/>
            <a:endCxn id="35" idx="0"/>
          </p:cNvCxnSpPr>
          <p:nvPr/>
        </p:nvCxnSpPr>
        <p:spPr>
          <a:xfrm>
            <a:off x="3288264" y="2708920"/>
            <a:ext cx="0" cy="54519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37" idx="0"/>
            <a:endCxn id="36" idx="2"/>
          </p:cNvCxnSpPr>
          <p:nvPr/>
        </p:nvCxnSpPr>
        <p:spPr>
          <a:xfrm flipV="1">
            <a:off x="3288264" y="5661248"/>
            <a:ext cx="0" cy="207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36" idx="0"/>
            <a:endCxn id="35" idx="2"/>
          </p:cNvCxnSpPr>
          <p:nvPr/>
        </p:nvCxnSpPr>
        <p:spPr>
          <a:xfrm flipV="1">
            <a:off x="3288264" y="4725144"/>
            <a:ext cx="0" cy="2443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7" name="图片 76"/>
          <p:cNvPicPr>
            <a:picLocks noChangeAspect="1"/>
          </p:cNvPicPr>
          <p:nvPr>
            <p:custDataLst>
              <p:tags r:id="rId1"/>
            </p:custDataLst>
          </p:nvPr>
        </p:nvPicPr>
        <p:blipFill>
          <a:blip r:embed="rId2"/>
          <a:srcRect b="3369"/>
          <a:stretch>
            <a:fillRect/>
          </a:stretch>
        </p:blipFill>
        <p:spPr>
          <a:xfrm>
            <a:off x="6957868" y="1233941"/>
            <a:ext cx="5053400" cy="2339174"/>
          </a:xfrm>
          <a:prstGeom prst="rect">
            <a:avLst/>
          </a:prstGeom>
        </p:spPr>
      </p:pic>
      <p:cxnSp>
        <p:nvCxnSpPr>
          <p:cNvPr id="79" name="连接符: 曲线 78"/>
          <p:cNvCxnSpPr>
            <a:stCxn id="18" idx="3"/>
          </p:cNvCxnSpPr>
          <p:nvPr/>
        </p:nvCxnSpPr>
        <p:spPr>
          <a:xfrm>
            <a:off x="4176734" y="1598071"/>
            <a:ext cx="2927378" cy="318761"/>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2" name="连接符: 曲线 81"/>
          <p:cNvCxnSpPr/>
          <p:nvPr/>
        </p:nvCxnSpPr>
        <p:spPr>
          <a:xfrm>
            <a:off x="3575720" y="2715245"/>
            <a:ext cx="4585240" cy="517616"/>
          </a:xfrm>
          <a:prstGeom prst="curvedConnector3">
            <a:avLst>
              <a:gd name="adj1" fmla="val 2699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a:off x="8331587" y="3773606"/>
            <a:ext cx="2009544" cy="43204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Ship Hull Form Intelligent Reasoning System</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89" name="矩形 88"/>
          <p:cNvSpPr/>
          <p:nvPr/>
        </p:nvSpPr>
        <p:spPr>
          <a:xfrm>
            <a:off x="10416480" y="4509119"/>
            <a:ext cx="1647579" cy="43204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Times New Roman" panose="02020603050405020304" pitchFamily="18" charset="0"/>
                <a:cs typeface="Times New Roman" panose="02020603050405020304" pitchFamily="18" charset="0"/>
              </a:rPr>
              <a:t>Parameter Database</a:t>
            </a:r>
            <a:endParaRPr lang="en-US" altLang="zh-CN" sz="1000" dirty="0">
              <a:solidFill>
                <a:schemeClr val="tx1"/>
              </a:solidFill>
              <a:latin typeface="Times New Roman" panose="02020603050405020304" pitchFamily="18" charset="0"/>
              <a:cs typeface="Times New Roman" panose="02020603050405020304" pitchFamily="18" charset="0"/>
            </a:endParaRPr>
          </a:p>
          <a:p>
            <a:pPr algn="ctr"/>
            <a:r>
              <a:rPr lang="en-US" altLang="zh-CN" sz="1000" dirty="0">
                <a:solidFill>
                  <a:schemeClr val="tx1"/>
                </a:solidFill>
                <a:latin typeface="Times New Roman" panose="02020603050405020304" pitchFamily="18" charset="0"/>
                <a:cs typeface="Times New Roman" panose="02020603050405020304" pitchFamily="18" charset="0"/>
              </a:rPr>
              <a:t>Hull Form Knowledge Graph Database</a:t>
            </a:r>
            <a:endParaRPr lang="zh-CN" altLang="en-US" sz="1000" dirty="0">
              <a:solidFill>
                <a:schemeClr val="tx1"/>
              </a:solidFill>
              <a:latin typeface="Times New Roman" panose="02020603050405020304" pitchFamily="18" charset="0"/>
              <a:cs typeface="Times New Roman" panose="02020603050405020304" pitchFamily="18" charset="0"/>
            </a:endParaRPr>
          </a:p>
        </p:txBody>
      </p:sp>
      <p:sp>
        <p:nvSpPr>
          <p:cNvPr id="90" name="矩形 89"/>
          <p:cNvSpPr/>
          <p:nvPr/>
        </p:nvSpPr>
        <p:spPr>
          <a:xfrm>
            <a:off x="8512570" y="4509120"/>
            <a:ext cx="1647579" cy="43204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Times New Roman" panose="02020603050405020304" pitchFamily="18" charset="0"/>
                <a:cs typeface="Times New Roman" panose="02020603050405020304" pitchFamily="18" charset="0"/>
              </a:rPr>
              <a:t>Ship Type Database</a:t>
            </a:r>
            <a:endParaRPr lang="en-US" altLang="zh-CN" sz="1000" dirty="0">
              <a:solidFill>
                <a:schemeClr val="tx1"/>
              </a:solidFill>
              <a:latin typeface="Times New Roman" panose="02020603050405020304" pitchFamily="18" charset="0"/>
              <a:cs typeface="Times New Roman" panose="02020603050405020304" pitchFamily="18" charset="0"/>
            </a:endParaRPr>
          </a:p>
          <a:p>
            <a:pPr algn="ctr"/>
            <a:r>
              <a:rPr lang="en-US" altLang="zh-CN" sz="1000" dirty="0">
                <a:solidFill>
                  <a:schemeClr val="tx1"/>
                </a:solidFill>
                <a:latin typeface="Times New Roman" panose="02020603050405020304" pitchFamily="18" charset="0"/>
                <a:cs typeface="Times New Roman" panose="02020603050405020304" pitchFamily="18" charset="0"/>
              </a:rPr>
              <a:t>Parametric Model Database</a:t>
            </a:r>
            <a:endParaRPr lang="zh-CN" altLang="en-US" sz="1000" dirty="0">
              <a:solidFill>
                <a:schemeClr val="tx1"/>
              </a:solidFill>
              <a:latin typeface="Times New Roman" panose="02020603050405020304" pitchFamily="18" charset="0"/>
              <a:cs typeface="Times New Roman" panose="02020603050405020304" pitchFamily="18" charset="0"/>
            </a:endParaRPr>
          </a:p>
        </p:txBody>
      </p:sp>
      <p:sp>
        <p:nvSpPr>
          <p:cNvPr id="91" name="矩形 90"/>
          <p:cNvSpPr/>
          <p:nvPr/>
        </p:nvSpPr>
        <p:spPr>
          <a:xfrm>
            <a:off x="6608661" y="4509120"/>
            <a:ext cx="1647579" cy="43204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tx1"/>
                </a:solidFill>
                <a:latin typeface="Times New Roman" panose="02020603050405020304" pitchFamily="18" charset="0"/>
                <a:cs typeface="Times New Roman" panose="02020603050405020304" pitchFamily="18" charset="0"/>
              </a:rPr>
              <a:t>Specification Database</a:t>
            </a:r>
            <a:endParaRPr lang="en-US" altLang="zh-CN" sz="1000" dirty="0">
              <a:solidFill>
                <a:schemeClr val="tx1"/>
              </a:solidFill>
              <a:latin typeface="Times New Roman" panose="02020603050405020304" pitchFamily="18" charset="0"/>
              <a:cs typeface="Times New Roman" panose="02020603050405020304" pitchFamily="18" charset="0"/>
            </a:endParaRPr>
          </a:p>
          <a:p>
            <a:pPr algn="ctr"/>
            <a:r>
              <a:rPr lang="en-US" altLang="zh-CN" sz="1000" dirty="0">
                <a:solidFill>
                  <a:schemeClr val="tx1"/>
                </a:solidFill>
                <a:latin typeface="Times New Roman" panose="02020603050405020304" pitchFamily="18" charset="0"/>
                <a:cs typeface="Times New Roman" panose="02020603050405020304" pitchFamily="18" charset="0"/>
              </a:rPr>
              <a:t>Expert Experience Database</a:t>
            </a:r>
            <a:endParaRPr lang="zh-CN" altLang="en-US" sz="1000" dirty="0">
              <a:solidFill>
                <a:schemeClr val="tx1"/>
              </a:solidFill>
              <a:latin typeface="Times New Roman" panose="02020603050405020304" pitchFamily="18" charset="0"/>
              <a:cs typeface="Times New Roman" panose="02020603050405020304" pitchFamily="18" charset="0"/>
            </a:endParaRPr>
          </a:p>
        </p:txBody>
      </p:sp>
      <p:sp>
        <p:nvSpPr>
          <p:cNvPr id="92" name="文本框 91"/>
          <p:cNvSpPr txBox="1"/>
          <p:nvPr/>
        </p:nvSpPr>
        <p:spPr>
          <a:xfrm>
            <a:off x="9619742" y="3261693"/>
            <a:ext cx="2540635" cy="369332"/>
          </a:xfrm>
          <a:prstGeom prst="rect">
            <a:avLst/>
          </a:prstGeom>
          <a:noFill/>
        </p:spPr>
        <p:txBody>
          <a:bodyPr wrap="square" rtlCol="0">
            <a:spAutoFit/>
          </a:bodyPr>
          <a:lstStyle/>
          <a:p>
            <a:pPr algn="ctr"/>
            <a:r>
              <a:rPr lang="en-US" altLang="zh-CN" dirty="0">
                <a:highlight>
                  <a:srgbClr val="C0C0C0"/>
                </a:highlight>
                <a:latin typeface="Times New Roman" panose="02020603050405020304" pitchFamily="18" charset="0"/>
                <a:cs typeface="Times New Roman" panose="02020603050405020304" pitchFamily="18" charset="0"/>
              </a:rPr>
              <a:t>Parametric CAD System</a:t>
            </a:r>
            <a:endParaRPr lang="zh-CN" altLang="en-US" dirty="0">
              <a:highlight>
                <a:srgbClr val="C0C0C0"/>
              </a:highlight>
              <a:latin typeface="Times New Roman" panose="02020603050405020304" pitchFamily="18" charset="0"/>
              <a:cs typeface="Times New Roman" panose="02020603050405020304" pitchFamily="18" charset="0"/>
            </a:endParaRPr>
          </a:p>
        </p:txBody>
      </p:sp>
      <p:sp>
        <p:nvSpPr>
          <p:cNvPr id="93" name="矩形 92"/>
          <p:cNvSpPr/>
          <p:nvPr/>
        </p:nvSpPr>
        <p:spPr>
          <a:xfrm>
            <a:off x="6554293" y="4418183"/>
            <a:ext cx="5572828" cy="1938167"/>
          </a:xfrm>
          <a:prstGeom prst="rect">
            <a:avLst/>
          </a:prstGeom>
          <a:noFill/>
          <a:ln w="9525">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95" name="直接连接符 94"/>
          <p:cNvCxnSpPr/>
          <p:nvPr/>
        </p:nvCxnSpPr>
        <p:spPr>
          <a:xfrm>
            <a:off x="8400256" y="4418183"/>
            <a:ext cx="0" cy="1938167"/>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10272464" y="4418183"/>
            <a:ext cx="0" cy="1938167"/>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
        <p:nvSpPr>
          <p:cNvPr id="97" name="箭头: 右 96"/>
          <p:cNvSpPr/>
          <p:nvPr/>
        </p:nvSpPr>
        <p:spPr>
          <a:xfrm rot="16200000">
            <a:off x="9224892" y="4234440"/>
            <a:ext cx="212030" cy="1554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p:cNvSpPr txBox="1"/>
          <p:nvPr/>
        </p:nvSpPr>
        <p:spPr>
          <a:xfrm>
            <a:off x="6528049" y="4987039"/>
            <a:ext cx="1759894" cy="1169551"/>
          </a:xfrm>
          <a:prstGeom prst="rect">
            <a:avLst/>
          </a:prstGeom>
          <a:noFill/>
        </p:spPr>
        <p:txBody>
          <a:bodyPr wrap="square">
            <a:spAutoFit/>
          </a:bodyPr>
          <a:lstStyle/>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Standard query</a:t>
            </a:r>
            <a:endParaRPr lang="en-US" altLang="zh-CN" sz="1000"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Design guidance for hull form</a:t>
            </a:r>
            <a:endParaRPr lang="en-US" altLang="zh-CN" sz="1000"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Recommended main dimensions and ship type</a:t>
            </a:r>
            <a:endParaRPr lang="en-US" altLang="zh-CN" sz="1000"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l"/>
            </a:pPr>
            <a:r>
              <a:rPr lang="en-US" altLang="zh-CN" sz="1000" dirty="0">
                <a:latin typeface="Times New Roman" panose="02020603050405020304" pitchFamily="18" charset="0"/>
                <a:cs typeface="Times New Roman" panose="02020603050405020304" pitchFamily="18" charset="0"/>
              </a:rPr>
              <a:t>Scheme specification verification</a:t>
            </a:r>
            <a:endParaRPr lang="zh-CN" altLang="en-US" sz="1000" dirty="0">
              <a:latin typeface="Times New Roman" panose="02020603050405020304" pitchFamily="18" charset="0"/>
              <a:cs typeface="Times New Roman" panose="02020603050405020304" pitchFamily="18" charset="0"/>
            </a:endParaRPr>
          </a:p>
        </p:txBody>
      </p:sp>
      <p:sp>
        <p:nvSpPr>
          <p:cNvPr id="101" name="文本框 100"/>
          <p:cNvSpPr txBox="1"/>
          <p:nvPr/>
        </p:nvSpPr>
        <p:spPr>
          <a:xfrm>
            <a:off x="8374420" y="4972106"/>
            <a:ext cx="1754029" cy="1323439"/>
          </a:xfrm>
          <a:prstGeom prst="rect">
            <a:avLst/>
          </a:prstGeom>
          <a:noFill/>
        </p:spPr>
        <p:txBody>
          <a:bodyPr wrap="square">
            <a:spAutoFit/>
          </a:bodyPr>
          <a:lstStyle>
            <a:defPPr>
              <a:defRPr lang="en-US"/>
            </a:defPPr>
            <a:lvl1pPr marL="171450" indent="-171450" algn="just">
              <a:buFont typeface="Wingdings" panose="05000000000000000000" pitchFamily="2" charset="2"/>
              <a:buChar char="l"/>
              <a:defRPr sz="1000">
                <a:latin typeface="Times New Roman" panose="02020603050405020304" pitchFamily="18" charset="0"/>
                <a:cs typeface="Times New Roman" panose="02020603050405020304" pitchFamily="18" charset="0"/>
              </a:defRPr>
            </a:lvl1pPr>
          </a:lstStyle>
          <a:p>
            <a:r>
              <a:rPr lang="en-US" altLang="zh-CN" dirty="0"/>
              <a:t>Offer various initial ship </a:t>
            </a:r>
            <a:r>
              <a:rPr lang="en-US" altLang="zh-CN" dirty="0" err="1"/>
              <a:t>designsProvide</a:t>
            </a:r>
            <a:r>
              <a:rPr lang="en-US" altLang="zh-CN" dirty="0"/>
              <a:t> parametric models and various parameter-driven deformations</a:t>
            </a:r>
            <a:endParaRPr lang="en-US" altLang="zh-CN" dirty="0"/>
          </a:p>
          <a:p>
            <a:r>
              <a:rPr lang="en-US" altLang="zh-CN" dirty="0"/>
              <a:t>Personalize adjustments to local parameters and constraints</a:t>
            </a:r>
            <a:endParaRPr lang="zh-CN" altLang="en-US" dirty="0"/>
          </a:p>
        </p:txBody>
      </p:sp>
      <p:sp>
        <p:nvSpPr>
          <p:cNvPr id="103" name="文本框 102"/>
          <p:cNvSpPr txBox="1"/>
          <p:nvPr/>
        </p:nvSpPr>
        <p:spPr>
          <a:xfrm>
            <a:off x="10227503" y="4994827"/>
            <a:ext cx="1925454" cy="1323439"/>
          </a:xfrm>
          <a:prstGeom prst="rect">
            <a:avLst/>
          </a:prstGeom>
          <a:noFill/>
        </p:spPr>
        <p:txBody>
          <a:bodyPr wrap="square">
            <a:spAutoFit/>
          </a:bodyPr>
          <a:lstStyle>
            <a:defPPr>
              <a:defRPr lang="en-US"/>
            </a:defPPr>
            <a:lvl1pPr marL="171450" indent="-171450" algn="just">
              <a:buFont typeface="Wingdings" panose="05000000000000000000" pitchFamily="2" charset="2"/>
              <a:buChar char="l"/>
              <a:defRPr sz="1000">
                <a:latin typeface="Times New Roman" panose="02020603050405020304" pitchFamily="18" charset="0"/>
                <a:cs typeface="Times New Roman" panose="02020603050405020304" pitchFamily="18" charset="0"/>
              </a:defRPr>
            </a:lvl1pPr>
          </a:lstStyle>
          <a:p>
            <a:r>
              <a:rPr lang="en-US" altLang="zh-CN" dirty="0"/>
              <a:t>Based on the characteristics of the ship types, the parameter sensitivity of different ship types was analyzed.</a:t>
            </a:r>
            <a:endParaRPr lang="en-US" altLang="zh-CN" dirty="0"/>
          </a:p>
          <a:p>
            <a:r>
              <a:rPr lang="en-US" altLang="zh-CN" dirty="0"/>
              <a:t>Construct a knowledge graph that links various parameters with the performance of the ship body</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custDataLst>
              <p:tags r:id="rId1"/>
            </p:custDataLst>
          </p:nvPr>
        </p:nvGraphicFramePr>
        <p:xfrm>
          <a:off x="383703" y="1247925"/>
          <a:ext cx="4958080" cy="5516245"/>
        </p:xfrm>
        <a:graphic>
          <a:graphicData uri="http://schemas.openxmlformats.org/drawingml/2006/table">
            <a:tbl>
              <a:tblPr firstRow="1" firstCol="1" bandRow="1">
                <a:tableStyleId>{5C22544A-7EE6-4342-B048-85BDC9FD1C3A}</a:tableStyleId>
              </a:tblPr>
              <a:tblGrid>
                <a:gridCol w="1120140"/>
                <a:gridCol w="2599055"/>
                <a:gridCol w="1238885"/>
              </a:tblGrid>
              <a:tr h="594360">
                <a:tc>
                  <a:txBody>
                    <a:bodyPr/>
                    <a:lstStyle/>
                    <a:p>
                      <a:pPr indent="0" algn="ctr">
                        <a:spcAft>
                          <a:spcPts val="0"/>
                        </a:spcAft>
                      </a:pPr>
                      <a:r>
                        <a:rPr lang="en-US" altLang="zh-CN" sz="1600" kern="100" dirty="0">
                          <a:effectLst/>
                        </a:rPr>
                        <a:t>Number</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rPr>
                        <a:t>Geometric meaning</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zh-CN" sz="1600" kern="100" dirty="0">
                          <a:effectLst/>
                        </a:rPr>
                        <a:t>参数符号</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3385">
                <a:tc>
                  <a:txBody>
                    <a:bodyPr/>
                    <a:lstStyle/>
                    <a:p>
                      <a:pPr indent="0" algn="ctr">
                        <a:spcAft>
                          <a:spcPts val="0"/>
                        </a:spcAft>
                      </a:pPr>
                      <a:r>
                        <a:rPr lang="en-US" sz="1600" kern="100">
                          <a:effectLst/>
                        </a:rPr>
                        <a:t>1</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rowSpan="2">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Starting point coordinates</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4020">
                <a:tc>
                  <a:txBody>
                    <a:bodyPr/>
                    <a:lstStyle/>
                    <a:p>
                      <a:pPr indent="0" algn="ctr">
                        <a:spcAft>
                          <a:spcPts val="0"/>
                        </a:spcAft>
                      </a:pPr>
                      <a:r>
                        <a:rPr lang="en-US" sz="1600" kern="100">
                          <a:effectLst/>
                        </a:rPr>
                        <a:t>2</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vMerge="1">
                  <a:tcP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4020">
                <a:tc>
                  <a:txBody>
                    <a:bodyPr/>
                    <a:lstStyle/>
                    <a:p>
                      <a:pPr indent="0" algn="ctr">
                        <a:spcAft>
                          <a:spcPts val="0"/>
                        </a:spcAft>
                      </a:pPr>
                      <a:r>
                        <a:rPr lang="en-US" sz="1600" kern="100">
                          <a:effectLst/>
                        </a:rPr>
                        <a:t>3</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rowSpan="2">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Termination point coordinates</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4020">
                <a:tc>
                  <a:txBody>
                    <a:bodyPr/>
                    <a:lstStyle/>
                    <a:p>
                      <a:pPr indent="0" algn="ctr">
                        <a:spcAft>
                          <a:spcPts val="0"/>
                        </a:spcAft>
                      </a:pPr>
                      <a:r>
                        <a:rPr lang="en-US" sz="1600" kern="100">
                          <a:effectLst/>
                        </a:rPr>
                        <a:t>4</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vMerge="1">
                  <a:tcP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3385">
                <a:tc>
                  <a:txBody>
                    <a:bodyPr/>
                    <a:lstStyle/>
                    <a:p>
                      <a:pPr indent="0" algn="ctr">
                        <a:spcAft>
                          <a:spcPts val="0"/>
                        </a:spcAft>
                      </a:pPr>
                      <a:r>
                        <a:rPr lang="en-US" sz="1600" kern="100">
                          <a:effectLst/>
                        </a:rPr>
                        <a:t>5</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The corner cut at the starting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5290">
                <a:tc>
                  <a:txBody>
                    <a:bodyPr/>
                    <a:lstStyle/>
                    <a:p>
                      <a:pPr indent="0" algn="ctr">
                        <a:spcAft>
                          <a:spcPts val="0"/>
                        </a:spcAft>
                      </a:pPr>
                      <a:r>
                        <a:rPr lang="en-US" sz="1600" kern="100">
                          <a:effectLst/>
                        </a:rPr>
                        <a:t>6</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The sharp corner at the end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2750">
                <a:tc>
                  <a:txBody>
                    <a:bodyPr/>
                    <a:lstStyle/>
                    <a:p>
                      <a:pPr indent="0" algn="ctr">
                        <a:spcAft>
                          <a:spcPts val="0"/>
                        </a:spcAft>
                      </a:pPr>
                      <a:r>
                        <a:rPr lang="en-US" sz="1600" kern="100">
                          <a:effectLst/>
                        </a:rPr>
                        <a:t>7</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Curvature at the starting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5290">
                <a:tc>
                  <a:txBody>
                    <a:bodyPr/>
                    <a:lstStyle/>
                    <a:p>
                      <a:pPr indent="0" algn="ctr">
                        <a:spcAft>
                          <a:spcPts val="0"/>
                        </a:spcAft>
                      </a:pPr>
                      <a:r>
                        <a:rPr lang="en-US" sz="1600" kern="100">
                          <a:effectLst/>
                        </a:rPr>
                        <a:t>8</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Curvature at the end point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2750">
                <a:tc>
                  <a:txBody>
                    <a:bodyPr/>
                    <a:lstStyle/>
                    <a:p>
                      <a:pPr indent="0" algn="ctr">
                        <a:spcAft>
                          <a:spcPts val="0"/>
                        </a:spcAft>
                      </a:pPr>
                      <a:r>
                        <a:rPr lang="en-US" sz="1600" kern="100">
                          <a:effectLst/>
                        </a:rPr>
                        <a:t>9</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cs typeface="微软雅黑" panose="020B0503020204020204" pitchFamily="34" charset="-122"/>
                        </a:rPr>
                        <a:t>The area between the curve and the x-axis</a:t>
                      </a:r>
                      <a:endParaRPr lang="zh-CN" sz="1600" kern="10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4655">
                <a:tc>
                  <a:txBody>
                    <a:bodyPr/>
                    <a:lstStyle/>
                    <a:p>
                      <a:pPr indent="0" algn="ctr">
                        <a:spcAft>
                          <a:spcPts val="0"/>
                        </a:spcAft>
                      </a:pPr>
                      <a:r>
                        <a:rPr lang="en-US" sz="1600" kern="100">
                          <a:effectLst/>
                        </a:rPr>
                        <a:t>10</a:t>
                      </a:r>
                      <a:endParaRPr lang="zh-CN"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rowSpan="2">
                  <a:txBody>
                    <a:bodyPr/>
                    <a:lstStyle/>
                    <a:p>
                      <a:pPr indent="0" algn="ctr">
                        <a:spcAft>
                          <a:spcPts val="0"/>
                        </a:spcAft>
                      </a:pPr>
                      <a:r>
                        <a:rPr lang="en-US" altLang="zh-CN" sz="1600" kern="100" dirty="0">
                          <a:effectLst/>
                          <a:latin typeface="微软雅黑" panose="020B0503020204020204" pitchFamily="34" charset="-122"/>
                          <a:ea typeface="微软雅黑" panose="020B0503020204020204" pitchFamily="34" charset="-122"/>
                        </a:rPr>
                        <a:t>Area-type heart</a:t>
                      </a:r>
                      <a:endParaRPr 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0" algn="ctr">
                        <a:spcAft>
                          <a:spcPts val="0"/>
                        </a:spcAft>
                      </a:pPr>
                      <a:endParaRPr lang="en-US" sz="16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r h="413385">
                <a:tc>
                  <a:txBody>
                    <a:bodyPr/>
                    <a:lstStyle/>
                    <a:p>
                      <a:pPr indent="0" algn="ctr">
                        <a:spcAft>
                          <a:spcPts val="0"/>
                        </a:spcAft>
                      </a:pPr>
                      <a:r>
                        <a:rPr lang="en-US" sz="1600" kern="100" dirty="0">
                          <a:effectLst/>
                        </a:rPr>
                        <a:t>11</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vMerge="1">
                  <a:tcPr/>
                </a:tc>
                <a:tc>
                  <a:txBody>
                    <a:bodyPr/>
                    <a:lstStyle/>
                    <a:p>
                      <a:pPr indent="0" algn="ctr">
                        <a:spcAft>
                          <a:spcPts val="0"/>
                        </a:spcAft>
                      </a:pP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r>
            </a:tbl>
          </a:graphicData>
        </a:graphic>
      </p:graphicFrame>
      <p:graphicFrame>
        <p:nvGraphicFramePr>
          <p:cNvPr id="3" name="对象 2"/>
          <p:cNvGraphicFramePr>
            <a:graphicFrameLocks noChangeAspect="1"/>
          </p:cNvGraphicFramePr>
          <p:nvPr/>
        </p:nvGraphicFramePr>
        <p:xfrm>
          <a:off x="6672064" y="951672"/>
          <a:ext cx="4036209" cy="3565525"/>
        </p:xfrm>
        <a:graphic>
          <a:graphicData uri="http://schemas.openxmlformats.org/presentationml/2006/ole">
            <mc:AlternateContent xmlns:mc="http://schemas.openxmlformats.org/markup-compatibility/2006">
              <mc:Choice xmlns:v="urn:schemas-microsoft-com:vml" Requires="v">
                <p:oleObj spid="_x0000_s20566" name="Visio" r:id="rId2" imgW="3892550" imgH="3404870" progId="Visio.Drawing.15">
                  <p:embed/>
                </p:oleObj>
              </mc:Choice>
              <mc:Fallback>
                <p:oleObj name="Visio" r:id="rId2" imgW="3892550" imgH="3404870" progId="Visio.Drawing.15">
                  <p:embed/>
                  <p:pic>
                    <p:nvPicPr>
                      <p:cNvPr id="0" name="对象 2"/>
                      <p:cNvPicPr>
                        <a:picLocks noChangeAspect="1" noChangeArrowheads="1"/>
                      </p:cNvPicPr>
                      <p:nvPr/>
                    </p:nvPicPr>
                    <p:blipFill>
                      <a:blip r:embed="rId3"/>
                      <a:srcRect l="2751" b="1851"/>
                      <a:stretch>
                        <a:fillRect/>
                      </a:stretch>
                    </p:blipFill>
                    <p:spPr bwMode="auto">
                      <a:xfrm>
                        <a:off x="6672064" y="951672"/>
                        <a:ext cx="4036209" cy="3565525"/>
                      </a:xfrm>
                      <a:prstGeom prst="rect">
                        <a:avLst/>
                      </a:prstGeom>
                      <a:noFill/>
                    </p:spPr>
                  </p:pic>
                </p:oleObj>
              </mc:Fallback>
            </mc:AlternateContent>
          </a:graphicData>
        </a:graphic>
      </p:graphicFrame>
      <p:sp>
        <p:nvSpPr>
          <p:cNvPr id="5" name="矩形 4"/>
          <p:cNvSpPr/>
          <p:nvPr/>
        </p:nvSpPr>
        <p:spPr>
          <a:xfrm>
            <a:off x="5359270" y="4185602"/>
            <a:ext cx="6661795" cy="2633413"/>
          </a:xfrm>
          <a:prstGeom prst="rect">
            <a:avLst/>
          </a:prstGeom>
        </p:spPr>
        <p:txBody>
          <a:bodyPr wrap="square">
            <a:spAutoFit/>
          </a:bodyPr>
          <a:lstStyle/>
          <a:p>
            <a:pPr marL="285750" lvl="0" indent="-285750">
              <a:lnSpc>
                <a:spcPct val="150000"/>
              </a:lnSpc>
              <a:buFont typeface="Wingdings" panose="05000000000000000000" pitchFamily="2" charset="2"/>
              <a:buChar char="ü"/>
              <a:defRPr/>
            </a:pP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Position parameters </a:t>
            </a:r>
            <a:r>
              <a:rPr lang="en-US" altLang="zh-CN" sz="1600"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mainly refer to the numerical values of the coordinates at the starting and ending points of the curve</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600" b="1" i="0" u="none" strike="noStrike" kern="1200" cap="none" spc="0" normalizeH="0" baseline="0" noProof="0" dirty="0">
              <a:ln>
                <a:noFill/>
              </a:ln>
              <a:solidFill>
                <a:srgbClr val="6F6F6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nSpc>
                <a:spcPct val="150000"/>
              </a:lnSpc>
              <a:buFont typeface="Wingdings" panose="05000000000000000000" pitchFamily="2" charset="2"/>
              <a:buChar char="ü"/>
              <a:defRPr/>
            </a:pP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Integral parameters </a:t>
            </a:r>
            <a:r>
              <a:rPr lang="en-US" altLang="zh-CN" sz="1600"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mainly include the area value enclosed by the curve and the coordinate axis, as well as the coordinate values of the center of the curve shape;</a:t>
            </a:r>
            <a:r>
              <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nSpc>
                <a:spcPct val="150000"/>
              </a:lnSpc>
              <a:buFont typeface="Wingdings" panose="05000000000000000000" pitchFamily="2" charset="2"/>
              <a:buChar char="ü"/>
              <a:defRPr/>
            </a:pP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Differential parameters </a:t>
            </a:r>
            <a:r>
              <a:rPr lang="en-US" altLang="zh-CN" sz="1600"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mainly refer to the values of the tangent angle and curvature at the starting and ending positions of the curve.</a:t>
            </a: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4466212" y="2066699"/>
          <a:ext cx="241300" cy="292100"/>
        </p:xfrm>
        <a:graphic>
          <a:graphicData uri="http://schemas.openxmlformats.org/presentationml/2006/ole">
            <mc:AlternateContent xmlns:mc="http://schemas.openxmlformats.org/markup-compatibility/2006">
              <mc:Choice xmlns:v="urn:schemas-microsoft-com:vml" Requires="v">
                <p:oleObj spid="_x0000_s20567" name="Equation" r:id="rId4" imgW="5791200" imgH="7010400" progId="Equation.DSMT4">
                  <p:embed/>
                </p:oleObj>
              </mc:Choice>
              <mc:Fallback>
                <p:oleObj name="Equation" r:id="rId4" imgW="5791200" imgH="7010400" progId="Equation.DSMT4">
                  <p:embed/>
                  <p:pic>
                    <p:nvPicPr>
                      <p:cNvPr id="0" name="对象 5"/>
                      <p:cNvPicPr/>
                      <p:nvPr/>
                    </p:nvPicPr>
                    <p:blipFill>
                      <a:blip r:embed="rId5"/>
                      <a:stretch>
                        <a:fillRect/>
                      </a:stretch>
                    </p:blipFill>
                    <p:spPr>
                      <a:xfrm>
                        <a:off x="4466212" y="2066699"/>
                        <a:ext cx="241300" cy="2921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453512" y="2498546"/>
          <a:ext cx="266700" cy="292100"/>
        </p:xfrm>
        <a:graphic>
          <a:graphicData uri="http://schemas.openxmlformats.org/presentationml/2006/ole">
            <mc:AlternateContent xmlns:mc="http://schemas.openxmlformats.org/markup-compatibility/2006">
              <mc:Choice xmlns:v="urn:schemas-microsoft-com:vml" Requires="v">
                <p:oleObj spid="_x0000_s20568" name="Equation" r:id="rId6" imgW="6400800" imgH="7010400" progId="Equation.DSMT4">
                  <p:embed/>
                </p:oleObj>
              </mc:Choice>
              <mc:Fallback>
                <p:oleObj name="Equation" r:id="rId6" imgW="6400800" imgH="7010400" progId="Equation.DSMT4">
                  <p:embed/>
                  <p:pic>
                    <p:nvPicPr>
                      <p:cNvPr id="0" name="对象 7"/>
                      <p:cNvPicPr/>
                      <p:nvPr/>
                    </p:nvPicPr>
                    <p:blipFill>
                      <a:blip r:embed="rId7"/>
                      <a:stretch>
                        <a:fillRect/>
                      </a:stretch>
                    </p:blipFill>
                    <p:spPr>
                      <a:xfrm>
                        <a:off x="4453512" y="2498546"/>
                        <a:ext cx="266700" cy="2921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452242" y="2930489"/>
          <a:ext cx="254000" cy="292100"/>
        </p:xfrm>
        <a:graphic>
          <a:graphicData uri="http://schemas.openxmlformats.org/presentationml/2006/ole">
            <mc:AlternateContent xmlns:mc="http://schemas.openxmlformats.org/markup-compatibility/2006">
              <mc:Choice xmlns:v="urn:schemas-microsoft-com:vml" Requires="v">
                <p:oleObj spid="_x0000_s20569" name="Equation" r:id="rId8" imgW="6096000" imgH="7010400" progId="Equation.DSMT4">
                  <p:embed/>
                </p:oleObj>
              </mc:Choice>
              <mc:Fallback>
                <p:oleObj name="Equation" r:id="rId8" imgW="6096000" imgH="7010400" progId="Equation.DSMT4">
                  <p:embed/>
                  <p:pic>
                    <p:nvPicPr>
                      <p:cNvPr id="0" name="对象 9"/>
                      <p:cNvPicPr/>
                      <p:nvPr/>
                    </p:nvPicPr>
                    <p:blipFill>
                      <a:blip r:embed="rId9"/>
                      <a:stretch>
                        <a:fillRect/>
                      </a:stretch>
                    </p:blipFill>
                    <p:spPr>
                      <a:xfrm>
                        <a:off x="4452242" y="2930489"/>
                        <a:ext cx="254000" cy="2921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4440812" y="3334755"/>
          <a:ext cx="266700" cy="292100"/>
        </p:xfrm>
        <a:graphic>
          <a:graphicData uri="http://schemas.openxmlformats.org/presentationml/2006/ole">
            <mc:AlternateContent xmlns:mc="http://schemas.openxmlformats.org/markup-compatibility/2006">
              <mc:Choice xmlns:v="urn:schemas-microsoft-com:vml" Requires="v">
                <p:oleObj spid="_x0000_s20570" name="Equation" r:id="rId10" imgW="6400800" imgH="7010400" progId="Equation.DSMT4">
                  <p:embed/>
                </p:oleObj>
              </mc:Choice>
              <mc:Fallback>
                <p:oleObj name="Equation" r:id="rId10" imgW="6400800" imgH="7010400" progId="Equation.DSMT4">
                  <p:embed/>
                  <p:pic>
                    <p:nvPicPr>
                      <p:cNvPr id="0" name="对象 14"/>
                      <p:cNvPicPr/>
                      <p:nvPr/>
                    </p:nvPicPr>
                    <p:blipFill>
                      <a:blip r:embed="rId11"/>
                      <a:stretch>
                        <a:fillRect/>
                      </a:stretch>
                    </p:blipFill>
                    <p:spPr>
                      <a:xfrm>
                        <a:off x="4440812" y="3334755"/>
                        <a:ext cx="266700" cy="2921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440865" y="3721810"/>
          <a:ext cx="279400" cy="292100"/>
        </p:xfrm>
        <a:graphic>
          <a:graphicData uri="http://schemas.openxmlformats.org/presentationml/2006/ole">
            <mc:AlternateContent xmlns:mc="http://schemas.openxmlformats.org/markup-compatibility/2006">
              <mc:Choice xmlns:v="urn:schemas-microsoft-com:vml" Requires="v">
                <p:oleObj spid="_x0000_s20571" name="Equation" r:id="rId12" imgW="6705600" imgH="7010400" progId="Equation.DSMT4">
                  <p:embed/>
                </p:oleObj>
              </mc:Choice>
              <mc:Fallback>
                <p:oleObj name="Equation" r:id="rId12" imgW="6705600" imgH="7010400" progId="Equation.DSMT4">
                  <p:embed/>
                  <p:pic>
                    <p:nvPicPr>
                      <p:cNvPr id="0" name="对象 15"/>
                      <p:cNvPicPr/>
                      <p:nvPr/>
                    </p:nvPicPr>
                    <p:blipFill>
                      <a:blip r:embed="rId13"/>
                      <a:stretch>
                        <a:fillRect/>
                      </a:stretch>
                    </p:blipFill>
                    <p:spPr>
                      <a:xfrm>
                        <a:off x="4440865" y="3721810"/>
                        <a:ext cx="279400" cy="2921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426789" y="4132655"/>
          <a:ext cx="279400" cy="292100"/>
        </p:xfrm>
        <a:graphic>
          <a:graphicData uri="http://schemas.openxmlformats.org/presentationml/2006/ole">
            <mc:AlternateContent xmlns:mc="http://schemas.openxmlformats.org/markup-compatibility/2006">
              <mc:Choice xmlns:v="urn:schemas-microsoft-com:vml" Requires="v">
                <p:oleObj spid="_x0000_s20572" name="Equation" r:id="rId14" imgW="6705600" imgH="7010400" progId="Equation.DSMT4">
                  <p:embed/>
                </p:oleObj>
              </mc:Choice>
              <mc:Fallback>
                <p:oleObj name="Equation" r:id="rId14" imgW="6705600" imgH="7010400" progId="Equation.DSMT4">
                  <p:embed/>
                  <p:pic>
                    <p:nvPicPr>
                      <p:cNvPr id="0" name="对象 16"/>
                      <p:cNvPicPr/>
                      <p:nvPr/>
                    </p:nvPicPr>
                    <p:blipFill>
                      <a:blip r:embed="rId15"/>
                      <a:stretch>
                        <a:fillRect/>
                      </a:stretch>
                    </p:blipFill>
                    <p:spPr>
                      <a:xfrm>
                        <a:off x="4426789" y="4132655"/>
                        <a:ext cx="279400" cy="292100"/>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4402712" y="4568943"/>
          <a:ext cx="368300" cy="292100"/>
        </p:xfrm>
        <a:graphic>
          <a:graphicData uri="http://schemas.openxmlformats.org/presentationml/2006/ole">
            <mc:AlternateContent xmlns:mc="http://schemas.openxmlformats.org/markup-compatibility/2006">
              <mc:Choice xmlns:v="urn:schemas-microsoft-com:vml" Requires="v">
                <p:oleObj spid="_x0000_s20573" name="Equation" r:id="rId16" imgW="8839200" imgH="7010400" progId="Equation.DSMT4">
                  <p:embed/>
                </p:oleObj>
              </mc:Choice>
              <mc:Fallback>
                <p:oleObj name="Equation" r:id="rId16" imgW="8839200" imgH="7010400" progId="Equation.DSMT4">
                  <p:embed/>
                  <p:pic>
                    <p:nvPicPr>
                      <p:cNvPr id="0" name="对象 31"/>
                      <p:cNvPicPr/>
                      <p:nvPr/>
                    </p:nvPicPr>
                    <p:blipFill>
                      <a:blip r:embed="rId17"/>
                      <a:stretch>
                        <a:fillRect/>
                      </a:stretch>
                    </p:blipFill>
                    <p:spPr>
                      <a:xfrm>
                        <a:off x="4402712" y="4568943"/>
                        <a:ext cx="368300" cy="292100"/>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4433827" y="4966859"/>
          <a:ext cx="368300" cy="292100"/>
        </p:xfrm>
        <a:graphic>
          <a:graphicData uri="http://schemas.openxmlformats.org/presentationml/2006/ole">
            <mc:AlternateContent xmlns:mc="http://schemas.openxmlformats.org/markup-compatibility/2006">
              <mc:Choice xmlns:v="urn:schemas-microsoft-com:vml" Requires="v">
                <p:oleObj spid="_x0000_s20574" name="Equation" r:id="rId18" imgW="8839200" imgH="7010400" progId="Equation.DSMT4">
                  <p:embed/>
                </p:oleObj>
              </mc:Choice>
              <mc:Fallback>
                <p:oleObj name="Equation" r:id="rId18" imgW="8839200" imgH="7010400" progId="Equation.DSMT4">
                  <p:embed/>
                  <p:pic>
                    <p:nvPicPr>
                      <p:cNvPr id="0" name="对象 35"/>
                      <p:cNvPicPr/>
                      <p:nvPr/>
                    </p:nvPicPr>
                    <p:blipFill>
                      <a:blip r:embed="rId19"/>
                      <a:stretch>
                        <a:fillRect/>
                      </a:stretch>
                    </p:blipFill>
                    <p:spPr>
                      <a:xfrm>
                        <a:off x="4433827" y="4966859"/>
                        <a:ext cx="368300" cy="292100"/>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4490289" y="5402865"/>
          <a:ext cx="190500" cy="215900"/>
        </p:xfrm>
        <a:graphic>
          <a:graphicData uri="http://schemas.openxmlformats.org/presentationml/2006/ole">
            <mc:AlternateContent xmlns:mc="http://schemas.openxmlformats.org/markup-compatibility/2006">
              <mc:Choice xmlns:v="urn:schemas-microsoft-com:vml" Requires="v">
                <p:oleObj spid="_x0000_s20575" name="Equation" r:id="rId20" imgW="4572000" imgH="5181600" progId="Equation.DSMT4">
                  <p:embed/>
                </p:oleObj>
              </mc:Choice>
              <mc:Fallback>
                <p:oleObj name="Equation" r:id="rId20" imgW="4572000" imgH="5181600" progId="Equation.DSMT4">
                  <p:embed/>
                  <p:pic>
                    <p:nvPicPr>
                      <p:cNvPr id="0" name="对象 36"/>
                      <p:cNvPicPr/>
                      <p:nvPr/>
                    </p:nvPicPr>
                    <p:blipFill>
                      <a:blip r:embed="rId21"/>
                      <a:stretch>
                        <a:fillRect/>
                      </a:stretch>
                    </p:blipFill>
                    <p:spPr>
                      <a:xfrm>
                        <a:off x="4490289" y="5402865"/>
                        <a:ext cx="190500" cy="215900"/>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4537861" y="5804894"/>
          <a:ext cx="215900" cy="292100"/>
        </p:xfrm>
        <a:graphic>
          <a:graphicData uri="http://schemas.openxmlformats.org/presentationml/2006/ole">
            <mc:AlternateContent xmlns:mc="http://schemas.openxmlformats.org/markup-compatibility/2006">
              <mc:Choice xmlns:v="urn:schemas-microsoft-com:vml" Requires="v">
                <p:oleObj spid="_x0000_s20576" name="Equation" r:id="rId22" imgW="5181600" imgH="7010400" progId="Equation.DSMT4">
                  <p:embed/>
                </p:oleObj>
              </mc:Choice>
              <mc:Fallback>
                <p:oleObj name="Equation" r:id="rId22" imgW="5181600" imgH="7010400" progId="Equation.DSMT4">
                  <p:embed/>
                  <p:pic>
                    <p:nvPicPr>
                      <p:cNvPr id="0" name="对象 37"/>
                      <p:cNvPicPr/>
                      <p:nvPr/>
                    </p:nvPicPr>
                    <p:blipFill>
                      <a:blip r:embed="rId23"/>
                      <a:stretch>
                        <a:fillRect/>
                      </a:stretch>
                    </p:blipFill>
                    <p:spPr>
                      <a:xfrm>
                        <a:off x="4537861" y="5804894"/>
                        <a:ext cx="215900" cy="292100"/>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4524050" y="6212483"/>
          <a:ext cx="228600" cy="292100"/>
        </p:xfrm>
        <a:graphic>
          <a:graphicData uri="http://schemas.openxmlformats.org/presentationml/2006/ole">
            <mc:AlternateContent xmlns:mc="http://schemas.openxmlformats.org/markup-compatibility/2006">
              <mc:Choice xmlns:v="urn:schemas-microsoft-com:vml" Requires="v">
                <p:oleObj spid="_x0000_s20577" name="Equation" r:id="rId24" imgW="5486400" imgH="7010400" progId="Equation.DSMT4">
                  <p:embed/>
                </p:oleObj>
              </mc:Choice>
              <mc:Fallback>
                <p:oleObj name="Equation" r:id="rId24" imgW="5486400" imgH="7010400" progId="Equation.DSMT4">
                  <p:embed/>
                  <p:pic>
                    <p:nvPicPr>
                      <p:cNvPr id="0" name="对象 38"/>
                      <p:cNvPicPr/>
                      <p:nvPr/>
                    </p:nvPicPr>
                    <p:blipFill>
                      <a:blip r:embed="rId25"/>
                      <a:stretch>
                        <a:fillRect/>
                      </a:stretch>
                    </p:blipFill>
                    <p:spPr>
                      <a:xfrm>
                        <a:off x="4524050" y="6212483"/>
                        <a:ext cx="228600" cy="292100"/>
                      </a:xfrm>
                      <a:prstGeom prst="rect">
                        <a:avLst/>
                      </a:prstGeom>
                    </p:spPr>
                  </p:pic>
                </p:oleObj>
              </mc:Fallback>
            </mc:AlternateContent>
          </a:graphicData>
        </a:graphic>
      </p:graphicFrame>
      <p:sp>
        <p:nvSpPr>
          <p:cNvPr id="18" name="矩形 17"/>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0" name="平行四边形 19"/>
          <p:cNvSpPr/>
          <p:nvPr/>
        </p:nvSpPr>
        <p:spPr>
          <a:xfrm>
            <a:off x="191344" y="683645"/>
            <a:ext cx="3168352"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WUT-SPLINE</a:t>
            </a:r>
            <a:endParaRPr lang="zh-CN"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标题 2"/>
          <p:cNvSpPr txBox="1"/>
          <p:nvPr/>
        </p:nvSpPr>
        <p:spPr>
          <a:xfrm>
            <a:off x="119336" y="692696"/>
            <a:ext cx="11775989" cy="514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marR="0" lvl="0" indent="-457200" algn="l" defTabSz="914400" rtl="0" eaLnBrk="1" fontAlgn="auto" latinLnBrk="0" hangingPunct="1">
              <a:lnSpc>
                <a:spcPct val="90000"/>
              </a:lnSpc>
              <a:spcBef>
                <a:spcPct val="0"/>
              </a:spcBef>
              <a:spcAft>
                <a:spcPts val="0"/>
              </a:spcAft>
              <a:buClrTx/>
              <a:buSzTx/>
              <a:buFont typeface="Wingdings" panose="05000000000000000000" pitchFamily="2" charset="2"/>
              <a:buChar char="Ø"/>
              <a:defRPr/>
            </a:pPr>
            <a:endPar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j-cs"/>
            </a:endParaRPr>
          </a:p>
        </p:txBody>
      </p:sp>
      <p:pic>
        <p:nvPicPr>
          <p:cNvPr id="4" name="图片 3" descr="WeChat_20250707213256"/>
          <p:cNvPicPr>
            <a:picLocks noChangeAspect="1"/>
          </p:cNvPicPr>
          <p:nvPr/>
        </p:nvPicPr>
        <p:blipFill>
          <a:blip r:embed="rId1"/>
          <a:stretch>
            <a:fillRect/>
          </a:stretch>
        </p:blipFill>
        <p:spPr>
          <a:xfrm>
            <a:off x="731428" y="1328696"/>
            <a:ext cx="10729143" cy="5442712"/>
          </a:xfrm>
          <a:prstGeom prst="rect">
            <a:avLst/>
          </a:prstGeom>
        </p:spPr>
      </p:pic>
      <p:sp>
        <p:nvSpPr>
          <p:cNvPr id="9" name="矩形 8"/>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11" name="平行四边形 10"/>
          <p:cNvSpPr/>
          <p:nvPr/>
        </p:nvSpPr>
        <p:spPr>
          <a:xfrm>
            <a:off x="191344" y="683645"/>
            <a:ext cx="799288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Parametric modeling framework based on the  WUT-SPLINE</a:t>
            </a:r>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78BD94E-2287-4497-9C85-ECDE3A58074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平行四边形 2"/>
          <p:cNvSpPr/>
          <p:nvPr/>
        </p:nvSpPr>
        <p:spPr>
          <a:xfrm>
            <a:off x="47834" y="683645"/>
            <a:ext cx="331236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TextBox 1"/>
          <p:cNvSpPr txBox="1">
            <a:spLocks noChangeArrowheads="1"/>
          </p:cNvSpPr>
          <p:nvPr/>
        </p:nvSpPr>
        <p:spPr bwMode="auto">
          <a:xfrm>
            <a:off x="178988" y="693303"/>
            <a:ext cx="84005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buClr>
                <a:srgbClr val="FF0000"/>
              </a:buClr>
              <a:buFont typeface="Wingdings" panose="05000000000000000000" pitchFamily="2" charset="2"/>
              <a:buChar char="n"/>
              <a:defRPr/>
            </a:pPr>
            <a:r>
              <a:rPr lang="en-US" altLang="zh-CN" b="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Construction of the ship form line knowledge base</a:t>
            </a:r>
            <a:endParaRPr kumimoji="0" lang="zh-CN" altLang="en-US"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8" name="直接连接符 7"/>
          <p:cNvCxnSpPr/>
          <p:nvPr/>
        </p:nvCxnSpPr>
        <p:spPr>
          <a:xfrm>
            <a:off x="3287688" y="1149397"/>
            <a:ext cx="0" cy="5499520"/>
          </a:xfrm>
          <a:prstGeom prst="line">
            <a:avLst/>
          </a:prstGeom>
          <a:ln w="19050">
            <a:solidFill>
              <a:srgbClr val="92D050"/>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78988" y="1268646"/>
            <a:ext cx="2994046" cy="1949723"/>
          </a:xfrm>
          <a:prstGeom prst="roundRect">
            <a:avLst>
              <a:gd name="adj" fmla="val 6342"/>
            </a:avLst>
          </a:prstGeom>
          <a:noFill/>
          <a:ln w="28575">
            <a:noFill/>
            <a:prstDash val="dash"/>
          </a:ln>
        </p:spPr>
        <p:txBody>
          <a:bodyPr wrap="square" rtlCol="0">
            <a:spAutoFit/>
          </a:bodyPr>
          <a:lstStyle/>
          <a:p>
            <a:pPr lvl="0">
              <a:lnSpc>
                <a:spcPct val="150000"/>
              </a:lnSpc>
              <a:defRPr/>
            </a:pPr>
            <a:r>
              <a:rPr lang="en-US" altLang="zh-CN" sz="1600" b="1"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(1) Collect data on ship line design (such as ship practical design manuals, relevant literature, actual ship data, and line knowledge maps, etc.)</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5" name="文本框 14"/>
          <p:cNvSpPr txBox="1"/>
          <p:nvPr/>
        </p:nvSpPr>
        <p:spPr>
          <a:xfrm>
            <a:off x="178988" y="3796750"/>
            <a:ext cx="3114206" cy="2709818"/>
          </a:xfrm>
          <a:prstGeom prst="roundRect">
            <a:avLst>
              <a:gd name="adj" fmla="val 6342"/>
            </a:avLst>
          </a:prstGeom>
          <a:noFill/>
          <a:ln w="28575">
            <a:noFill/>
            <a:prstDash val="dash"/>
          </a:ln>
        </p:spPr>
        <p:txBody>
          <a:bodyPr wrap="square" rtlCol="0">
            <a:spAutoFit/>
          </a:bodyPr>
          <a:lstStyle>
            <a:defPPr>
              <a:defRPr lang="en-US"/>
            </a:defPPr>
            <a:lvl1pPr lvl="0">
              <a:lnSpc>
                <a:spcPct val="150000"/>
              </a:lnSpc>
              <a:defRPr sz="1600" b="1">
                <a:solidFill>
                  <a:prstClr val="black"/>
                </a:solidFill>
                <a:latin typeface="Times New Roman" panose="02020603050405020304" pitchFamily="18" charset="0"/>
                <a:ea typeface="微软雅黑" panose="020B0503020204020204" pitchFamily="34" charset="-122"/>
              </a:defRPr>
            </a:lvl1pPr>
          </a:lstStyle>
          <a:p>
            <a:r>
              <a:rPr lang="en-US" altLang="zh-CN" dirty="0">
                <a:sym typeface="Times New Roman" panose="02020603050405020304" pitchFamily="18" charset="0"/>
              </a:rPr>
              <a:t>(2) Construction of the ship profile knowledge base</a:t>
            </a:r>
            <a:endParaRPr lang="en-US" altLang="zh-CN" dirty="0">
              <a:sym typeface="Times New Roman" panose="02020603050405020304" pitchFamily="18" charset="0"/>
            </a:endParaRPr>
          </a:p>
          <a:p>
            <a:r>
              <a:rPr lang="en-US" altLang="zh-CN" dirty="0">
                <a:sym typeface="Times New Roman" panose="02020603050405020304" pitchFamily="18" charset="0"/>
              </a:rPr>
              <a:t>① Mother model instance database</a:t>
            </a:r>
            <a:endParaRPr lang="en-US" altLang="zh-CN" dirty="0">
              <a:sym typeface="Times New Roman" panose="02020603050405020304" pitchFamily="18" charset="0"/>
            </a:endParaRPr>
          </a:p>
          <a:p>
            <a:r>
              <a:rPr lang="en-US" altLang="zh-CN" dirty="0">
                <a:sym typeface="Times New Roman" panose="02020603050405020304" pitchFamily="18" charset="0"/>
              </a:rPr>
              <a:t>② Design rule database</a:t>
            </a:r>
            <a:endParaRPr lang="en-US" altLang="zh-CN" dirty="0">
              <a:sym typeface="Times New Roman" panose="02020603050405020304" pitchFamily="18" charset="0"/>
            </a:endParaRPr>
          </a:p>
          <a:p>
            <a:r>
              <a:rPr lang="en-US" altLang="zh-CN" dirty="0">
                <a:sym typeface="Times New Roman" panose="02020603050405020304" pitchFamily="18" charset="0"/>
              </a:rPr>
              <a:t>③ Hull form knowledge graph database</a:t>
            </a:r>
            <a:endParaRPr lang="en-US" altLang="zh-CN" dirty="0">
              <a:sym typeface="Times New Roman" panose="02020603050405020304" pitchFamily="18" charset="0"/>
            </a:endParaRPr>
          </a:p>
        </p:txBody>
      </p:sp>
      <p:sp>
        <p:nvSpPr>
          <p:cNvPr id="16" name="矩形 15"/>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pic>
        <p:nvPicPr>
          <p:cNvPr id="17" name="图片 1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38864" y="785431"/>
            <a:ext cx="8459204" cy="575348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3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378BD94E-2287-4497-9C85-ECDE3A58074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7" name="文本框 6"/>
          <p:cNvSpPr txBox="1"/>
          <p:nvPr/>
        </p:nvSpPr>
        <p:spPr>
          <a:xfrm>
            <a:off x="310066" y="1340584"/>
            <a:ext cx="5425894" cy="1949723"/>
          </a:xfrm>
          <a:prstGeom prst="roundRect">
            <a:avLst>
              <a:gd name="adj" fmla="val 6342"/>
            </a:avLst>
          </a:prstGeom>
          <a:noFill/>
          <a:ln w="28575">
            <a:noFill/>
            <a:prstDash val="dash"/>
          </a:ln>
        </p:spPr>
        <p:txBody>
          <a:bodyPr wrap="square" rtlCol="0">
            <a:spAutoFit/>
          </a:bodyPr>
          <a:lstStyle/>
          <a:p>
            <a:pPr lvl="0">
              <a:lnSpc>
                <a:spcPct val="150000"/>
              </a:lnSpc>
              <a:defRPr/>
            </a:pPr>
            <a:r>
              <a:rPr lang="en-US" altLang="zh-CN" sz="16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1.Instance-based</a:t>
            </a:r>
            <a:r>
              <a:rPr lang="en-US" altLang="zh-CN" sz="1600" b="1"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 reasoning method: By designing a distance between the requirements and the characteristic values of each instance to represent the degree of similarity, similar ship types can be retrieved. The commonly used algorithm is </a:t>
            </a:r>
            <a:r>
              <a:rPr lang="en-US" altLang="zh-CN" sz="1600" b="1" dirty="0">
                <a:solidFill>
                  <a:srgbClr val="FF0000"/>
                </a:solidFill>
                <a:latin typeface="Times New Roman" panose="02020603050405020304" pitchFamily="18" charset="0"/>
                <a:ea typeface="微软雅黑" panose="020B0503020204020204" pitchFamily="34" charset="-122"/>
                <a:sym typeface="Times New Roman" panose="02020603050405020304" pitchFamily="18" charset="0"/>
              </a:rPr>
              <a:t>the nearest neighbor search algorithm</a:t>
            </a:r>
            <a:r>
              <a:rPr lang="en-US" altLang="zh-CN" sz="1600" b="1" dirty="0">
                <a:solidFill>
                  <a:prstClr val="black"/>
                </a:solidFill>
                <a:latin typeface="Times New Roman" panose="02020603050405020304" pitchFamily="18" charset="0"/>
                <a:ea typeface="微软雅黑" panose="020B0503020204020204" pitchFamily="34" charset="-122"/>
                <a:sym typeface="Times New Roman" panose="02020603050405020304" pitchFamily="18" charset="0"/>
              </a:rPr>
              <a:t>.</a:t>
            </a:r>
            <a:endPar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8" name="文本框 7"/>
          <p:cNvSpPr txBox="1"/>
          <p:nvPr/>
        </p:nvSpPr>
        <p:spPr>
          <a:xfrm>
            <a:off x="348551" y="3567694"/>
            <a:ext cx="5425894" cy="1237134"/>
          </a:xfrm>
          <a:prstGeom prst="roundRect">
            <a:avLst>
              <a:gd name="adj" fmla="val 6342"/>
            </a:avLst>
          </a:prstGeom>
          <a:noFill/>
          <a:ln w="28575">
            <a:noFill/>
            <a:prstDash val="dash"/>
          </a:ln>
        </p:spPr>
        <p:txBody>
          <a:bodyPr wrap="square" rtlCol="0">
            <a:spAutoFit/>
          </a:bodyPr>
          <a:lstStyle>
            <a:defPPr>
              <a:defRPr lang="en-US"/>
            </a:defPPr>
            <a:lvl1pPr lvl="0">
              <a:lnSpc>
                <a:spcPct val="150000"/>
              </a:lnSpc>
              <a:defRPr sz="1600" b="1">
                <a:solidFill>
                  <a:prstClr val="black"/>
                </a:solidFill>
                <a:latin typeface="Times New Roman" panose="02020603050405020304" pitchFamily="18" charset="0"/>
                <a:ea typeface="微软雅黑" panose="020B0503020204020204" pitchFamily="34" charset="-122"/>
              </a:defRPr>
            </a:lvl1pPr>
          </a:lstStyle>
          <a:p>
            <a:r>
              <a:rPr lang="en-US" altLang="zh-CN" dirty="0">
                <a:solidFill>
                  <a:srgbClr val="FF0000"/>
                </a:solidFill>
                <a:sym typeface="Times New Roman" panose="02020603050405020304" pitchFamily="18" charset="0"/>
              </a:rPr>
              <a:t>2.Rule-based </a:t>
            </a:r>
            <a:r>
              <a:rPr lang="en-US" altLang="zh-CN" dirty="0">
                <a:sym typeface="Times New Roman" panose="02020603050405020304" pitchFamily="18" charset="0"/>
              </a:rPr>
              <a:t>knowledge reasoning: Determine the validity of the rule premises. If the conditions are met, output the corresponding rule conclusion.</a:t>
            </a:r>
            <a:endParaRPr lang="en-US" altLang="zh-CN" dirty="0">
              <a:sym typeface="Times New Roman" panose="02020603050405020304" pitchFamily="18" charset="0"/>
            </a:endParaRPr>
          </a:p>
        </p:txBody>
      </p:sp>
      <p:sp>
        <p:nvSpPr>
          <p:cNvPr id="9" name="文本框 8"/>
          <p:cNvSpPr txBox="1"/>
          <p:nvPr/>
        </p:nvSpPr>
        <p:spPr>
          <a:xfrm>
            <a:off x="392726" y="5079015"/>
            <a:ext cx="5343234" cy="1189628"/>
          </a:xfrm>
          <a:prstGeom prst="roundRect">
            <a:avLst>
              <a:gd name="adj" fmla="val 6342"/>
            </a:avLst>
          </a:prstGeom>
          <a:noFill/>
          <a:ln w="28575">
            <a:noFill/>
            <a:prstDash val="dash"/>
          </a:ln>
        </p:spPr>
        <p:txBody>
          <a:bodyPr wrap="square" rtlCol="0">
            <a:spAutoFit/>
          </a:bodyPr>
          <a:lstStyle>
            <a:defPPr>
              <a:defRPr lang="en-US"/>
            </a:defPPr>
            <a:lvl1pPr lvl="0">
              <a:lnSpc>
                <a:spcPct val="150000"/>
              </a:lnSpc>
              <a:defRPr sz="1600" b="1">
                <a:solidFill>
                  <a:srgbClr val="FF0000"/>
                </a:solidFill>
                <a:latin typeface="Times New Roman" panose="02020603050405020304" pitchFamily="18" charset="0"/>
                <a:ea typeface="微软雅黑" panose="020B0503020204020204" pitchFamily="34" charset="-122"/>
              </a:defRPr>
            </a:lvl1pPr>
          </a:lstStyle>
          <a:p>
            <a:r>
              <a:rPr lang="en-US" altLang="zh-CN" dirty="0">
                <a:sym typeface="Times New Roman" panose="02020603050405020304" pitchFamily="18" charset="0"/>
              </a:rPr>
              <a:t>3.Model-based </a:t>
            </a:r>
            <a:r>
              <a:rPr lang="en-US" altLang="zh-CN" dirty="0">
                <a:solidFill>
                  <a:schemeClr val="tx1"/>
                </a:solidFill>
                <a:sym typeface="Times New Roman" panose="02020603050405020304" pitchFamily="18" charset="0"/>
              </a:rPr>
              <a:t>knowledge reasoning: Construct a neural network model that reflects the parameter variation patterns of the knowledge graph.</a:t>
            </a:r>
            <a:endParaRPr lang="en-US" altLang="zh-CN" dirty="0">
              <a:solidFill>
                <a:schemeClr val="tx1"/>
              </a:solidFill>
              <a:sym typeface="Times New Roman" panose="02020603050405020304" pitchFamily="18" charset="0"/>
            </a:endParaRPr>
          </a:p>
        </p:txBody>
      </p:sp>
      <p:sp>
        <p:nvSpPr>
          <p:cNvPr id="4" name="Rectangle 2"/>
          <p:cNvSpPr>
            <a:spLocks noChangeArrowheads="1"/>
          </p:cNvSpPr>
          <p:nvPr/>
        </p:nvSpPr>
        <p:spPr bwMode="auto">
          <a:xfrm>
            <a:off x="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13" name="平行四边形 12"/>
          <p:cNvSpPr/>
          <p:nvPr/>
        </p:nvSpPr>
        <p:spPr>
          <a:xfrm>
            <a:off x="191344" y="683645"/>
            <a:ext cx="331236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4" name="TextBox 1"/>
          <p:cNvSpPr txBox="1">
            <a:spLocks noChangeArrowheads="1"/>
          </p:cNvSpPr>
          <p:nvPr/>
        </p:nvSpPr>
        <p:spPr bwMode="auto">
          <a:xfrm>
            <a:off x="392726" y="687732"/>
            <a:ext cx="74314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lvl="0">
              <a:buClr>
                <a:srgbClr val="FF0000"/>
              </a:buClr>
              <a:buFont typeface="Wingdings" panose="05000000000000000000" pitchFamily="2" charset="2"/>
              <a:buChar char="n"/>
              <a:defRPr b="1">
                <a:solidFill>
                  <a:prstClr val="black"/>
                </a:solidFill>
                <a:latin typeface="Times New Roman" panose="02020603050405020304" pitchFamily="18" charset="0"/>
                <a:ea typeface="微软雅黑" panose="020B0503020204020204" pitchFamily="34" charset="-122"/>
                <a:cs typeface="Times New Roman" panose="02020603050405020304" pitchFamily="18" charset="0"/>
              </a:defRPr>
            </a:lvl1pPr>
            <a:lvl2pPr marL="742950" indent="-285750">
              <a:defRPr>
                <a:latin typeface="Calibri" panose="020F0502020204030204" charset="0"/>
                <a:ea typeface="宋体" panose="02010600030101010101" pitchFamily="2" charset="-122"/>
              </a:defRPr>
            </a:lvl2pPr>
            <a:lvl3pPr marL="1143000" indent="-228600">
              <a:defRPr>
                <a:latin typeface="Calibri" panose="020F0502020204030204" charset="0"/>
                <a:ea typeface="宋体" panose="02010600030101010101" pitchFamily="2" charset="-122"/>
              </a:defRPr>
            </a:lvl3pPr>
            <a:lvl4pPr marL="1600200" indent="-228600">
              <a:defRPr>
                <a:latin typeface="Calibri" panose="020F0502020204030204" charset="0"/>
                <a:ea typeface="宋体" panose="02010600030101010101" pitchFamily="2" charset="-122"/>
              </a:defRPr>
            </a:lvl4pPr>
            <a:lvl5pPr marL="2057400" indent="-228600">
              <a:defRPr>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charset="0"/>
                <a:ea typeface="宋体" panose="02010600030101010101" pitchFamily="2" charset="-122"/>
              </a:defRPr>
            </a:lvl9pPr>
          </a:lstStyle>
          <a:p>
            <a:r>
              <a:rPr lang="en-US" altLang="zh-CN" dirty="0"/>
              <a:t>The reasoning methods of each knowledge base</a:t>
            </a:r>
            <a:endParaRPr lang="zh-CN" altLang="en-US" dirty="0"/>
          </a:p>
        </p:txBody>
      </p:sp>
      <p:sp>
        <p:nvSpPr>
          <p:cNvPr id="5" name="文本框 4"/>
          <p:cNvSpPr txBox="1"/>
          <p:nvPr/>
        </p:nvSpPr>
        <p:spPr>
          <a:xfrm>
            <a:off x="6121256" y="6268643"/>
            <a:ext cx="4347680" cy="513131"/>
          </a:xfrm>
          <a:prstGeom prst="roundRect">
            <a:avLst>
              <a:gd name="adj" fmla="val 6342"/>
            </a:avLst>
          </a:prstGeom>
          <a:noFill/>
          <a:ln w="28575">
            <a:noFill/>
            <a:prstDash val="dash"/>
          </a:ln>
        </p:spPr>
        <p:txBody>
          <a:bodyPr wrap="square" rtlCol="0">
            <a:spAutoFit/>
          </a:bodyPr>
          <a:lstStyle/>
          <a:p>
            <a:pPr lvl="0">
              <a:lnSpc>
                <a:spcPct val="150000"/>
              </a:lnSpc>
              <a:defRPr/>
            </a:pPr>
            <a:r>
              <a:rPr lang="en-US" altLang="zh-CN" sz="20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Hybrid reasoning method</a:t>
            </a:r>
            <a:endPar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5" name="矩形 14"/>
          <p:cNvSpPr/>
          <p:nvPr/>
        </p:nvSpPr>
        <p:spPr>
          <a:xfrm>
            <a:off x="25687" y="109637"/>
            <a:ext cx="2536272" cy="461665"/>
          </a:xfrm>
          <a:prstGeom prst="rect">
            <a:avLst/>
          </a:prstGeom>
        </p:spPr>
        <p:txBody>
          <a:bodyPr wrap="none">
            <a:spAutoFit/>
          </a:bodyPr>
          <a:lstStyle/>
          <a:p>
            <a:pPr marL="342900" indent="-342900" algn="ctr" eaLnBrk="0" hangingPunct="0">
              <a:buFont typeface="Wingdings" panose="05000000000000000000" charset="0"/>
              <a:buChar char="Ø"/>
            </a:pPr>
            <a:r>
              <a:rPr lang="en-US" altLang="zh-CN"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rPr>
              <a:t>Key Modules</a:t>
            </a:r>
            <a:endParaRPr lang="zh-CN" altLang="en-US" sz="2400" b="1" kern="0" dirty="0">
              <a:solidFill>
                <a:prstClr val="white"/>
              </a:solidFill>
              <a:latin typeface="微软雅黑" panose="020B0503020204020204" pitchFamily="34" charset="-122"/>
              <a:ea typeface="微软雅黑" panose="020B0503020204020204" pitchFamily="34" charset="-122"/>
              <a:sym typeface="Times New Roman" panose="02020603050405020304" pitchFamily="18" charset="0"/>
            </a:endParaRPr>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68008" y="739694"/>
            <a:ext cx="5440680" cy="5715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endParaRPr lang="en-US" noProof="1"/>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AI Agents for Autonomous Hull Design</a:t>
            </a:r>
            <a:endParaRPr lang="en-US" sz="2600" noProof="1">
              <a:solidFill>
                <a:srgbClr val="FF0000"/>
              </a:solidFill>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Summary and Outlook</a:t>
            </a:r>
            <a:endParaRPr lang="en-US" sz="2600" noProof="1">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378710" y="78740"/>
            <a:ext cx="7289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panose="02020603050405020304"/>
                <a:ea typeface="微软雅黑" panose="020B0503020204020204" pitchFamily="34" charset="-122"/>
              </a:rPr>
              <a:t>AI Agents for Autonomous Hull Design</a:t>
            </a:r>
            <a:endParaRPr lang="en-US" sz="3600" noProof="1"/>
          </a:p>
        </p:txBody>
      </p:sp>
      <p:sp>
        <p:nvSpPr>
          <p:cNvPr id="6" name="intro-shape"/>
          <p:cNvSpPr/>
          <p:nvPr/>
        </p:nvSpPr>
        <p:spPr>
          <a:xfrm>
            <a:off x="299720" y="1366912"/>
            <a:ext cx="11588750" cy="1219200"/>
          </a:xfrm>
          <a:prstGeom prst="roundRect">
            <a:avLst>
              <a:gd name="adj" fmla="val 6342"/>
            </a:avLst>
          </a:prstGeom>
          <a:noFill/>
          <a:ln w="28575">
            <a:solidFill>
              <a:srgbClr val="000000"/>
            </a:solidFill>
            <a:prstDash val="dash"/>
          </a:ln>
        </p:spPr>
      </p:sp>
      <p:sp>
        <p:nvSpPr>
          <p:cNvPr id="7" name="intro-text"/>
          <p:cNvSpPr txBox="1"/>
          <p:nvPr/>
        </p:nvSpPr>
        <p:spPr>
          <a:xfrm>
            <a:off x="514350" y="1307629"/>
            <a:ext cx="11283950" cy="1329283"/>
          </a:xfrm>
          <a:prstGeom prst="rect">
            <a:avLst/>
          </a:prstGeom>
          <a:noFill/>
          <a:ln>
            <a:noFill/>
          </a:ln>
        </p:spPr>
        <p:txBody>
          <a:bodyPr wrap="square" lIns="0" tIns="0" rIns="0" bIns="0" rtlCol="0" anchor="ctr"/>
          <a:lstStyle/>
          <a:p>
            <a:pPr algn="just">
              <a:lnSpc>
                <a:spcPct val="150000"/>
              </a:lnSpc>
            </a:pPr>
            <a:r>
              <a:rPr lang="en-US" b="1" noProof="1">
                <a:solidFill>
                  <a:srgbClr val="000000"/>
                </a:solidFill>
                <a:latin typeface="Times New Roman" panose="02020603050405020304"/>
                <a:ea typeface="微软雅黑" panose="020B0503020204020204" pitchFamily="34" charset="-122"/>
              </a:rPr>
              <a:t>Large language models (LLMs) demonstrate strong </a:t>
            </a:r>
            <a:r>
              <a:rPr lang="en-US" b="1" noProof="1">
                <a:solidFill>
                  <a:srgbClr val="FF0000"/>
                </a:solidFill>
                <a:latin typeface="Times New Roman" panose="02020603050405020304"/>
                <a:ea typeface="微软雅黑" panose="020B0503020204020204" pitchFamily="34" charset="-122"/>
              </a:rPr>
              <a:t>natural language understanding, logical reasoning and task planning</a:t>
            </a:r>
            <a:r>
              <a:rPr lang="en-US" b="1" noProof="1">
                <a:solidFill>
                  <a:srgbClr val="000000"/>
                </a:solidFill>
                <a:latin typeface="Times New Roman" panose="02020603050405020304"/>
                <a:ea typeface="微软雅黑" panose="020B0503020204020204" pitchFamily="34" charset="-122"/>
              </a:rPr>
              <a:t> capabilities; LLM-centered AI Agents feature </a:t>
            </a:r>
            <a:r>
              <a:rPr lang="en-US" b="1" noProof="1">
                <a:solidFill>
                  <a:srgbClr val="FF0000"/>
                </a:solidFill>
                <a:latin typeface="Times New Roman" panose="02020603050405020304"/>
                <a:ea typeface="微软雅黑" panose="020B0503020204020204" pitchFamily="34" charset="-122"/>
              </a:rPr>
              <a:t>task decomposition, tool calling, memory learning and autonomous iteration</a:t>
            </a:r>
            <a:r>
              <a:rPr lang="en-US" b="1" noProof="1">
                <a:solidFill>
                  <a:srgbClr val="000000"/>
                </a:solidFill>
                <a:latin typeface="Times New Roman" panose="02020603050405020304"/>
                <a:ea typeface="微软雅黑" panose="020B0503020204020204" pitchFamily="34" charset="-122"/>
              </a:rPr>
              <a:t> and are reshaping intelligent workflows in industrial software and engineering design.</a:t>
            </a:r>
            <a:endParaRPr lang="en-US" noProof="1"/>
          </a:p>
        </p:txBody>
      </p:sp>
      <p:sp>
        <p:nvSpPr>
          <p:cNvPr id="8" name="card1-shape"/>
          <p:cNvSpPr/>
          <p:nvPr/>
        </p:nvSpPr>
        <p:spPr>
          <a:xfrm>
            <a:off x="381000" y="2794000"/>
            <a:ext cx="2730500" cy="2794000"/>
          </a:xfrm>
          <a:prstGeom prst="roundRect">
            <a:avLst>
              <a:gd name="adj" fmla="val 6342"/>
            </a:avLst>
          </a:prstGeom>
          <a:solidFill>
            <a:srgbClr val="EAF0FA"/>
          </a:solidFill>
          <a:ln w="12700">
            <a:solidFill>
              <a:srgbClr val="4472C4"/>
            </a:solidFill>
          </a:ln>
        </p:spPr>
      </p:sp>
      <p:sp>
        <p:nvSpPr>
          <p:cNvPr id="9" name="card1-icon"/>
          <p:cNvSpPr/>
          <p:nvPr/>
        </p:nvSpPr>
        <p:spPr>
          <a:xfrm>
            <a:off x="1365250" y="3048000"/>
            <a:ext cx="762000" cy="762000"/>
          </a:xfrm>
          <a:custGeom>
            <a:avLst/>
            <a:gdLst/>
            <a:ahLst/>
            <a:cxnLst/>
            <a:rect l="l" t="t" r="r" b="b"/>
            <a:pathLst>
              <a:path w="512" h="512">
                <a:moveTo>
                  <a:pt x="120" y="56"/>
                </a:moveTo>
                <a:cubicBezTo>
                  <a:pt x="120" y="25"/>
                  <a:pt x="145" y="0"/>
                  <a:pt x="176" y="0"/>
                </a:cubicBezTo>
                <a:lnTo>
                  <a:pt x="200" y="0"/>
                </a:lnTo>
                <a:cubicBezTo>
                  <a:pt x="218" y="0"/>
                  <a:pt x="232" y="14"/>
                  <a:pt x="232" y="32"/>
                </a:cubicBezTo>
                <a:lnTo>
                  <a:pt x="232" y="480"/>
                </a:lnTo>
                <a:cubicBezTo>
                  <a:pt x="232" y="498"/>
                  <a:pt x="218" y="512"/>
                  <a:pt x="200" y="512"/>
                </a:cubicBezTo>
                <a:lnTo>
                  <a:pt x="168" y="512"/>
                </a:lnTo>
                <a:cubicBezTo>
                  <a:pt x="138" y="512"/>
                  <a:pt x="113" y="492"/>
                  <a:pt x="106" y="464"/>
                </a:cubicBezTo>
                <a:cubicBezTo>
                  <a:pt x="105" y="464"/>
                  <a:pt x="105" y="464"/>
                  <a:pt x="104" y="464"/>
                </a:cubicBezTo>
                <a:cubicBezTo>
                  <a:pt x="60" y="464"/>
                  <a:pt x="24" y="428"/>
                  <a:pt x="24" y="384"/>
                </a:cubicBezTo>
                <a:cubicBezTo>
                  <a:pt x="24" y="366"/>
                  <a:pt x="30" y="349"/>
                  <a:pt x="40" y="336"/>
                </a:cubicBezTo>
                <a:cubicBezTo>
                  <a:pt x="21" y="321"/>
                  <a:pt x="8" y="298"/>
                  <a:pt x="8" y="272"/>
                </a:cubicBezTo>
                <a:cubicBezTo>
                  <a:pt x="8" y="241"/>
                  <a:pt x="26" y="214"/>
                  <a:pt x="51" y="201"/>
                </a:cubicBezTo>
                <a:cubicBezTo>
                  <a:pt x="44" y="189"/>
                  <a:pt x="40" y="175"/>
                  <a:pt x="40" y="160"/>
                </a:cubicBezTo>
                <a:cubicBezTo>
                  <a:pt x="40" y="116"/>
                  <a:pt x="76" y="80"/>
                  <a:pt x="120" y="80"/>
                </a:cubicBezTo>
                <a:lnTo>
                  <a:pt x="120" y="56"/>
                </a:lnTo>
                <a:close/>
                <a:moveTo>
                  <a:pt x="392" y="56"/>
                </a:moveTo>
                <a:lnTo>
                  <a:pt x="392" y="80"/>
                </a:lnTo>
                <a:cubicBezTo>
                  <a:pt x="436" y="80"/>
                  <a:pt x="472" y="116"/>
                  <a:pt x="472" y="160"/>
                </a:cubicBezTo>
                <a:cubicBezTo>
                  <a:pt x="472" y="175"/>
                  <a:pt x="468" y="189"/>
                  <a:pt x="461" y="201"/>
                </a:cubicBezTo>
                <a:cubicBezTo>
                  <a:pt x="487" y="214"/>
                  <a:pt x="504" y="241"/>
                  <a:pt x="504" y="272"/>
                </a:cubicBezTo>
                <a:cubicBezTo>
                  <a:pt x="504" y="298"/>
                  <a:pt x="491" y="321"/>
                  <a:pt x="472" y="336"/>
                </a:cubicBezTo>
                <a:cubicBezTo>
                  <a:pt x="482" y="349"/>
                  <a:pt x="488" y="366"/>
                  <a:pt x="488" y="384"/>
                </a:cubicBezTo>
                <a:cubicBezTo>
                  <a:pt x="488" y="428"/>
                  <a:pt x="452" y="464"/>
                  <a:pt x="408" y="464"/>
                </a:cubicBezTo>
                <a:cubicBezTo>
                  <a:pt x="407" y="464"/>
                  <a:pt x="407" y="464"/>
                  <a:pt x="406" y="464"/>
                </a:cubicBezTo>
                <a:cubicBezTo>
                  <a:pt x="399" y="492"/>
                  <a:pt x="374" y="512"/>
                  <a:pt x="344" y="512"/>
                </a:cubicBezTo>
                <a:lnTo>
                  <a:pt x="312" y="512"/>
                </a:lnTo>
                <a:cubicBezTo>
                  <a:pt x="294" y="512"/>
                  <a:pt x="280" y="498"/>
                  <a:pt x="280" y="480"/>
                </a:cubicBezTo>
                <a:lnTo>
                  <a:pt x="280" y="32"/>
                </a:lnTo>
                <a:cubicBezTo>
                  <a:pt x="280" y="14"/>
                  <a:pt x="294" y="0"/>
                  <a:pt x="312" y="0"/>
                </a:cubicBezTo>
                <a:lnTo>
                  <a:pt x="336" y="0"/>
                </a:lnTo>
                <a:cubicBezTo>
                  <a:pt x="367" y="0"/>
                  <a:pt x="392" y="25"/>
                  <a:pt x="392" y="56"/>
                </a:cubicBezTo>
                <a:close/>
              </a:path>
            </a:pathLst>
          </a:custGeom>
          <a:solidFill>
            <a:srgbClr val="002060"/>
          </a:solidFill>
          <a:ln>
            <a:noFill/>
          </a:ln>
        </p:spPr>
      </p:sp>
      <p:sp>
        <p:nvSpPr>
          <p:cNvPr id="10" name="card1-title"/>
          <p:cNvSpPr txBox="1"/>
          <p:nvPr/>
        </p:nvSpPr>
        <p:spPr>
          <a:xfrm>
            <a:off x="5080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panose="020B0503020204020204" pitchFamily="34" charset="-122"/>
                <a:ea typeface="微软雅黑" panose="020B0503020204020204" pitchFamily="34" charset="-122"/>
              </a:rPr>
              <a:t>Task Understanding &amp; Planning</a:t>
            </a:r>
            <a:endParaRPr lang="en-US" sz="1800" noProof="1"/>
          </a:p>
        </p:txBody>
      </p:sp>
      <p:sp>
        <p:nvSpPr>
          <p:cNvPr id="11" name="card1-desc"/>
          <p:cNvSpPr txBox="1"/>
          <p:nvPr/>
        </p:nvSpPr>
        <p:spPr>
          <a:xfrm>
            <a:off x="6858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Automatically parse natural-language design requirements into executable sub-task sequences</a:t>
            </a:r>
            <a:endParaRPr lang="en-US" sz="1400" noProof="1">
              <a:latin typeface="Times New Roman" panose="02020603050405020304" pitchFamily="18" charset="0"/>
              <a:cs typeface="Times New Roman" panose="02020603050405020304" pitchFamily="18" charset="0"/>
            </a:endParaRPr>
          </a:p>
        </p:txBody>
      </p:sp>
      <p:sp>
        <p:nvSpPr>
          <p:cNvPr id="12" name="card2-shape"/>
          <p:cNvSpPr/>
          <p:nvPr/>
        </p:nvSpPr>
        <p:spPr>
          <a:xfrm>
            <a:off x="3327400" y="2794000"/>
            <a:ext cx="2730500" cy="2794000"/>
          </a:xfrm>
          <a:prstGeom prst="roundRect">
            <a:avLst>
              <a:gd name="adj" fmla="val 6342"/>
            </a:avLst>
          </a:prstGeom>
          <a:solidFill>
            <a:srgbClr val="EAF0FA"/>
          </a:solidFill>
          <a:ln w="12700">
            <a:solidFill>
              <a:srgbClr val="4472C4"/>
            </a:solidFill>
          </a:ln>
        </p:spPr>
      </p:sp>
      <p:sp>
        <p:nvSpPr>
          <p:cNvPr id="13" name="card2-icon"/>
          <p:cNvSpPr/>
          <p:nvPr/>
        </p:nvSpPr>
        <p:spPr>
          <a:xfrm>
            <a:off x="4311650" y="3048000"/>
            <a:ext cx="762000" cy="762000"/>
          </a:xfrm>
          <a:custGeom>
            <a:avLst/>
            <a:gdLst/>
            <a:ahLst/>
            <a:cxnLst/>
            <a:rect l="l" t="t" r="r" b="b"/>
            <a:pathLst>
              <a:path w="576" h="512">
                <a:moveTo>
                  <a:pt x="71" y="-7"/>
                </a:moveTo>
                <a:cubicBezTo>
                  <a:pt x="76" y="-12"/>
                  <a:pt x="85" y="-13"/>
                  <a:pt x="91" y="-9"/>
                </a:cubicBezTo>
                <a:lnTo>
                  <a:pt x="210" y="71"/>
                </a:lnTo>
                <a:cubicBezTo>
                  <a:pt x="219" y="76"/>
                  <a:pt x="224" y="86"/>
                  <a:pt x="224" y="97"/>
                </a:cubicBezTo>
                <a:lnTo>
                  <a:pt x="224" y="147"/>
                </a:lnTo>
                <a:lnTo>
                  <a:pt x="315" y="238"/>
                </a:lnTo>
                <a:cubicBezTo>
                  <a:pt x="348" y="223"/>
                  <a:pt x="389" y="229"/>
                  <a:pt x="416" y="256"/>
                </a:cubicBezTo>
                <a:lnTo>
                  <a:pt x="542" y="382"/>
                </a:lnTo>
                <a:cubicBezTo>
                  <a:pt x="561" y="401"/>
                  <a:pt x="561" y="431"/>
                  <a:pt x="542" y="450"/>
                </a:cubicBezTo>
                <a:lnTo>
                  <a:pt x="482" y="510"/>
                </a:lnTo>
                <a:cubicBezTo>
                  <a:pt x="463" y="529"/>
                  <a:pt x="433" y="529"/>
                  <a:pt x="414" y="510"/>
                </a:cubicBezTo>
                <a:lnTo>
                  <a:pt x="288" y="384"/>
                </a:lnTo>
                <a:cubicBezTo>
                  <a:pt x="261" y="357"/>
                  <a:pt x="255" y="316"/>
                  <a:pt x="270" y="283"/>
                </a:cubicBezTo>
                <a:lnTo>
                  <a:pt x="179" y="192"/>
                </a:lnTo>
                <a:lnTo>
                  <a:pt x="129" y="192"/>
                </a:lnTo>
                <a:cubicBezTo>
                  <a:pt x="119" y="192"/>
                  <a:pt x="109" y="187"/>
                  <a:pt x="103" y="178"/>
                </a:cubicBezTo>
                <a:lnTo>
                  <a:pt x="23" y="59"/>
                </a:lnTo>
                <a:cubicBezTo>
                  <a:pt x="19" y="53"/>
                  <a:pt x="20" y="44"/>
                  <a:pt x="25" y="39"/>
                </a:cubicBezTo>
                <a:lnTo>
                  <a:pt x="71" y="-7"/>
                </a:lnTo>
                <a:close/>
              </a:path>
              <a:path w="576" h="512">
                <a:moveTo>
                  <a:pt x="216" y="297"/>
                </a:moveTo>
                <a:cubicBezTo>
                  <a:pt x="210" y="334"/>
                  <a:pt x="218" y="373"/>
                  <a:pt x="242" y="404"/>
                </a:cubicBezTo>
                <a:lnTo>
                  <a:pt x="147" y="499"/>
                </a:lnTo>
                <a:cubicBezTo>
                  <a:pt x="119" y="527"/>
                  <a:pt x="73" y="527"/>
                  <a:pt x="45" y="499"/>
                </a:cubicBezTo>
                <a:cubicBezTo>
                  <a:pt x="17" y="471"/>
                  <a:pt x="17" y="425"/>
                  <a:pt x="45" y="397"/>
                </a:cubicBezTo>
                <a:lnTo>
                  <a:pt x="181" y="262"/>
                </a:lnTo>
                <a:lnTo>
                  <a:pt x="216" y="297"/>
                </a:lnTo>
                <a:close/>
              </a:path>
              <a:path w="576" h="512">
                <a:moveTo>
                  <a:pt x="384" y="0"/>
                </a:moveTo>
                <a:cubicBezTo>
                  <a:pt x="404" y="0"/>
                  <a:pt x="424" y="4"/>
                  <a:pt x="441" y="11"/>
                </a:cubicBezTo>
                <a:cubicBezTo>
                  <a:pt x="451" y="14"/>
                  <a:pt x="453" y="27"/>
                  <a:pt x="446" y="35"/>
                </a:cubicBezTo>
                <a:lnTo>
                  <a:pt x="389" y="91"/>
                </a:lnTo>
                <a:cubicBezTo>
                  <a:pt x="386" y="94"/>
                  <a:pt x="384" y="98"/>
                  <a:pt x="384" y="103"/>
                </a:cubicBezTo>
                <a:lnTo>
                  <a:pt x="384" y="144"/>
                </a:lnTo>
                <a:cubicBezTo>
                  <a:pt x="384" y="153"/>
                  <a:pt x="391" y="160"/>
                  <a:pt x="400" y="160"/>
                </a:cubicBezTo>
                <a:lnTo>
                  <a:pt x="442" y="160"/>
                </a:lnTo>
                <a:cubicBezTo>
                  <a:pt x="446" y="160"/>
                  <a:pt x="450" y="158"/>
                  <a:pt x="453" y="155"/>
                </a:cubicBezTo>
                <a:lnTo>
                  <a:pt x="510" y="99"/>
                </a:lnTo>
                <a:cubicBezTo>
                  <a:pt x="517" y="91"/>
                  <a:pt x="530" y="93"/>
                  <a:pt x="534" y="103"/>
                </a:cubicBezTo>
                <a:cubicBezTo>
                  <a:pt x="540" y="121"/>
                  <a:pt x="544" y="140"/>
                  <a:pt x="544" y="160"/>
                </a:cubicBezTo>
                <a:cubicBezTo>
                  <a:pt x="544" y="203"/>
                  <a:pt x="527" y="242"/>
                  <a:pt x="499" y="271"/>
                </a:cubicBezTo>
                <a:lnTo>
                  <a:pt x="450" y="222"/>
                </a:lnTo>
                <a:cubicBezTo>
                  <a:pt x="417" y="189"/>
                  <a:pt x="372" y="176"/>
                  <a:pt x="329" y="184"/>
                </a:cubicBezTo>
                <a:lnTo>
                  <a:pt x="272" y="127"/>
                </a:lnTo>
                <a:lnTo>
                  <a:pt x="272" y="97"/>
                </a:lnTo>
                <a:lnTo>
                  <a:pt x="272" y="92"/>
                </a:lnTo>
                <a:cubicBezTo>
                  <a:pt x="271" y="80"/>
                  <a:pt x="268" y="68"/>
                  <a:pt x="261" y="57"/>
                </a:cubicBezTo>
                <a:cubicBezTo>
                  <a:pt x="291" y="22"/>
                  <a:pt x="335" y="0"/>
                  <a:pt x="384" y="0"/>
                </a:cubicBezTo>
                <a:close/>
              </a:path>
            </a:pathLst>
          </a:custGeom>
          <a:solidFill>
            <a:srgbClr val="002060"/>
          </a:solidFill>
          <a:ln>
            <a:noFill/>
          </a:ln>
        </p:spPr>
      </p:sp>
      <p:sp>
        <p:nvSpPr>
          <p:cNvPr id="14" name="card2-title"/>
          <p:cNvSpPr txBox="1"/>
          <p:nvPr/>
        </p:nvSpPr>
        <p:spPr>
          <a:xfrm>
            <a:off x="34544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panose="020B0503020204020204" pitchFamily="34" charset="-122"/>
                <a:ea typeface="微软雅黑" panose="020B0503020204020204" pitchFamily="34" charset="-122"/>
              </a:rPr>
              <a:t>Tool Calling</a:t>
            </a:r>
            <a:endParaRPr lang="en-US" sz="1800" noProof="1"/>
          </a:p>
        </p:txBody>
      </p:sp>
      <p:sp>
        <p:nvSpPr>
          <p:cNvPr id="15" name="card2-desc"/>
          <p:cNvSpPr txBox="1"/>
          <p:nvPr/>
        </p:nvSpPr>
        <p:spPr>
          <a:xfrm>
            <a:off x="36322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Autonomously call CAD modeling, CFD simulation and optimization tools</a:t>
            </a:r>
            <a:endParaRPr lang="en-US" sz="1400" noProof="1">
              <a:latin typeface="Times New Roman" panose="02020603050405020304" pitchFamily="18" charset="0"/>
              <a:cs typeface="Times New Roman" panose="02020603050405020304" pitchFamily="18" charset="0"/>
            </a:endParaRPr>
          </a:p>
        </p:txBody>
      </p:sp>
      <p:sp>
        <p:nvSpPr>
          <p:cNvPr id="16" name="card3-shape"/>
          <p:cNvSpPr/>
          <p:nvPr/>
        </p:nvSpPr>
        <p:spPr>
          <a:xfrm>
            <a:off x="6273800" y="2794000"/>
            <a:ext cx="2730500" cy="2794000"/>
          </a:xfrm>
          <a:prstGeom prst="roundRect">
            <a:avLst>
              <a:gd name="adj" fmla="val 6342"/>
            </a:avLst>
          </a:prstGeom>
          <a:solidFill>
            <a:srgbClr val="EAF0FA"/>
          </a:solidFill>
          <a:ln w="12700">
            <a:solidFill>
              <a:srgbClr val="4472C4"/>
            </a:solidFill>
          </a:ln>
        </p:spPr>
      </p:sp>
      <p:sp>
        <p:nvSpPr>
          <p:cNvPr id="17" name="card3-icon"/>
          <p:cNvSpPr/>
          <p:nvPr/>
        </p:nvSpPr>
        <p:spPr>
          <a:xfrm>
            <a:off x="7258050" y="3048000"/>
            <a:ext cx="762000" cy="762000"/>
          </a:xfrm>
          <a:custGeom>
            <a:avLst/>
            <a:gdLst/>
            <a:ahLst/>
            <a:cxnLst/>
            <a:rect l="l" t="t" r="r" b="b"/>
            <a:pathLst>
              <a:path w="448" h="512">
                <a:moveTo>
                  <a:pt x="448" y="206"/>
                </a:moveTo>
                <a:cubicBezTo>
                  <a:pt x="433" y="216"/>
                  <a:pt x="416" y="224"/>
                  <a:pt x="399" y="230"/>
                </a:cubicBezTo>
                <a:cubicBezTo>
                  <a:pt x="352" y="247"/>
                  <a:pt x="290" y="256"/>
                  <a:pt x="224" y="256"/>
                </a:cubicBezTo>
                <a:cubicBezTo>
                  <a:pt x="158" y="256"/>
                  <a:pt x="96" y="247"/>
                  <a:pt x="50" y="230"/>
                </a:cubicBezTo>
                <a:cubicBezTo>
                  <a:pt x="32" y="224"/>
                  <a:pt x="15" y="216"/>
                  <a:pt x="0" y="206"/>
                </a:cubicBezTo>
                <a:lnTo>
                  <a:pt x="0" y="288"/>
                </a:lnTo>
                <a:cubicBezTo>
                  <a:pt x="0" y="332"/>
                  <a:pt x="100" y="368"/>
                  <a:pt x="224" y="368"/>
                </a:cubicBezTo>
                <a:cubicBezTo>
                  <a:pt x="348" y="368"/>
                  <a:pt x="448" y="332"/>
                  <a:pt x="448" y="288"/>
                </a:cubicBezTo>
                <a:lnTo>
                  <a:pt x="448" y="206"/>
                </a:lnTo>
                <a:close/>
              </a:path>
              <a:path w="448" h="512">
                <a:moveTo>
                  <a:pt x="448" y="128"/>
                </a:moveTo>
                <a:lnTo>
                  <a:pt x="448" y="80"/>
                </a:lnTo>
                <a:cubicBezTo>
                  <a:pt x="448" y="36"/>
                  <a:pt x="348" y="0"/>
                  <a:pt x="224" y="0"/>
                </a:cubicBezTo>
                <a:cubicBezTo>
                  <a:pt x="100" y="0"/>
                  <a:pt x="0" y="36"/>
                  <a:pt x="0" y="80"/>
                </a:cubicBezTo>
                <a:lnTo>
                  <a:pt x="0" y="128"/>
                </a:lnTo>
                <a:cubicBezTo>
                  <a:pt x="0" y="172"/>
                  <a:pt x="100" y="208"/>
                  <a:pt x="224" y="208"/>
                </a:cubicBezTo>
                <a:cubicBezTo>
                  <a:pt x="348" y="208"/>
                  <a:pt x="448" y="172"/>
                  <a:pt x="448" y="128"/>
                </a:cubicBezTo>
                <a:close/>
              </a:path>
              <a:path w="448" h="512">
                <a:moveTo>
                  <a:pt x="399" y="390"/>
                </a:moveTo>
                <a:cubicBezTo>
                  <a:pt x="352" y="407"/>
                  <a:pt x="290" y="416"/>
                  <a:pt x="224" y="416"/>
                </a:cubicBezTo>
                <a:cubicBezTo>
                  <a:pt x="158" y="416"/>
                  <a:pt x="96" y="407"/>
                  <a:pt x="50" y="390"/>
                </a:cubicBezTo>
                <a:cubicBezTo>
                  <a:pt x="32" y="384"/>
                  <a:pt x="15" y="376"/>
                  <a:pt x="0" y="366"/>
                </a:cubicBezTo>
                <a:lnTo>
                  <a:pt x="0" y="432"/>
                </a:lnTo>
                <a:cubicBezTo>
                  <a:pt x="0" y="476"/>
                  <a:pt x="100" y="512"/>
                  <a:pt x="224" y="512"/>
                </a:cubicBezTo>
                <a:cubicBezTo>
                  <a:pt x="348" y="512"/>
                  <a:pt x="448" y="476"/>
                  <a:pt x="448" y="432"/>
                </a:cubicBezTo>
                <a:lnTo>
                  <a:pt x="448" y="366"/>
                </a:lnTo>
                <a:cubicBezTo>
                  <a:pt x="433" y="376"/>
                  <a:pt x="416" y="384"/>
                  <a:pt x="399" y="390"/>
                </a:cubicBezTo>
                <a:close/>
              </a:path>
            </a:pathLst>
          </a:custGeom>
          <a:solidFill>
            <a:srgbClr val="002060"/>
          </a:solidFill>
          <a:ln>
            <a:noFill/>
          </a:ln>
        </p:spPr>
      </p:sp>
      <p:sp>
        <p:nvSpPr>
          <p:cNvPr id="18" name="card3-title"/>
          <p:cNvSpPr txBox="1"/>
          <p:nvPr/>
        </p:nvSpPr>
        <p:spPr>
          <a:xfrm>
            <a:off x="64008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panose="020B0503020204020204" pitchFamily="34" charset="-122"/>
                <a:ea typeface="微软雅黑" panose="020B0503020204020204" pitchFamily="34" charset="-122"/>
              </a:rPr>
              <a:t>Memory &amp; Learning</a:t>
            </a:r>
            <a:endParaRPr lang="en-US" sz="1800" noProof="1"/>
          </a:p>
        </p:txBody>
      </p:sp>
      <p:sp>
        <p:nvSpPr>
          <p:cNvPr id="19" name="card3-desc"/>
          <p:cNvSpPr txBox="1"/>
          <p:nvPr/>
        </p:nvSpPr>
        <p:spPr>
          <a:xfrm>
            <a:off x="65786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Accumulate design knowledge and past solutions across iterations</a:t>
            </a:r>
            <a:endParaRPr lang="en-US" sz="1400" noProof="1">
              <a:latin typeface="Times New Roman" panose="02020603050405020304" pitchFamily="18" charset="0"/>
              <a:cs typeface="Times New Roman" panose="02020603050405020304" pitchFamily="18" charset="0"/>
            </a:endParaRPr>
          </a:p>
        </p:txBody>
      </p:sp>
      <p:sp>
        <p:nvSpPr>
          <p:cNvPr id="20" name="card4-shape"/>
          <p:cNvSpPr/>
          <p:nvPr/>
        </p:nvSpPr>
        <p:spPr>
          <a:xfrm>
            <a:off x="9220200" y="2794000"/>
            <a:ext cx="2730500" cy="2794000"/>
          </a:xfrm>
          <a:prstGeom prst="roundRect">
            <a:avLst>
              <a:gd name="adj" fmla="val 6342"/>
            </a:avLst>
          </a:prstGeom>
          <a:solidFill>
            <a:srgbClr val="EAF0FA"/>
          </a:solidFill>
          <a:ln w="12700">
            <a:solidFill>
              <a:srgbClr val="4472C4"/>
            </a:solidFill>
          </a:ln>
        </p:spPr>
      </p:sp>
      <p:sp>
        <p:nvSpPr>
          <p:cNvPr id="21" name="card4-icon"/>
          <p:cNvSpPr/>
          <p:nvPr/>
        </p:nvSpPr>
        <p:spPr>
          <a:xfrm>
            <a:off x="10204450" y="3048000"/>
            <a:ext cx="762000" cy="762000"/>
          </a:xfrm>
          <a:custGeom>
            <a:avLst/>
            <a:gdLst/>
            <a:ahLst/>
            <a:cxnLst/>
            <a:rect l="l" t="t" r="r" b="b"/>
            <a:pathLst>
              <a:path w="640" h="512">
                <a:moveTo>
                  <a:pt x="320" y="16"/>
                </a:moveTo>
                <a:cubicBezTo>
                  <a:pt x="377" y="16"/>
                  <a:pt x="424" y="63"/>
                  <a:pt x="424" y="120"/>
                </a:cubicBezTo>
                <a:cubicBezTo>
                  <a:pt x="424" y="177"/>
                  <a:pt x="377" y="224"/>
                  <a:pt x="320" y="224"/>
                </a:cubicBezTo>
                <a:cubicBezTo>
                  <a:pt x="263" y="224"/>
                  <a:pt x="216" y="177"/>
                  <a:pt x="216" y="120"/>
                </a:cubicBezTo>
                <a:cubicBezTo>
                  <a:pt x="216" y="63"/>
                  <a:pt x="263" y="16"/>
                  <a:pt x="320" y="16"/>
                </a:cubicBezTo>
                <a:close/>
              </a:path>
              <a:path w="640" h="512">
                <a:moveTo>
                  <a:pt x="96" y="88"/>
                </a:moveTo>
                <a:cubicBezTo>
                  <a:pt x="136" y="88"/>
                  <a:pt x="168" y="120"/>
                  <a:pt x="168" y="160"/>
                </a:cubicBezTo>
                <a:cubicBezTo>
                  <a:pt x="168" y="200"/>
                  <a:pt x="136" y="232"/>
                  <a:pt x="96" y="232"/>
                </a:cubicBezTo>
                <a:cubicBezTo>
                  <a:pt x="56" y="232"/>
                  <a:pt x="24" y="200"/>
                  <a:pt x="24" y="160"/>
                </a:cubicBezTo>
                <a:cubicBezTo>
                  <a:pt x="24" y="120"/>
                  <a:pt x="56" y="88"/>
                  <a:pt x="96" y="88"/>
                </a:cubicBezTo>
                <a:close/>
              </a:path>
              <a:path w="640" h="512">
                <a:moveTo>
                  <a:pt x="0" y="416"/>
                </a:moveTo>
                <a:cubicBezTo>
                  <a:pt x="0" y="345"/>
                  <a:pt x="57" y="288"/>
                  <a:pt x="128" y="288"/>
                </a:cubicBezTo>
                <a:cubicBezTo>
                  <a:pt x="141" y="288"/>
                  <a:pt x="153" y="290"/>
                  <a:pt x="165" y="293"/>
                </a:cubicBezTo>
                <a:cubicBezTo>
                  <a:pt x="132" y="330"/>
                  <a:pt x="112" y="379"/>
                  <a:pt x="112" y="432"/>
                </a:cubicBezTo>
                <a:lnTo>
                  <a:pt x="112" y="448"/>
                </a:lnTo>
                <a:cubicBezTo>
                  <a:pt x="112" y="459"/>
                  <a:pt x="114" y="470"/>
                  <a:pt x="119" y="480"/>
                </a:cubicBezTo>
                <a:lnTo>
                  <a:pt x="32" y="480"/>
                </a:lnTo>
                <a:cubicBezTo>
                  <a:pt x="14" y="480"/>
                  <a:pt x="0" y="466"/>
                  <a:pt x="0" y="448"/>
                </a:cubicBezTo>
                <a:lnTo>
                  <a:pt x="0" y="416"/>
                </a:lnTo>
                <a:close/>
              </a:path>
              <a:path w="640" h="512">
                <a:moveTo>
                  <a:pt x="521" y="480"/>
                </a:moveTo>
                <a:cubicBezTo>
                  <a:pt x="526" y="470"/>
                  <a:pt x="528" y="459"/>
                  <a:pt x="528" y="448"/>
                </a:cubicBezTo>
                <a:lnTo>
                  <a:pt x="528" y="432"/>
                </a:lnTo>
                <a:cubicBezTo>
                  <a:pt x="528" y="379"/>
                  <a:pt x="508" y="330"/>
                  <a:pt x="475" y="293"/>
                </a:cubicBezTo>
                <a:cubicBezTo>
                  <a:pt x="487" y="290"/>
                  <a:pt x="499" y="288"/>
                  <a:pt x="512" y="288"/>
                </a:cubicBezTo>
                <a:cubicBezTo>
                  <a:pt x="583" y="288"/>
                  <a:pt x="640" y="345"/>
                  <a:pt x="640" y="416"/>
                </a:cubicBezTo>
                <a:lnTo>
                  <a:pt x="640" y="448"/>
                </a:lnTo>
                <a:cubicBezTo>
                  <a:pt x="640" y="466"/>
                  <a:pt x="626" y="480"/>
                  <a:pt x="608" y="480"/>
                </a:cubicBezTo>
                <a:lnTo>
                  <a:pt x="521" y="480"/>
                </a:lnTo>
                <a:close/>
              </a:path>
              <a:path w="640" h="512">
                <a:moveTo>
                  <a:pt x="472" y="160"/>
                </a:moveTo>
                <a:cubicBezTo>
                  <a:pt x="472" y="120"/>
                  <a:pt x="504" y="88"/>
                  <a:pt x="544" y="88"/>
                </a:cubicBezTo>
                <a:cubicBezTo>
                  <a:pt x="584" y="88"/>
                  <a:pt x="616" y="120"/>
                  <a:pt x="616" y="160"/>
                </a:cubicBezTo>
                <a:cubicBezTo>
                  <a:pt x="616" y="200"/>
                  <a:pt x="584" y="232"/>
                  <a:pt x="544" y="232"/>
                </a:cubicBezTo>
                <a:cubicBezTo>
                  <a:pt x="504" y="232"/>
                  <a:pt x="472" y="200"/>
                  <a:pt x="472" y="160"/>
                </a:cubicBezTo>
                <a:close/>
              </a:path>
              <a:path w="640" h="512">
                <a:moveTo>
                  <a:pt x="160" y="432"/>
                </a:moveTo>
                <a:cubicBezTo>
                  <a:pt x="160" y="344"/>
                  <a:pt x="232" y="272"/>
                  <a:pt x="320" y="272"/>
                </a:cubicBezTo>
                <a:cubicBezTo>
                  <a:pt x="408" y="272"/>
                  <a:pt x="480" y="344"/>
                  <a:pt x="480" y="432"/>
                </a:cubicBezTo>
                <a:lnTo>
                  <a:pt x="480" y="448"/>
                </a:lnTo>
                <a:cubicBezTo>
                  <a:pt x="480" y="466"/>
                  <a:pt x="466" y="480"/>
                  <a:pt x="448" y="480"/>
                </a:cubicBezTo>
                <a:lnTo>
                  <a:pt x="192" y="480"/>
                </a:lnTo>
                <a:cubicBezTo>
                  <a:pt x="174" y="480"/>
                  <a:pt x="160" y="466"/>
                  <a:pt x="160" y="448"/>
                </a:cubicBezTo>
                <a:lnTo>
                  <a:pt x="160" y="432"/>
                </a:lnTo>
                <a:close/>
              </a:path>
            </a:pathLst>
          </a:custGeom>
          <a:solidFill>
            <a:srgbClr val="002060"/>
          </a:solidFill>
          <a:ln>
            <a:noFill/>
          </a:ln>
        </p:spPr>
      </p:sp>
      <p:sp>
        <p:nvSpPr>
          <p:cNvPr id="22" name="card4-title"/>
          <p:cNvSpPr txBox="1"/>
          <p:nvPr/>
        </p:nvSpPr>
        <p:spPr>
          <a:xfrm>
            <a:off x="9347200" y="3937000"/>
            <a:ext cx="2476500" cy="381000"/>
          </a:xfrm>
          <a:prstGeom prst="rect">
            <a:avLst/>
          </a:prstGeom>
          <a:noFill/>
          <a:ln>
            <a:noFill/>
          </a:ln>
        </p:spPr>
        <p:txBody>
          <a:bodyPr wrap="square" lIns="0" tIns="0" rIns="0" bIns="0" rtlCol="0" anchor="ctr"/>
          <a:lstStyle/>
          <a:p>
            <a:pPr algn="ctr">
              <a:lnSpc>
                <a:spcPct val="120000"/>
              </a:lnSpc>
            </a:pPr>
            <a:r>
              <a:rPr lang="en-US" sz="1800" b="1" noProof="1">
                <a:solidFill>
                  <a:srgbClr val="002060"/>
                </a:solidFill>
                <a:latin typeface="微软雅黑" panose="020B0503020204020204" pitchFamily="34" charset="-122"/>
                <a:ea typeface="微软雅黑" panose="020B0503020204020204" pitchFamily="34" charset="-122"/>
              </a:rPr>
              <a:t>Multi-Agent Collaboration</a:t>
            </a:r>
            <a:endParaRPr lang="en-US" sz="1800" noProof="1"/>
          </a:p>
        </p:txBody>
      </p:sp>
      <p:sp>
        <p:nvSpPr>
          <p:cNvPr id="23" name="card4-desc"/>
          <p:cNvSpPr txBox="1"/>
          <p:nvPr/>
        </p:nvSpPr>
        <p:spPr>
          <a:xfrm>
            <a:off x="9525000" y="4445000"/>
            <a:ext cx="2425700" cy="1079500"/>
          </a:xfrm>
          <a:prstGeom prst="rect">
            <a:avLst/>
          </a:prstGeom>
          <a:noFill/>
          <a:ln>
            <a:noFill/>
          </a:ln>
        </p:spPr>
        <p:txBody>
          <a:bodyPr wrap="square" lIns="0" tIns="0" rIns="0" bIns="0" rtlCol="0" anchor="t"/>
          <a:lstStyle/>
          <a:p>
            <a:pPr>
              <a:lnSpc>
                <a:spcPct val="140000"/>
              </a:lnSpc>
            </a:pPr>
            <a:r>
              <a:rPr lang="en-US" sz="1400"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Specialized agents collaborate to complete complex hull design workflows</a:t>
            </a:r>
            <a:endParaRPr lang="en-US" sz="1400" noProof="1">
              <a:latin typeface="Times New Roman" panose="02020603050405020304" pitchFamily="18" charset="0"/>
              <a:cs typeface="Times New Roman" panose="02020603050405020304" pitchFamily="18" charset="0"/>
            </a:endParaRPr>
          </a:p>
        </p:txBody>
      </p:sp>
      <p:sp>
        <p:nvSpPr>
          <p:cNvPr id="24" name="bottom-note"/>
          <p:cNvSpPr txBox="1"/>
          <p:nvPr/>
        </p:nvSpPr>
        <p:spPr>
          <a:xfrm>
            <a:off x="381000" y="5842000"/>
            <a:ext cx="11430000" cy="508000"/>
          </a:xfrm>
          <a:prstGeom prst="rect">
            <a:avLst/>
          </a:prstGeom>
          <a:noFill/>
          <a:ln>
            <a:noFill/>
          </a:ln>
        </p:spPr>
        <p:txBody>
          <a:bodyPr wrap="square" lIns="0" tIns="0" rIns="0" bIns="0" rtlCol="0" anchor="t"/>
          <a:lstStyle/>
          <a:p>
            <a:pPr algn="ctr">
              <a:lnSpc>
                <a:spcPct val="120000"/>
              </a:lnSpc>
            </a:pPr>
            <a:r>
              <a:rPr lang="en-US" sz="2000" b="1" noProof="1">
                <a:solidFill>
                  <a:srgbClr val="000000"/>
                </a:solidFill>
                <a:latin typeface="微软雅黑" panose="020B0503020204020204" pitchFamily="34" charset="-122"/>
                <a:ea typeface="微软雅黑" panose="020B0503020204020204" pitchFamily="34" charset="-122"/>
              </a:rPr>
              <a:t>Provide a new path for hull design to move from "</a:t>
            </a:r>
            <a:r>
              <a:rPr lang="en-US" sz="2000" b="1" noProof="1">
                <a:solidFill>
                  <a:srgbClr val="FF0000"/>
                </a:solidFill>
                <a:latin typeface="微软雅黑" panose="020B0503020204020204" pitchFamily="34" charset="-122"/>
                <a:ea typeface="微软雅黑" panose="020B0503020204020204" pitchFamily="34" charset="-122"/>
              </a:rPr>
              <a:t>"computer-aided"</a:t>
            </a:r>
            <a:r>
              <a:rPr lang="en-US" sz="2000" b="1" noProof="1">
                <a:solidFill>
                  <a:srgbClr val="000000"/>
                </a:solidFill>
                <a:latin typeface="微软雅黑" panose="020B0503020204020204" pitchFamily="34" charset="-122"/>
                <a:ea typeface="微软雅黑" panose="020B0503020204020204" pitchFamily="34" charset="-122"/>
              </a:rPr>
              <a:t>" to "</a:t>
            </a:r>
            <a:r>
              <a:rPr lang="en-US" sz="2000" b="1" noProof="1">
                <a:solidFill>
                  <a:srgbClr val="FF0000"/>
                </a:solidFill>
                <a:latin typeface="微软雅黑" panose="020B0503020204020204" pitchFamily="34" charset="-122"/>
                <a:ea typeface="微软雅黑" panose="020B0503020204020204" pitchFamily="34" charset="-122"/>
              </a:rPr>
              <a:t>"autonomous intelligence"</a:t>
            </a:r>
            <a:r>
              <a:rPr lang="en-US" sz="2000" b="1" noProof="1">
                <a:solidFill>
                  <a:srgbClr val="000000"/>
                </a:solidFill>
                <a:latin typeface="微软雅黑" panose="020B0503020204020204" pitchFamily="34" charset="-122"/>
                <a:ea typeface="微软雅黑" panose="020B0503020204020204" pitchFamily="34" charset="-122"/>
              </a:rPr>
              <a:t>"</a:t>
            </a:r>
            <a:endParaRPr lang="en-US" sz="2000" noProof="1"/>
          </a:p>
        </p:txBody>
      </p:sp>
      <p:sp>
        <p:nvSpPr>
          <p:cNvPr id="25" name="平行四边形 24"/>
          <p:cNvSpPr/>
          <p:nvPr/>
        </p:nvSpPr>
        <p:spPr>
          <a:xfrm>
            <a:off x="191344" y="683645"/>
            <a:ext cx="5544616"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4343"/>
              </a:buClr>
              <a:buFont typeface="Wingdings" panose="05000000000000000000" pitchFamily="2" charset="2"/>
              <a:buChar char="n"/>
              <a:defRPr/>
            </a:pPr>
            <a:r>
              <a:rPr lang="en-US" altLang="zh-CN" b="1" noProof="1">
                <a:solidFill>
                  <a:srgbClr val="000000"/>
                </a:solidFill>
                <a:latin typeface="Times New Roman" panose="02020603050405020304"/>
                <a:ea typeface="微软雅黑" panose="020B0503020204020204" pitchFamily="34" charset="-122"/>
              </a:rPr>
              <a:t>AI Agents: Toward Autonomous Design</a:t>
            </a: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378710" y="78740"/>
            <a:ext cx="72898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panose="02020603050405020304"/>
                <a:ea typeface="微软雅黑" panose="020B0503020204020204" pitchFamily="34" charset="-122"/>
              </a:rPr>
              <a:t>AI Agents for Autonomous Hull Design</a:t>
            </a:r>
            <a:endParaRPr lang="en-US" sz="3600" noProof="1"/>
          </a:p>
        </p:txBody>
      </p:sp>
      <p:sp>
        <p:nvSpPr>
          <p:cNvPr id="6" name="flow1"/>
          <p:cNvSpPr/>
          <p:nvPr/>
        </p:nvSpPr>
        <p:spPr>
          <a:xfrm>
            <a:off x="2921000" y="1270000"/>
            <a:ext cx="6350000" cy="533400"/>
          </a:xfrm>
          <a:prstGeom prst="roundRect">
            <a:avLst>
              <a:gd name="adj" fmla="val 12000"/>
            </a:avLst>
          </a:prstGeom>
          <a:solidFill>
            <a:srgbClr val="223962"/>
          </a:solidFill>
          <a:ln>
            <a:noFill/>
          </a:ln>
        </p:spPr>
      </p:sp>
      <p:sp>
        <p:nvSpPr>
          <p:cNvPr id="7" name="flow1-t"/>
          <p:cNvSpPr txBox="1"/>
          <p:nvPr/>
        </p:nvSpPr>
        <p:spPr>
          <a:xfrm>
            <a:off x="3048000" y="1320800"/>
            <a:ext cx="6096000" cy="4318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微软雅黑" panose="020B0503020204020204" pitchFamily="34" charset="-122"/>
                <a:ea typeface="微软雅黑" panose="020B0503020204020204" pitchFamily="34" charset="-122"/>
              </a:rPr>
              <a:t>Natural-language design requirements (ship type / dimensions / performance / constraints)</a:t>
            </a:r>
            <a:endParaRPr lang="en-US" sz="1600" noProof="1"/>
          </a:p>
        </p:txBody>
      </p:sp>
      <p:sp>
        <p:nvSpPr>
          <p:cNvPr id="8" name="arr1"/>
          <p:cNvSpPr/>
          <p:nvPr/>
        </p:nvSpPr>
        <p:spPr>
          <a:xfrm>
            <a:off x="5981700" y="1828800"/>
            <a:ext cx="152400" cy="279400"/>
          </a:xfrm>
          <a:prstGeom prst="downArrow">
            <a:avLst>
              <a:gd name="adj1" fmla="val 50000"/>
              <a:gd name="adj2" fmla="val 50000"/>
            </a:avLst>
          </a:prstGeom>
          <a:solidFill>
            <a:srgbClr val="4472C4"/>
          </a:solidFill>
          <a:ln>
            <a:noFill/>
          </a:ln>
        </p:spPr>
      </p:sp>
      <p:sp>
        <p:nvSpPr>
          <p:cNvPr id="9" name="flow2"/>
          <p:cNvSpPr/>
          <p:nvPr/>
        </p:nvSpPr>
        <p:spPr>
          <a:xfrm>
            <a:off x="2921000" y="2133600"/>
            <a:ext cx="6350000" cy="533400"/>
          </a:xfrm>
          <a:prstGeom prst="roundRect">
            <a:avLst>
              <a:gd name="adj" fmla="val 12000"/>
            </a:avLst>
          </a:prstGeom>
          <a:solidFill>
            <a:srgbClr val="4472C4"/>
          </a:solidFill>
          <a:ln>
            <a:noFill/>
          </a:ln>
        </p:spPr>
      </p:sp>
      <p:sp>
        <p:nvSpPr>
          <p:cNvPr id="10" name="flow2-t"/>
          <p:cNvSpPr txBox="1"/>
          <p:nvPr/>
        </p:nvSpPr>
        <p:spPr>
          <a:xfrm>
            <a:off x="3048000" y="2184400"/>
            <a:ext cx="6096000" cy="4318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微软雅黑" panose="020B0503020204020204" pitchFamily="34" charset="-122"/>
                <a:ea typeface="微软雅黑" panose="020B0503020204020204" pitchFamily="34" charset="-122"/>
              </a:rPr>
              <a:t>Planning Agent: requirement parsing, task decomposition and scheduling</a:t>
            </a:r>
            <a:endParaRPr lang="en-US" sz="1600" noProof="1"/>
          </a:p>
        </p:txBody>
      </p:sp>
      <p:sp>
        <p:nvSpPr>
          <p:cNvPr id="11" name="arr2"/>
          <p:cNvSpPr/>
          <p:nvPr/>
        </p:nvSpPr>
        <p:spPr>
          <a:xfrm>
            <a:off x="5981700" y="2692400"/>
            <a:ext cx="152400" cy="279400"/>
          </a:xfrm>
          <a:prstGeom prst="downArrow">
            <a:avLst>
              <a:gd name="adj1" fmla="val 50000"/>
              <a:gd name="adj2" fmla="val 50000"/>
            </a:avLst>
          </a:prstGeom>
          <a:solidFill>
            <a:srgbClr val="4472C4"/>
          </a:solidFill>
          <a:ln>
            <a:noFill/>
          </a:ln>
        </p:spPr>
      </p:sp>
      <p:sp>
        <p:nvSpPr>
          <p:cNvPr id="12" name="exec1"/>
          <p:cNvSpPr/>
          <p:nvPr/>
        </p:nvSpPr>
        <p:spPr>
          <a:xfrm>
            <a:off x="381000" y="3022600"/>
            <a:ext cx="2730500" cy="1092200"/>
          </a:xfrm>
          <a:prstGeom prst="roundRect">
            <a:avLst>
              <a:gd name="adj" fmla="val 8000"/>
            </a:avLst>
          </a:prstGeom>
          <a:solidFill>
            <a:srgbClr val="EAF0FA"/>
          </a:solidFill>
          <a:ln w="19050">
            <a:solidFill>
              <a:srgbClr val="4472C4"/>
            </a:solidFill>
          </a:ln>
        </p:spPr>
      </p:sp>
      <p:sp>
        <p:nvSpPr>
          <p:cNvPr id="13" name="exec1-t"/>
          <p:cNvSpPr txBox="1"/>
          <p:nvPr/>
        </p:nvSpPr>
        <p:spPr>
          <a:xfrm>
            <a:off x="482600" y="3098800"/>
            <a:ext cx="25273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Parametric Geometry Modeling</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GeneHull / SGK geometric kernel</a:t>
            </a:r>
            <a:endParaRPr lang="en-US" sz="1400" noProof="1">
              <a:latin typeface="Times New Roman" panose="02020603050405020304" pitchFamily="18" charset="0"/>
              <a:cs typeface="Times New Roman" panose="02020603050405020304" pitchFamily="18" charset="0"/>
            </a:endParaRPr>
          </a:p>
        </p:txBody>
      </p:sp>
      <p:sp>
        <p:nvSpPr>
          <p:cNvPr id="14" name="exec2"/>
          <p:cNvSpPr/>
          <p:nvPr/>
        </p:nvSpPr>
        <p:spPr>
          <a:xfrm>
            <a:off x="3327400" y="3022600"/>
            <a:ext cx="2730500" cy="1092200"/>
          </a:xfrm>
          <a:prstGeom prst="roundRect">
            <a:avLst>
              <a:gd name="adj" fmla="val 8000"/>
            </a:avLst>
          </a:prstGeom>
          <a:solidFill>
            <a:srgbClr val="EAF0FA"/>
          </a:solidFill>
          <a:ln w="19050">
            <a:solidFill>
              <a:srgbClr val="4472C4"/>
            </a:solidFill>
          </a:ln>
        </p:spPr>
      </p:sp>
      <p:sp>
        <p:nvSpPr>
          <p:cNvPr id="15" name="exec2-t"/>
          <p:cNvSpPr txBox="1"/>
          <p:nvPr/>
        </p:nvSpPr>
        <p:spPr>
          <a:xfrm>
            <a:off x="3429000" y="3098800"/>
            <a:ext cx="25273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Hull-Form Knowledge Reasoning</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Knowledge base + rule base + knowledge graph</a:t>
            </a:r>
            <a:endParaRPr lang="en-US" sz="1400" noProof="1">
              <a:latin typeface="Times New Roman" panose="02020603050405020304" pitchFamily="18" charset="0"/>
              <a:cs typeface="Times New Roman" panose="02020603050405020304" pitchFamily="18" charset="0"/>
            </a:endParaRPr>
          </a:p>
        </p:txBody>
      </p:sp>
      <p:sp>
        <p:nvSpPr>
          <p:cNvPr id="16" name="exec3"/>
          <p:cNvSpPr/>
          <p:nvPr/>
        </p:nvSpPr>
        <p:spPr>
          <a:xfrm>
            <a:off x="6273800" y="3022600"/>
            <a:ext cx="2730500" cy="1092200"/>
          </a:xfrm>
          <a:prstGeom prst="roundRect">
            <a:avLst>
              <a:gd name="adj" fmla="val 8000"/>
            </a:avLst>
          </a:prstGeom>
          <a:solidFill>
            <a:srgbClr val="EAF0FA"/>
          </a:solidFill>
          <a:ln w="19050">
            <a:solidFill>
              <a:srgbClr val="4472C4"/>
            </a:solidFill>
          </a:ln>
        </p:spPr>
      </p:sp>
      <p:sp>
        <p:nvSpPr>
          <p:cNvPr id="17" name="exec3-t"/>
          <p:cNvSpPr txBox="1"/>
          <p:nvPr/>
        </p:nvSpPr>
        <p:spPr>
          <a:xfrm>
            <a:off x="6375400" y="3098800"/>
            <a:ext cx="25273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Rapid Performance Evaluation</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CFD + deep-learning surrogates</a:t>
            </a:r>
            <a:endParaRPr lang="en-US" sz="1400" noProof="1">
              <a:latin typeface="Times New Roman" panose="02020603050405020304" pitchFamily="18" charset="0"/>
              <a:cs typeface="Times New Roman" panose="02020603050405020304" pitchFamily="18" charset="0"/>
            </a:endParaRPr>
          </a:p>
        </p:txBody>
      </p:sp>
      <p:sp>
        <p:nvSpPr>
          <p:cNvPr id="18" name="exec4"/>
          <p:cNvSpPr/>
          <p:nvPr/>
        </p:nvSpPr>
        <p:spPr>
          <a:xfrm>
            <a:off x="9220200" y="3022600"/>
            <a:ext cx="2654300" cy="1092200"/>
          </a:xfrm>
          <a:prstGeom prst="roundRect">
            <a:avLst>
              <a:gd name="adj" fmla="val 8000"/>
            </a:avLst>
          </a:prstGeom>
          <a:solidFill>
            <a:srgbClr val="EAF0FA"/>
          </a:solidFill>
          <a:ln w="19050">
            <a:solidFill>
              <a:srgbClr val="4472C4"/>
            </a:solidFill>
          </a:ln>
        </p:spPr>
      </p:sp>
      <p:sp>
        <p:nvSpPr>
          <p:cNvPr id="19" name="exec4-t"/>
          <p:cNvSpPr txBox="1"/>
          <p:nvPr/>
        </p:nvSpPr>
        <p:spPr>
          <a:xfrm>
            <a:off x="9321800" y="3098800"/>
            <a:ext cx="2451100" cy="939800"/>
          </a:xfrm>
          <a:prstGeom prst="rect">
            <a:avLst/>
          </a:prstGeom>
          <a:noFill/>
          <a:ln>
            <a:noFill/>
          </a:ln>
        </p:spPr>
        <p:txBody>
          <a:bodyPr wrap="square" lIns="0" tIns="0" rIns="0" bIns="0" rtlCol="0" anchor="ctr"/>
          <a:lstStyle/>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Optimization Decision</a:t>
            </a:r>
            <a:endParaRPr lang="en-US" sz="1400" noProof="1">
              <a:latin typeface="Times New Roman" panose="02020603050405020304" pitchFamily="18" charset="0"/>
              <a:cs typeface="Times New Roman" panose="02020603050405020304" pitchFamily="18" charset="0"/>
            </a:endParaRPr>
          </a:p>
          <a:p>
            <a:pPr algn="ctr">
              <a:lnSpc>
                <a:spcPct val="130000"/>
              </a:lnSpc>
            </a:pPr>
            <a:r>
              <a:rPr lang="en-US" sz="1400" b="1" noProof="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Intelligent optimization algorithms</a:t>
            </a:r>
            <a:endParaRPr lang="en-US" sz="1400" noProof="1">
              <a:latin typeface="Times New Roman" panose="02020603050405020304" pitchFamily="18" charset="0"/>
              <a:cs typeface="Times New Roman" panose="02020603050405020304" pitchFamily="18" charset="0"/>
            </a:endParaRPr>
          </a:p>
        </p:txBody>
      </p:sp>
      <p:sp>
        <p:nvSpPr>
          <p:cNvPr id="20" name="harr1"/>
          <p:cNvSpPr/>
          <p:nvPr/>
        </p:nvSpPr>
        <p:spPr>
          <a:xfrm>
            <a:off x="3136900" y="3479800"/>
            <a:ext cx="165100" cy="177800"/>
          </a:xfrm>
          <a:prstGeom prst="rightArrow">
            <a:avLst>
              <a:gd name="adj1" fmla="val 50000"/>
              <a:gd name="adj2" fmla="val 45000"/>
            </a:avLst>
          </a:prstGeom>
          <a:solidFill>
            <a:srgbClr val="4472C4"/>
          </a:solidFill>
          <a:ln>
            <a:noFill/>
          </a:ln>
        </p:spPr>
      </p:sp>
      <p:sp>
        <p:nvSpPr>
          <p:cNvPr id="21" name="harr2"/>
          <p:cNvSpPr/>
          <p:nvPr/>
        </p:nvSpPr>
        <p:spPr>
          <a:xfrm>
            <a:off x="6083300" y="3479800"/>
            <a:ext cx="165100" cy="177800"/>
          </a:xfrm>
          <a:prstGeom prst="rightArrow">
            <a:avLst>
              <a:gd name="adj1" fmla="val 50000"/>
              <a:gd name="adj2" fmla="val 45000"/>
            </a:avLst>
          </a:prstGeom>
          <a:solidFill>
            <a:srgbClr val="4472C4"/>
          </a:solidFill>
          <a:ln>
            <a:noFill/>
          </a:ln>
        </p:spPr>
      </p:sp>
      <p:sp>
        <p:nvSpPr>
          <p:cNvPr id="22" name="harr3"/>
          <p:cNvSpPr/>
          <p:nvPr/>
        </p:nvSpPr>
        <p:spPr>
          <a:xfrm>
            <a:off x="9029700" y="3479800"/>
            <a:ext cx="165100" cy="177800"/>
          </a:xfrm>
          <a:prstGeom prst="rightArrow">
            <a:avLst>
              <a:gd name="adj1" fmla="val 50000"/>
              <a:gd name="adj2" fmla="val 45000"/>
            </a:avLst>
          </a:prstGeom>
          <a:solidFill>
            <a:srgbClr val="4472C4"/>
          </a:solidFill>
          <a:ln>
            <a:noFill/>
          </a:ln>
        </p:spPr>
      </p:sp>
      <p:sp>
        <p:nvSpPr>
          <p:cNvPr id="23" name="arr3"/>
          <p:cNvSpPr/>
          <p:nvPr/>
        </p:nvSpPr>
        <p:spPr>
          <a:xfrm>
            <a:off x="5981700" y="4140200"/>
            <a:ext cx="152400" cy="279400"/>
          </a:xfrm>
          <a:prstGeom prst="downArrow">
            <a:avLst>
              <a:gd name="adj1" fmla="val 50000"/>
              <a:gd name="adj2" fmla="val 50000"/>
            </a:avLst>
          </a:prstGeom>
          <a:solidFill>
            <a:srgbClr val="4472C4"/>
          </a:solidFill>
          <a:ln>
            <a:noFill/>
          </a:ln>
        </p:spPr>
      </p:sp>
      <p:sp>
        <p:nvSpPr>
          <p:cNvPr id="24" name="flow3"/>
          <p:cNvSpPr/>
          <p:nvPr/>
        </p:nvSpPr>
        <p:spPr>
          <a:xfrm>
            <a:off x="2921000" y="4445000"/>
            <a:ext cx="6350000" cy="533400"/>
          </a:xfrm>
          <a:prstGeom prst="roundRect">
            <a:avLst>
              <a:gd name="adj" fmla="val 12000"/>
            </a:avLst>
          </a:prstGeom>
          <a:solidFill>
            <a:srgbClr val="002060"/>
          </a:solidFill>
          <a:ln>
            <a:noFill/>
          </a:ln>
        </p:spPr>
      </p:sp>
      <p:sp>
        <p:nvSpPr>
          <p:cNvPr id="25" name="flow3-t"/>
          <p:cNvSpPr txBox="1"/>
          <p:nvPr/>
        </p:nvSpPr>
        <p:spPr>
          <a:xfrm>
            <a:off x="3048000" y="4495800"/>
            <a:ext cx="6096000" cy="431800"/>
          </a:xfrm>
          <a:prstGeom prst="rect">
            <a:avLst/>
          </a:prstGeom>
          <a:noFill/>
          <a:ln>
            <a:noFill/>
          </a:ln>
        </p:spPr>
        <p:txBody>
          <a:bodyPr wrap="square" lIns="0" tIns="0" rIns="0" bIns="0" rtlCol="0" anchor="ctr"/>
          <a:lstStyle/>
          <a:p>
            <a:pPr algn="ctr">
              <a:lnSpc>
                <a:spcPct val="120000"/>
              </a:lnSpc>
            </a:pPr>
            <a:r>
              <a:rPr lang="en-US" sz="1600" b="1" noProof="1">
                <a:solidFill>
                  <a:srgbClr val="FFC000"/>
                </a:solidFill>
                <a:latin typeface="微软雅黑" panose="020B0503020204020204" pitchFamily="34" charset="-122"/>
                <a:ea typeface="微软雅黑" panose="020B0503020204020204" pitchFamily="34" charset="-122"/>
              </a:rPr>
              <a:t>Output the optimal hull design and analysis report</a:t>
            </a:r>
            <a:endParaRPr lang="en-US" sz="1600" noProof="1"/>
          </a:p>
        </p:txBody>
      </p:sp>
      <p:sp>
        <p:nvSpPr>
          <p:cNvPr id="26" name="loop-note"/>
          <p:cNvSpPr txBox="1"/>
          <p:nvPr/>
        </p:nvSpPr>
        <p:spPr>
          <a:xfrm>
            <a:off x="9550400" y="1905000"/>
            <a:ext cx="2413000" cy="762000"/>
          </a:xfrm>
          <a:prstGeom prst="rect">
            <a:avLst/>
          </a:prstGeom>
          <a:noFill/>
          <a:ln>
            <a:noFill/>
          </a:ln>
        </p:spPr>
        <p:txBody>
          <a:bodyPr wrap="square" lIns="0" tIns="0" rIns="0" bIns="0" rtlCol="0" anchor="t"/>
          <a:lstStyle/>
          <a:p>
            <a:pPr algn="l">
              <a:lnSpc>
                <a:spcPct val="130000"/>
              </a:lnSpc>
            </a:pPr>
            <a:r>
              <a:rPr lang="en-US" sz="1400" b="1" noProof="1">
                <a:solidFill>
                  <a:srgbClr val="FF0000"/>
                </a:solidFill>
                <a:latin typeface="微软雅黑" panose="020B0503020204020204" pitchFamily="34" charset="-122"/>
                <a:ea typeface="微软雅黑" panose="020B0503020204020204" pitchFamily="34" charset="-122"/>
              </a:rPr>
              <a:t>Evaluation feedback drives autonomous agent iteration</a:t>
            </a:r>
            <a:endParaRPr lang="en-US" sz="1400" noProof="1"/>
          </a:p>
        </p:txBody>
      </p:sp>
      <p:sp>
        <p:nvSpPr>
          <p:cNvPr id="27" name="bottom-shape"/>
          <p:cNvSpPr/>
          <p:nvPr/>
        </p:nvSpPr>
        <p:spPr>
          <a:xfrm>
            <a:off x="299720" y="5207000"/>
            <a:ext cx="11588750" cy="1270000"/>
          </a:xfrm>
          <a:prstGeom prst="roundRect">
            <a:avLst>
              <a:gd name="adj" fmla="val 6342"/>
            </a:avLst>
          </a:prstGeom>
          <a:noFill/>
          <a:ln w="28575">
            <a:solidFill>
              <a:srgbClr val="000000"/>
            </a:solidFill>
            <a:prstDash val="dash"/>
          </a:ln>
        </p:spPr>
      </p:sp>
      <p:sp>
        <p:nvSpPr>
          <p:cNvPr id="28" name="bottom-text"/>
          <p:cNvSpPr txBox="1"/>
          <p:nvPr/>
        </p:nvSpPr>
        <p:spPr>
          <a:xfrm>
            <a:off x="452120" y="5181600"/>
            <a:ext cx="11283950" cy="1320800"/>
          </a:xfrm>
          <a:prstGeom prst="rect">
            <a:avLst/>
          </a:prstGeom>
          <a:noFill/>
          <a:ln>
            <a:noFill/>
          </a:ln>
        </p:spPr>
        <p:txBody>
          <a:bodyPr wrap="square" lIns="0" tIns="0" rIns="0" bIns="0" rtlCol="0" anchor="ctr"/>
          <a:lstStyle/>
          <a:p>
            <a:pPr algn="just">
              <a:lnSpc>
                <a:spcPct val="145000"/>
              </a:lnSpc>
            </a:pPr>
            <a:r>
              <a:rPr lang="en-US" sz="1600" b="1" noProof="1">
                <a:solidFill>
                  <a:srgbClr val="000000"/>
                </a:solidFill>
                <a:latin typeface="Times New Roman" panose="02020603050405020304"/>
                <a:ea typeface="微软雅黑" panose="020B0503020204020204" pitchFamily="34" charset="-122"/>
              </a:rPr>
              <a:t>Building a "</a:t>
            </a:r>
            <a:r>
              <a:rPr lang="en-US" sz="1600" b="1" noProof="1">
                <a:solidFill>
                  <a:srgbClr val="FF0000"/>
                </a:solidFill>
                <a:latin typeface="Times New Roman" panose="02020603050405020304"/>
                <a:ea typeface="微软雅黑" panose="020B0503020204020204" pitchFamily="34" charset="-122"/>
              </a:rPr>
              <a:t>humans state requirements, agents design</a:t>
            </a:r>
            <a:r>
              <a:rPr lang="en-US" sz="1600" b="1" noProof="1">
                <a:solidFill>
                  <a:srgbClr val="000000"/>
                </a:solidFill>
                <a:latin typeface="Times New Roman" panose="02020603050405020304"/>
                <a:ea typeface="微软雅黑" panose="020B0503020204020204" pitchFamily="34" charset="-122"/>
              </a:rPr>
              <a:t>" paradigm: designers focus on requirement definition and key decisions, while AI Agents </a:t>
            </a:r>
            <a:r>
              <a:rPr lang="en-US" sz="1600" b="1" noProof="1">
                <a:solidFill>
                  <a:srgbClr val="FF0000"/>
                </a:solidFill>
                <a:latin typeface="Times New Roman" panose="02020603050405020304"/>
                <a:ea typeface="微软雅黑" panose="020B0503020204020204" pitchFamily="34" charset="-122"/>
              </a:rPr>
              <a:t>autonomously perform</a:t>
            </a:r>
            <a:r>
              <a:rPr lang="en-US" sz="1600" b="1" noProof="1">
                <a:solidFill>
                  <a:srgbClr val="000000"/>
                </a:solidFill>
                <a:latin typeface="Times New Roman" panose="02020603050405020304"/>
                <a:ea typeface="微软雅黑" panose="020B0503020204020204" pitchFamily="34" charset="-122"/>
              </a:rPr>
              <a:t> repetitive tasks such as parametric modeling, knowledge reasoning, performance evaluation and iterative optimization — greatly improving design efficiency and quality.</a:t>
            </a:r>
            <a:endParaRPr lang="en-US" sz="1600" noProof="1"/>
          </a:p>
        </p:txBody>
      </p:sp>
      <p:sp>
        <p:nvSpPr>
          <p:cNvPr id="29" name="平行四边形 28"/>
          <p:cNvSpPr/>
          <p:nvPr/>
        </p:nvSpPr>
        <p:spPr>
          <a:xfrm>
            <a:off x="191344" y="683645"/>
            <a:ext cx="5544616"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4343"/>
              </a:buClr>
              <a:buFont typeface="Wingdings" panose="05000000000000000000" pitchFamily="2" charset="2"/>
              <a:buChar char="n"/>
              <a:defRPr/>
            </a:pPr>
            <a:r>
              <a:rPr lang="en-US" altLang="zh-CN" b="1" noProof="1">
                <a:solidFill>
                  <a:srgbClr val="000000"/>
                </a:solidFill>
                <a:latin typeface="Times New Roman" panose="02020603050405020304"/>
                <a:ea typeface="微软雅黑" panose="020B0503020204020204" pitchFamily="34" charset="-122"/>
              </a:rPr>
              <a:t>AI-Agent Architecture on GeneHull</a:t>
            </a:r>
            <a:endParaRPr lang="en-US" altLang="zh-CN" b="1" noProof="1">
              <a:solidFill>
                <a:srgbClr val="000000"/>
              </a:solidFill>
              <a:latin typeface="Times New Roman" panose="02020603050405020304"/>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9"/>
          <p:cNvSpPr txBox="1"/>
          <p:nvPr/>
        </p:nvSpPr>
        <p:spPr>
          <a:xfrm>
            <a:off x="2378710" y="78740"/>
            <a:ext cx="7289800" cy="553720"/>
          </a:xfrm>
          <a:prstGeom prst="rect">
            <a:avLst/>
          </a:prstGeom>
          <a:noFill/>
          <a:ln>
            <a:noFill/>
          </a:ln>
        </p:spPr>
        <p:txBody>
          <a:bodyPr wrap="none" lIns="0" tIns="0" rIns="0" bIns="0" rtlCol="0" anchor="t"/>
          <a:lstStyle/>
          <a:p>
            <a:pPr algn="ctr">
              <a:lnSpc>
                <a:spcPct val="120000"/>
              </a:lnSpc>
            </a:pPr>
            <a:r>
              <a:rPr lang="en-US" altLang="zh-CN" sz="3600" b="1" noProof="1">
                <a:solidFill>
                  <a:srgbClr val="FFFFFF"/>
                </a:solidFill>
                <a:latin typeface="Times New Roman" panose="02020603050405020304"/>
                <a:ea typeface="微软雅黑" panose="020B0503020204020204" pitchFamily="34" charset="-122"/>
              </a:rPr>
              <a:t>AI Agents for Autonomous Hull Design</a:t>
            </a:r>
            <a:endParaRPr lang="en-US" altLang="zh-CN" sz="3600" noProof="1"/>
          </a:p>
        </p:txBody>
      </p:sp>
      <p:sp>
        <p:nvSpPr>
          <p:cNvPr id="6" name="chip1-shape"/>
          <p:cNvSpPr/>
          <p:nvPr/>
        </p:nvSpPr>
        <p:spPr>
          <a:xfrm>
            <a:off x="299720" y="1270000"/>
            <a:ext cx="2032000" cy="457200"/>
          </a:xfrm>
          <a:prstGeom prst="roundRect">
            <a:avLst>
              <a:gd name="adj" fmla="val 0"/>
            </a:avLst>
          </a:prstGeom>
          <a:solidFill>
            <a:srgbClr val="4472C4"/>
          </a:solidFill>
          <a:ln w="12700">
            <a:solidFill>
              <a:srgbClr val="223962"/>
            </a:solidFill>
          </a:ln>
        </p:spPr>
      </p:sp>
      <p:sp>
        <p:nvSpPr>
          <p:cNvPr id="8" name="left-shape"/>
          <p:cNvSpPr/>
          <p:nvPr/>
        </p:nvSpPr>
        <p:spPr>
          <a:xfrm>
            <a:off x="299720" y="1612900"/>
            <a:ext cx="5638800" cy="3810000"/>
          </a:xfrm>
          <a:prstGeom prst="roundRect">
            <a:avLst>
              <a:gd name="adj" fmla="val 6342"/>
            </a:avLst>
          </a:prstGeom>
          <a:noFill/>
          <a:ln w="28575">
            <a:solidFill>
              <a:srgbClr val="000000"/>
            </a:solidFill>
            <a:prstDash val="dash"/>
          </a:ln>
        </p:spPr>
      </p:sp>
      <p:sp>
        <p:nvSpPr>
          <p:cNvPr id="9" name="left-text"/>
          <p:cNvSpPr txBox="1"/>
          <p:nvPr/>
        </p:nvSpPr>
        <p:spPr>
          <a:xfrm>
            <a:off x="457200" y="1803400"/>
            <a:ext cx="5334000" cy="3530600"/>
          </a:xfrm>
          <a:prstGeom prst="rect">
            <a:avLst/>
          </a:prstGeom>
          <a:noFill/>
          <a:ln>
            <a:noFill/>
          </a:ln>
        </p:spPr>
        <p:txBody>
          <a:bodyPr wrap="square" lIns="0" tIns="0" rIns="0" bIns="0" rtlCol="0" anchor="ctr"/>
          <a:lstStyle/>
          <a:p>
            <a:pPr algn="just">
              <a:lnSpc>
                <a:spcPct val="155000"/>
              </a:lnSpc>
            </a:pPr>
            <a:r>
              <a:rPr lang="en-US" sz="1500" b="1" noProof="1">
                <a:solidFill>
                  <a:srgbClr val="000000"/>
                </a:solidFill>
                <a:latin typeface="Times New Roman" panose="02020603050405020304"/>
                <a:ea typeface="微软雅黑" panose="020B0503020204020204" pitchFamily="34" charset="-122"/>
              </a:rPr>
              <a:t>① </a:t>
            </a:r>
            <a:r>
              <a:rPr lang="en-US" sz="1500" b="1" noProof="1">
                <a:solidFill>
                  <a:srgbClr val="FF0000"/>
                </a:solidFill>
                <a:latin typeface="Times New Roman" panose="02020603050405020304"/>
                <a:ea typeface="微软雅黑" panose="020B0503020204020204" pitchFamily="34" charset="-122"/>
              </a:rPr>
              <a:t>Domain knowledge alignment</a:t>
            </a:r>
            <a:r>
              <a:rPr lang="en-US" sz="1500" b="1" noProof="1">
                <a:solidFill>
                  <a:srgbClr val="000000"/>
                </a:solidFill>
                <a:latin typeface="Times New Roman" panose="02020603050405020304"/>
                <a:ea typeface="微软雅黑" panose="020B0503020204020204" pitchFamily="34" charset="-122"/>
              </a:rPr>
              <a:t>: general LLMs lack ship-design expertise and must be deeply integrated with domain knowledge;</a:t>
            </a:r>
            <a:endParaRPr lang="en-US" sz="1500" noProof="1"/>
          </a:p>
          <a:p>
            <a:pPr algn="just">
              <a:lnSpc>
                <a:spcPct val="155000"/>
              </a:lnSpc>
            </a:pPr>
            <a:r>
              <a:rPr lang="en-US" sz="1500" b="1" noProof="1">
                <a:solidFill>
                  <a:srgbClr val="000000"/>
                </a:solidFill>
                <a:latin typeface="Times New Roman" panose="02020603050405020304"/>
                <a:ea typeface="微软雅黑" panose="020B0503020204020204" pitchFamily="34" charset="-122"/>
              </a:rPr>
              <a:t>② </a:t>
            </a:r>
            <a:r>
              <a:rPr lang="en-US" sz="1500" b="1" noProof="1">
                <a:solidFill>
                  <a:srgbClr val="FF0000"/>
                </a:solidFill>
                <a:latin typeface="Times New Roman" panose="02020603050405020304"/>
                <a:ea typeface="微软雅黑" panose="020B0503020204020204" pitchFamily="34" charset="-122"/>
              </a:rPr>
              <a:t>Tool encapsulation &amp; orchestration</a:t>
            </a:r>
            <a:r>
              <a:rPr lang="en-US" sz="1500" b="1" noProof="1">
                <a:solidFill>
                  <a:srgbClr val="000000"/>
                </a:solidFill>
                <a:latin typeface="Times New Roman" panose="02020603050405020304"/>
                <a:ea typeface="微软雅黑" panose="020B0503020204020204" pitchFamily="34" charset="-122"/>
              </a:rPr>
              <a:t>: CAD/CFD software interfaces are complex and must be standardized into agent-usable tools;</a:t>
            </a:r>
            <a:endParaRPr lang="en-US" sz="1500" noProof="1"/>
          </a:p>
          <a:p>
            <a:pPr algn="just">
              <a:lnSpc>
                <a:spcPct val="155000"/>
              </a:lnSpc>
            </a:pPr>
            <a:r>
              <a:rPr lang="en-US" sz="1500" b="1" noProof="1">
                <a:solidFill>
                  <a:srgbClr val="000000"/>
                </a:solidFill>
                <a:latin typeface="Times New Roman" panose="02020603050405020304"/>
                <a:ea typeface="微软雅黑" panose="020B0503020204020204" pitchFamily="34" charset="-122"/>
              </a:rPr>
              <a:t>③ </a:t>
            </a:r>
            <a:r>
              <a:rPr lang="en-US" sz="1500" b="1" noProof="1">
                <a:solidFill>
                  <a:srgbClr val="FF0000"/>
                </a:solidFill>
                <a:latin typeface="Times New Roman" panose="02020603050405020304"/>
                <a:ea typeface="微软雅黑" panose="020B0503020204020204" pitchFamily="34" charset="-122"/>
              </a:rPr>
              <a:t>Geometry &amp; knowledge representation</a:t>
            </a:r>
            <a:r>
              <a:rPr lang="en-US" sz="1500" b="1" noProof="1">
                <a:solidFill>
                  <a:srgbClr val="000000"/>
                </a:solidFill>
                <a:latin typeface="Times New Roman" panose="02020603050405020304"/>
                <a:ea typeface="微软雅黑" panose="020B0503020204020204" pitchFamily="34" charset="-122"/>
              </a:rPr>
              <a:t>: hull geometry and design knowledge need structured, computable representations;</a:t>
            </a:r>
            <a:endParaRPr lang="en-US" sz="1500" noProof="1"/>
          </a:p>
          <a:p>
            <a:pPr algn="just">
              <a:lnSpc>
                <a:spcPct val="155000"/>
              </a:lnSpc>
            </a:pPr>
            <a:r>
              <a:rPr lang="en-US" sz="1500" b="1" noProof="1">
                <a:solidFill>
                  <a:srgbClr val="000000"/>
                </a:solidFill>
                <a:latin typeface="Times New Roman" panose="02020603050405020304"/>
                <a:ea typeface="微软雅黑" panose="020B0503020204020204" pitchFamily="34" charset="-122"/>
              </a:rPr>
              <a:t>④ </a:t>
            </a:r>
            <a:r>
              <a:rPr lang="en-US" sz="1500" b="1" noProof="1">
                <a:solidFill>
                  <a:srgbClr val="FF0000"/>
                </a:solidFill>
                <a:latin typeface="Times New Roman" panose="02020603050405020304"/>
                <a:ea typeface="微软雅黑" panose="020B0503020204020204" pitchFamily="34" charset="-122"/>
              </a:rPr>
              <a:t>Reliability verification</a:t>
            </a:r>
            <a:r>
              <a:rPr lang="en-US" sz="1500" b="1" noProof="1">
                <a:solidFill>
                  <a:srgbClr val="000000"/>
                </a:solidFill>
                <a:latin typeface="Times New Roman" panose="02020603050405020304"/>
                <a:ea typeface="微软雅黑" panose="020B0503020204020204" pitchFamily="34" charset="-122"/>
              </a:rPr>
              <a:t>: agent-generated designs require CFD/experimental validation and expert review.</a:t>
            </a:r>
            <a:endParaRPr lang="en-US" sz="1500" noProof="1"/>
          </a:p>
        </p:txBody>
      </p:sp>
      <p:sp>
        <p:nvSpPr>
          <p:cNvPr id="10" name="chip2-shape"/>
          <p:cNvSpPr/>
          <p:nvPr/>
        </p:nvSpPr>
        <p:spPr>
          <a:xfrm>
            <a:off x="6248400" y="1270000"/>
            <a:ext cx="2032000" cy="457200"/>
          </a:xfrm>
          <a:prstGeom prst="roundRect">
            <a:avLst>
              <a:gd name="adj" fmla="val 0"/>
            </a:avLst>
          </a:prstGeom>
          <a:solidFill>
            <a:srgbClr val="002060"/>
          </a:solidFill>
          <a:ln w="12700">
            <a:solidFill>
              <a:srgbClr val="223962"/>
            </a:solidFill>
          </a:ln>
        </p:spPr>
      </p:sp>
      <p:sp>
        <p:nvSpPr>
          <p:cNvPr id="11" name="chip2-text"/>
          <p:cNvSpPr txBox="1"/>
          <p:nvPr/>
        </p:nvSpPr>
        <p:spPr>
          <a:xfrm>
            <a:off x="6248400" y="1270000"/>
            <a:ext cx="2032000" cy="4572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Times New Roman" panose="02020603050405020304"/>
                <a:ea typeface="微软雅黑" panose="020B0503020204020204" pitchFamily="34" charset="-122"/>
              </a:rPr>
              <a:t>Implementation Path</a:t>
            </a:r>
            <a:endParaRPr lang="en-US" sz="1600" noProof="1"/>
          </a:p>
        </p:txBody>
      </p:sp>
      <p:sp>
        <p:nvSpPr>
          <p:cNvPr id="12" name="right-shape"/>
          <p:cNvSpPr/>
          <p:nvPr/>
        </p:nvSpPr>
        <p:spPr>
          <a:xfrm>
            <a:off x="6248400" y="1612900"/>
            <a:ext cx="5638800" cy="3810000"/>
          </a:xfrm>
          <a:prstGeom prst="roundRect">
            <a:avLst>
              <a:gd name="adj" fmla="val 6342"/>
            </a:avLst>
          </a:prstGeom>
          <a:noFill/>
          <a:ln w="28575">
            <a:solidFill>
              <a:srgbClr val="000000"/>
            </a:solidFill>
            <a:prstDash val="dash"/>
          </a:ln>
        </p:spPr>
      </p:sp>
      <p:sp>
        <p:nvSpPr>
          <p:cNvPr id="13" name="right-text"/>
          <p:cNvSpPr txBox="1"/>
          <p:nvPr/>
        </p:nvSpPr>
        <p:spPr>
          <a:xfrm>
            <a:off x="6400800" y="1803400"/>
            <a:ext cx="5334000" cy="3530600"/>
          </a:xfrm>
          <a:prstGeom prst="rect">
            <a:avLst/>
          </a:prstGeom>
          <a:noFill/>
          <a:ln>
            <a:noFill/>
          </a:ln>
        </p:spPr>
        <p:txBody>
          <a:bodyPr wrap="square" lIns="0" tIns="0" rIns="0" bIns="0" rtlCol="0" anchor="ctr"/>
          <a:lstStyle/>
          <a:p>
            <a:pPr algn="just">
              <a:lnSpc>
                <a:spcPct val="155000"/>
              </a:lnSpc>
            </a:pPr>
            <a:r>
              <a:rPr lang="en-US" sz="1500" b="1" noProof="1">
                <a:solidFill>
                  <a:srgbClr val="000000"/>
                </a:solidFill>
                <a:latin typeface="Times New Roman" panose="02020603050405020304"/>
                <a:ea typeface="微软雅黑" panose="020B0503020204020204" pitchFamily="34" charset="-122"/>
              </a:rPr>
              <a:t>① Take the </a:t>
            </a:r>
            <a:r>
              <a:rPr lang="en-US" sz="1500" b="1" noProof="1">
                <a:solidFill>
                  <a:srgbClr val="0070C0"/>
                </a:solidFill>
                <a:latin typeface="Times New Roman" panose="02020603050405020304"/>
                <a:ea typeface="微软雅黑" panose="020B0503020204020204" pitchFamily="34" charset="-122"/>
              </a:rPr>
              <a:t>SGK geometric kernel and GeneHull platform</a:t>
            </a:r>
            <a:r>
              <a:rPr lang="en-US" sz="1500" b="1" noProof="1">
                <a:solidFill>
                  <a:srgbClr val="000000"/>
                </a:solidFill>
                <a:latin typeface="Times New Roman" panose="02020603050405020304"/>
                <a:ea typeface="微软雅黑" panose="020B0503020204020204" pitchFamily="34" charset="-122"/>
              </a:rPr>
              <a:t> as the foundation, encapsulating the modeling–deformation–evaluation–optimization toolchain;</a:t>
            </a:r>
            <a:endParaRPr lang="en-US" sz="1500" noProof="1"/>
          </a:p>
          <a:p>
            <a:pPr algn="just">
              <a:lnSpc>
                <a:spcPct val="155000"/>
              </a:lnSpc>
            </a:pPr>
            <a:r>
              <a:rPr lang="en-US" sz="1500" b="1" noProof="1">
                <a:solidFill>
                  <a:srgbClr val="000000"/>
                </a:solidFill>
                <a:latin typeface="Times New Roman" panose="02020603050405020304"/>
                <a:ea typeface="微软雅黑" panose="020B0503020204020204" pitchFamily="34" charset="-122"/>
              </a:rPr>
              <a:t>② Take the </a:t>
            </a:r>
            <a:r>
              <a:rPr lang="en-US" sz="1500" b="1" noProof="1">
                <a:solidFill>
                  <a:srgbClr val="0070C0"/>
                </a:solidFill>
                <a:latin typeface="Times New Roman" panose="02020603050405020304"/>
                <a:ea typeface="微软雅黑" panose="020B0503020204020204" pitchFamily="34" charset="-122"/>
              </a:rPr>
              <a:t>hull knowledge base, design rule base and knowledge graph</a:t>
            </a:r>
            <a:r>
              <a:rPr lang="en-US" sz="1500" b="1" noProof="1">
                <a:solidFill>
                  <a:srgbClr val="000000"/>
                </a:solidFill>
                <a:latin typeface="Times New Roman" panose="02020603050405020304"/>
                <a:ea typeface="微软雅黑" panose="020B0503020204020204" pitchFamily="34" charset="-122"/>
              </a:rPr>
              <a:t> as the agent's domain knowledge sources;</a:t>
            </a:r>
            <a:endParaRPr lang="en-US" sz="1500" noProof="1"/>
          </a:p>
          <a:p>
            <a:pPr algn="just">
              <a:lnSpc>
                <a:spcPct val="155000"/>
              </a:lnSpc>
            </a:pPr>
            <a:r>
              <a:rPr lang="en-US" sz="1500" b="1" noProof="1">
                <a:solidFill>
                  <a:srgbClr val="000000"/>
                </a:solidFill>
                <a:latin typeface="Times New Roman" panose="02020603050405020304"/>
                <a:ea typeface="微软雅黑" panose="020B0503020204020204" pitchFamily="34" charset="-122"/>
              </a:rPr>
              <a:t>③ Take the </a:t>
            </a:r>
            <a:r>
              <a:rPr lang="en-US" sz="1500" b="1" noProof="1">
                <a:solidFill>
                  <a:srgbClr val="0070C0"/>
                </a:solidFill>
                <a:latin typeface="Times New Roman" panose="02020603050405020304"/>
                <a:ea typeface="微软雅黑" panose="020B0503020204020204" pitchFamily="34" charset="-122"/>
              </a:rPr>
              <a:t>deep-learning surrogate models</a:t>
            </a:r>
            <a:r>
              <a:rPr lang="en-US" sz="1500" b="1" noProof="1">
                <a:solidFill>
                  <a:srgbClr val="000000"/>
                </a:solidFill>
                <a:latin typeface="Times New Roman" panose="02020603050405020304"/>
                <a:ea typeface="微软雅黑" panose="020B0503020204020204" pitchFamily="34" charset="-122"/>
              </a:rPr>
              <a:t> (graph neural networks, symbolic regression) for rapid hydrodynamic evaluation;</a:t>
            </a:r>
            <a:endParaRPr lang="en-US" sz="1500" noProof="1"/>
          </a:p>
          <a:p>
            <a:pPr algn="just">
              <a:lnSpc>
                <a:spcPct val="155000"/>
              </a:lnSpc>
            </a:pPr>
            <a:r>
              <a:rPr lang="en-US" sz="1500" b="1" noProof="1">
                <a:solidFill>
                  <a:srgbClr val="000000"/>
                </a:solidFill>
                <a:latin typeface="Times New Roman" panose="02020603050405020304"/>
                <a:ea typeface="微软雅黑" panose="020B0503020204020204" pitchFamily="34" charset="-122"/>
              </a:rPr>
              <a:t>④ Establish a "</a:t>
            </a:r>
            <a:r>
              <a:rPr lang="en-US" sz="1500" b="1" noProof="1">
                <a:solidFill>
                  <a:srgbClr val="0070C0"/>
                </a:solidFill>
                <a:latin typeface="Times New Roman" panose="02020603050405020304"/>
                <a:ea typeface="微软雅黑" panose="020B0503020204020204" pitchFamily="34" charset="-122"/>
              </a:rPr>
              <a:t>"agent-autonomous design + expert review"</a:t>
            </a:r>
            <a:r>
              <a:rPr lang="en-US" sz="1500" b="1" noProof="1">
                <a:solidFill>
                  <a:srgbClr val="000000"/>
                </a:solidFill>
                <a:latin typeface="Times New Roman" panose="02020603050405020304"/>
                <a:ea typeface="微软雅黑" panose="020B0503020204020204" pitchFamily="34" charset="-122"/>
              </a:rPr>
              <a:t>" human-machine collaborative loop.</a:t>
            </a:r>
            <a:endParaRPr lang="en-US" sz="1500" noProof="1"/>
          </a:p>
        </p:txBody>
      </p:sp>
      <p:sp>
        <p:nvSpPr>
          <p:cNvPr id="14" name="bottom-note"/>
          <p:cNvSpPr txBox="1"/>
          <p:nvPr/>
        </p:nvSpPr>
        <p:spPr>
          <a:xfrm>
            <a:off x="381000" y="5545158"/>
            <a:ext cx="11430000" cy="762000"/>
          </a:xfrm>
          <a:prstGeom prst="rect">
            <a:avLst/>
          </a:prstGeom>
          <a:noFill/>
          <a:ln>
            <a:noFill/>
          </a:ln>
        </p:spPr>
        <p:txBody>
          <a:bodyPr wrap="square" lIns="0" tIns="0" rIns="0" bIns="0" rtlCol="0" anchor="t"/>
          <a:lstStyle/>
          <a:p>
            <a:pPr algn="ctr">
              <a:lnSpc>
                <a:spcPct val="140000"/>
              </a:lnSpc>
            </a:pPr>
            <a:r>
              <a:rPr lang="en-US" sz="2000" b="1" noProof="1">
                <a:solidFill>
                  <a:srgbClr val="000000"/>
                </a:solidFill>
                <a:latin typeface="微软雅黑" panose="020B0503020204020204" pitchFamily="34" charset="-122"/>
                <a:ea typeface="微软雅黑" panose="020B0503020204020204" pitchFamily="34" charset="-122"/>
              </a:rPr>
              <a:t>The team already has complete technical foundations in </a:t>
            </a:r>
            <a:r>
              <a:rPr lang="en-US" sz="2000" b="1" noProof="1">
                <a:solidFill>
                  <a:srgbClr val="FF0000"/>
                </a:solidFill>
                <a:latin typeface="微软雅黑" panose="020B0503020204020204" pitchFamily="34" charset="-122"/>
                <a:ea typeface="微软雅黑" panose="020B0503020204020204" pitchFamily="34" charset="-122"/>
              </a:rPr>
              <a:t>geometric kernels, intelligent design platforms, knowledge bases and surrogate models</a:t>
            </a:r>
            <a:r>
              <a:rPr lang="en-US" sz="2000" b="1" noProof="1">
                <a:solidFill>
                  <a:srgbClr val="000000"/>
                </a:solidFill>
                <a:latin typeface="微软雅黑" panose="020B0503020204020204" pitchFamily="34" charset="-122"/>
                <a:ea typeface="微软雅黑" panose="020B0503020204020204" pitchFamily="34" charset="-122"/>
              </a:rPr>
              <a:t>, laying a solid foundation for AI-Agent autonomous hull design</a:t>
            </a:r>
            <a:endParaRPr lang="en-US" sz="2000" noProof="1"/>
          </a:p>
        </p:txBody>
      </p:sp>
      <p:sp>
        <p:nvSpPr>
          <p:cNvPr id="15" name="平行四边形 14"/>
          <p:cNvSpPr/>
          <p:nvPr/>
        </p:nvSpPr>
        <p:spPr>
          <a:xfrm>
            <a:off x="191344" y="683645"/>
            <a:ext cx="5747176"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4343"/>
              </a:buClr>
              <a:buFont typeface="Wingdings" panose="05000000000000000000" pitchFamily="2" charset="2"/>
              <a:buChar char="n"/>
              <a:defRPr/>
            </a:pPr>
            <a:r>
              <a:rPr lang="en-US" altLang="zh-CN" b="1" noProof="1">
                <a:solidFill>
                  <a:srgbClr val="000000"/>
                </a:solidFill>
                <a:latin typeface="Times New Roman" panose="02020603050405020304"/>
                <a:ea typeface="微软雅黑" panose="020B0503020204020204" pitchFamily="34" charset="-122"/>
              </a:rPr>
              <a:t>Key Challenges and Implementation Path</a:t>
            </a:r>
            <a:endParaRPr lang="en-US" altLang="zh-CN" b="1" noProof="1">
              <a:solidFill>
                <a:srgbClr val="000000"/>
              </a:solidFill>
              <a:latin typeface="Times New Roman" panose="02020603050405020304"/>
              <a:ea typeface="微软雅黑" panose="020B0503020204020204" pitchFamily="34" charset="-122"/>
            </a:endParaRPr>
          </a:p>
        </p:txBody>
      </p:sp>
      <p:sp>
        <p:nvSpPr>
          <p:cNvPr id="7" name="chip1-text"/>
          <p:cNvSpPr txBox="1"/>
          <p:nvPr/>
        </p:nvSpPr>
        <p:spPr>
          <a:xfrm>
            <a:off x="299720" y="1270000"/>
            <a:ext cx="2032000" cy="457200"/>
          </a:xfrm>
          <a:prstGeom prst="rect">
            <a:avLst/>
          </a:prstGeom>
          <a:solidFill>
            <a:srgbClr val="0070C0"/>
          </a:solidFill>
          <a:ln>
            <a:noFill/>
          </a:ln>
        </p:spPr>
        <p:txBody>
          <a:bodyPr wrap="square" lIns="0" tIns="0" rIns="0" bIns="0" rtlCol="0" anchor="ctr"/>
          <a:lstStyle/>
          <a:p>
            <a:pPr algn="ctr">
              <a:lnSpc>
                <a:spcPct val="120000"/>
              </a:lnSpc>
            </a:pPr>
            <a:r>
              <a:rPr lang="en-US" sz="1600" b="1" noProof="1">
                <a:solidFill>
                  <a:srgbClr val="FFFFFF"/>
                </a:solidFill>
                <a:latin typeface="Times New Roman" panose="02020603050405020304"/>
                <a:ea typeface="微软雅黑" panose="020B0503020204020204" pitchFamily="34" charset="-122"/>
              </a:rPr>
              <a:t>Key Challenges</a:t>
            </a:r>
            <a:endParaRPr lang="en-US" sz="1600" noProof="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1261872"/>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83464"/>
            <a:ext cx="64008" cy="347472"/>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0664" y="173736"/>
            <a:ext cx="10607040" cy="5486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7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From Lines Plan to an Editable .ahp Project</a:t>
            </a:r>
            <a:endParaRPr kumimoji="0" sz="27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749808" y="868680"/>
            <a:ext cx="36576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Case Overview</a:t>
            </a:r>
            <a:endParaRPr kumimoji="0" sz="14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6" name="TextBox 5"/>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7" name="Rounded Rectangle 6"/>
          <p:cNvSpPr/>
          <p:nvPr/>
        </p:nvSpPr>
        <p:spPr>
          <a:xfrm>
            <a:off x="530352" y="1417320"/>
            <a:ext cx="5413248" cy="35204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val 7"/>
          <p:cNvSpPr/>
          <p:nvPr/>
        </p:nvSpPr>
        <p:spPr>
          <a:xfrm>
            <a:off x="713232" y="15544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9" name="TextBox 8"/>
          <p:cNvSpPr txBox="1"/>
          <p:nvPr/>
        </p:nvSpPr>
        <p:spPr>
          <a:xfrm>
            <a:off x="1170431" y="1609344"/>
            <a:ext cx="459028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Original input: lines plan</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667512" y="1993392"/>
            <a:ext cx="5138928"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01_img01.png"/>
          <p:cNvPicPr>
            <a:picLocks noChangeAspect="1"/>
          </p:cNvPicPr>
          <p:nvPr/>
        </p:nvPicPr>
        <p:blipFill>
          <a:blip r:embed="rId1"/>
          <a:stretch>
            <a:fillRect/>
          </a:stretch>
        </p:blipFill>
        <p:spPr>
          <a:xfrm>
            <a:off x="1332646" y="2066544"/>
            <a:ext cx="3808658" cy="2139696"/>
          </a:xfrm>
          <a:prstGeom prst="rect">
            <a:avLst/>
          </a:prstGeom>
        </p:spPr>
      </p:pic>
      <p:sp>
        <p:nvSpPr>
          <p:cNvPr id="12" name="TextBox 11"/>
          <p:cNvSpPr txBox="1"/>
          <p:nvPr/>
        </p:nvSpPr>
        <p:spPr>
          <a:xfrm>
            <a:off x="713232" y="4407408"/>
            <a:ext cx="5047488"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Raw geometric input required for modeling</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Rounded Rectangle 12"/>
          <p:cNvSpPr/>
          <p:nvPr/>
        </p:nvSpPr>
        <p:spPr>
          <a:xfrm>
            <a:off x="5943600" y="1417320"/>
            <a:ext cx="5715000" cy="35204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p:cNvSpPr/>
          <p:nvPr/>
        </p:nvSpPr>
        <p:spPr>
          <a:xfrm>
            <a:off x="6126480" y="1554480"/>
            <a:ext cx="347472" cy="3474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5" name="TextBox 14"/>
          <p:cNvSpPr txBox="1"/>
          <p:nvPr/>
        </p:nvSpPr>
        <p:spPr>
          <a:xfrm>
            <a:off x="6583680" y="1609344"/>
            <a:ext cx="48920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Final output: editable project</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6" name="Rounded Rectangle 15"/>
          <p:cNvSpPr/>
          <p:nvPr/>
        </p:nvSpPr>
        <p:spPr>
          <a:xfrm>
            <a:off x="6080760" y="1993392"/>
            <a:ext cx="5440680"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descr="s01_img02.png"/>
          <p:cNvPicPr>
            <a:picLocks noChangeAspect="1"/>
          </p:cNvPicPr>
          <p:nvPr/>
        </p:nvPicPr>
        <p:blipFill>
          <a:blip r:embed="rId2"/>
          <a:stretch>
            <a:fillRect/>
          </a:stretch>
        </p:blipFill>
        <p:spPr>
          <a:xfrm>
            <a:off x="7249820" y="2066544"/>
            <a:ext cx="3102559" cy="2139696"/>
          </a:xfrm>
          <a:prstGeom prst="rect">
            <a:avLst/>
          </a:prstGeom>
        </p:spPr>
      </p:pic>
      <p:sp>
        <p:nvSpPr>
          <p:cNvPr id="18" name="TextBox 17"/>
          <p:cNvSpPr txBox="1"/>
          <p:nvPr/>
        </p:nvSpPr>
        <p:spPr>
          <a:xfrm>
            <a:off x="6126480" y="4407408"/>
            <a:ext cx="534924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Hull surface and project, editable after import into GeneHull</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9" name="Rounded Rectangle 18"/>
          <p:cNvSpPr/>
          <p:nvPr/>
        </p:nvSpPr>
        <p:spPr>
          <a:xfrm>
            <a:off x="53035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p:cNvSpPr txBox="1"/>
          <p:nvPr/>
        </p:nvSpPr>
        <p:spPr>
          <a:xfrm>
            <a:off x="71323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Longitudinal lines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1" name="TextBox 20"/>
          <p:cNvSpPr txBox="1"/>
          <p:nvPr/>
        </p:nvSpPr>
        <p:spPr>
          <a:xfrm>
            <a:off x="71323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12</a:t>
            </a:r>
            <a:endPar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2" name="Rounded Rectangle 21"/>
          <p:cNvSpPr/>
          <p:nvPr/>
        </p:nvSpPr>
        <p:spPr>
          <a:xfrm>
            <a:off x="277063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p:cNvSpPr txBox="1"/>
          <p:nvPr/>
        </p:nvSpPr>
        <p:spPr>
          <a:xfrm>
            <a:off x="295351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WUT segments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4" name="TextBox 23"/>
          <p:cNvSpPr txBox="1"/>
          <p:nvPr/>
        </p:nvSpPr>
        <p:spPr>
          <a:xfrm>
            <a:off x="295351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105</a:t>
            </a:r>
            <a:endPar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
        <p:nvSpPr>
          <p:cNvPr id="25" name="Rounded Rectangle 24"/>
          <p:cNvSpPr/>
          <p:nvPr/>
        </p:nvSpPr>
        <p:spPr>
          <a:xfrm>
            <a:off x="501091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p:cNvSpPr txBox="1"/>
          <p:nvPr/>
        </p:nvSpPr>
        <p:spPr>
          <a:xfrm>
            <a:off x="519379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Straight segments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7" name="TextBox 26"/>
          <p:cNvSpPr txBox="1"/>
          <p:nvPr/>
        </p:nvSpPr>
        <p:spPr>
          <a:xfrm>
            <a:off x="519379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67</a:t>
            </a:r>
            <a:endPar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
        <p:nvSpPr>
          <p:cNvPr id="28" name="Rounded Rectangle 27"/>
          <p:cNvSpPr/>
          <p:nvPr/>
        </p:nvSpPr>
        <p:spPr>
          <a:xfrm>
            <a:off x="725119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p:cNvSpPr txBox="1"/>
          <p:nvPr/>
        </p:nvSpPr>
        <p:spPr>
          <a:xfrm>
            <a:off x="743407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Shape control curves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0" name="TextBox 29"/>
          <p:cNvSpPr txBox="1"/>
          <p:nvPr/>
        </p:nvSpPr>
        <p:spPr>
          <a:xfrm>
            <a:off x="743407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10</a:t>
            </a:r>
            <a:endPar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31" name="Rounded Rectangle 30"/>
          <p:cNvSpPr/>
          <p:nvPr/>
        </p:nvSpPr>
        <p:spPr>
          <a:xfrm>
            <a:off x="9491472" y="5212080"/>
            <a:ext cx="2112264"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p:cNvSpPr txBox="1"/>
          <p:nvPr/>
        </p:nvSpPr>
        <p:spPr>
          <a:xfrm>
            <a:off x="9674352" y="5340096"/>
            <a:ext cx="1746504"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AHP project objects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3" name="TextBox 32"/>
          <p:cNvSpPr txBox="1"/>
          <p:nvPr/>
        </p:nvSpPr>
        <p:spPr>
          <a:xfrm>
            <a:off x="9674352" y="5632704"/>
            <a:ext cx="1746504" cy="44805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214</a:t>
            </a:r>
            <a:endPar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Six-Step Modeling Chain: from Lines Plan to Editable Project</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Modeling workflow</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2</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custDataLst>
              <p:tags r:id="rId1"/>
            </p:custDataLst>
          </p:nvPr>
        </p:nvSpPr>
        <p:spPr>
          <a:xfrm>
            <a:off x="530352" y="1371600"/>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p:cNvSpPr/>
          <p:nvPr>
            <p:custDataLst>
              <p:tags r:id="rId2"/>
            </p:custDataLst>
          </p:nvPr>
        </p:nvSpPr>
        <p:spPr>
          <a:xfrm>
            <a:off x="694944" y="1499616"/>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01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custDataLst>
              <p:tags r:id="rId3"/>
            </p:custDataLst>
          </p:nvPr>
        </p:nvSpPr>
        <p:spPr>
          <a:xfrm>
            <a:off x="3273552" y="1508760"/>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AI</a:t>
            </a:r>
            <a:endPar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1" name="TextBox 10"/>
          <p:cNvSpPr txBox="1"/>
          <p:nvPr>
            <p:custDataLst>
              <p:tags r:id="rId4"/>
            </p:custDataLst>
          </p:nvPr>
        </p:nvSpPr>
        <p:spPr>
          <a:xfrm>
            <a:off x="713232" y="1920240"/>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AI line recognition</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2" name="TextBox 11"/>
          <p:cNvSpPr txBox="1"/>
          <p:nvPr>
            <p:custDataLst>
              <p:tags r:id="rId5"/>
            </p:custDataLst>
          </p:nvPr>
        </p:nvSpPr>
        <p:spPr>
          <a:xfrm>
            <a:off x="713232" y="2240280"/>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Centerline profile, flat bottom line, flat side line, design waterline, deck side line (h, w), forecastle deck side line (h, w), bulwark top line (h, w)</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Rounded Rectangle 12"/>
          <p:cNvSpPr/>
          <p:nvPr>
            <p:custDataLst>
              <p:tags r:id="rId6"/>
            </p:custDataLst>
          </p:nvPr>
        </p:nvSpPr>
        <p:spPr>
          <a:xfrm>
            <a:off x="4297680" y="1371600"/>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p:cNvSpPr/>
          <p:nvPr>
            <p:custDataLst>
              <p:tags r:id="rId7"/>
            </p:custDataLst>
          </p:nvPr>
        </p:nvSpPr>
        <p:spPr>
          <a:xfrm>
            <a:off x="4462272" y="1499616"/>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02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5" name="Rounded Rectangle 14"/>
          <p:cNvSpPr/>
          <p:nvPr>
            <p:custDataLst>
              <p:tags r:id="rId8"/>
            </p:custDataLst>
          </p:nvPr>
        </p:nvSpPr>
        <p:spPr>
          <a:xfrm>
            <a:off x="7040880" y="1508760"/>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AI</a:t>
            </a:r>
            <a:endPar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6" name="TextBox 15"/>
          <p:cNvSpPr txBox="1"/>
          <p:nvPr>
            <p:custDataLst>
              <p:tags r:id="rId9"/>
            </p:custDataLst>
          </p:nvPr>
        </p:nvSpPr>
        <p:spPr>
          <a:xfrm>
            <a:off x="4480560" y="1920240"/>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Longitudinal lines &amp; WUT</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7" name="TextBox 16"/>
          <p:cNvSpPr txBox="1"/>
          <p:nvPr>
            <p:custDataLst>
              <p:tags r:id="rId10"/>
            </p:custDataLst>
          </p:nvPr>
        </p:nvSpPr>
        <p:spPr>
          <a:xfrm>
            <a:off x="4480560" y="2240280"/>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Split each line into segments at its intersections with adjacent stations; endpoint coordinates come from the table of offsets, fullness and tangent angles from the lines plan.</a:t>
            </a:r>
            <a:endPar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8" name="Rounded Rectangle 17"/>
          <p:cNvSpPr/>
          <p:nvPr>
            <p:custDataLst>
              <p:tags r:id="rId11"/>
            </p:custDataLst>
          </p:nvPr>
        </p:nvSpPr>
        <p:spPr>
          <a:xfrm>
            <a:off x="8065008" y="1371600"/>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p:cNvSpPr/>
          <p:nvPr>
            <p:custDataLst>
              <p:tags r:id="rId12"/>
            </p:custDataLst>
          </p:nvPr>
        </p:nvSpPr>
        <p:spPr>
          <a:xfrm>
            <a:off x="8229600" y="1499616"/>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03</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0" name="Rounded Rectangle 19"/>
          <p:cNvSpPr/>
          <p:nvPr>
            <p:custDataLst>
              <p:tags r:id="rId13"/>
            </p:custDataLst>
          </p:nvPr>
        </p:nvSpPr>
        <p:spPr>
          <a:xfrm>
            <a:off x="10808208" y="1508760"/>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AI</a:t>
            </a:r>
            <a:endPar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1" name="TextBox 20"/>
          <p:cNvSpPr txBox="1"/>
          <p:nvPr>
            <p:custDataLst>
              <p:tags r:id="rId14"/>
            </p:custDataLst>
          </p:nvPr>
        </p:nvSpPr>
        <p:spPr>
          <a:xfrm>
            <a:off x="8247888" y="1920240"/>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Shape control curves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2" name="TextBox 21"/>
          <p:cNvSpPr txBox="1"/>
          <p:nvPr>
            <p:custDataLst>
              <p:tags r:id="rId15"/>
            </p:custDataLst>
          </p:nvPr>
        </p:nvSpPr>
        <p:spPr>
          <a:xfrm>
            <a:off x="8247888" y="2240280"/>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Read from the body plan, station by station, the fullness of each segment and the tangent angles to the longitudinal lines; fit them along the length with WUT splines into fullness and tangent-angle curves.</a:t>
            </a:r>
            <a:endParaRPr kumimoji="0" lang="zh-CN" altLang="en-US"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3" name="Rounded Rectangle 22"/>
          <p:cNvSpPr/>
          <p:nvPr>
            <p:custDataLst>
              <p:tags r:id="rId16"/>
            </p:custDataLst>
          </p:nvPr>
        </p:nvSpPr>
        <p:spPr>
          <a:xfrm>
            <a:off x="530352" y="3328416"/>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Oval 23"/>
          <p:cNvSpPr/>
          <p:nvPr>
            <p:custDataLst>
              <p:tags r:id="rId17"/>
            </p:custDataLst>
          </p:nvPr>
        </p:nvSpPr>
        <p:spPr>
          <a:xfrm>
            <a:off x="694944" y="3456432"/>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04</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5" name="Rounded Rectangle 24"/>
          <p:cNvSpPr/>
          <p:nvPr>
            <p:custDataLst>
              <p:tags r:id="rId18"/>
            </p:custDataLst>
          </p:nvPr>
        </p:nvSpPr>
        <p:spPr>
          <a:xfrm>
            <a:off x="3273552" y="3465576"/>
            <a:ext cx="713232" cy="292608"/>
          </a:xfrm>
          <a:prstGeom prst="roundRect">
            <a:avLst>
              <a:gd name="adj" fmla="val 50000"/>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0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Human</a:t>
            </a:r>
            <a:endParaRPr kumimoji="0" sz="10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6" name="TextBox 25"/>
          <p:cNvSpPr txBox="1"/>
          <p:nvPr>
            <p:custDataLst>
              <p:tags r:id="rId19"/>
            </p:custDataLst>
          </p:nvPr>
        </p:nvSpPr>
        <p:spPr>
          <a:xfrm>
            <a:off x="713232" y="3877056"/>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Sections &amp; section groups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7" name="TextBox 26"/>
          <p:cNvSpPr txBox="1"/>
          <p:nvPr>
            <p:custDataLst>
              <p:tags r:id="rId20"/>
            </p:custDataLst>
          </p:nvPr>
        </p:nvSpPr>
        <p:spPr>
          <a:xfrm>
            <a:off x="713232" y="4197096"/>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Divide the hull into regions by its features and assign a section to each; sections bind to the longitudinal lines so the section group varies smoothly along the ship.</a:t>
            </a:r>
            <a:endPar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8" name="Rounded Rectangle 27"/>
          <p:cNvSpPr/>
          <p:nvPr>
            <p:custDataLst>
              <p:tags r:id="rId21"/>
            </p:custDataLst>
          </p:nvPr>
        </p:nvSpPr>
        <p:spPr>
          <a:xfrm>
            <a:off x="4297680" y="3328416"/>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Oval 28"/>
          <p:cNvSpPr/>
          <p:nvPr>
            <p:custDataLst>
              <p:tags r:id="rId22"/>
            </p:custDataLst>
          </p:nvPr>
        </p:nvSpPr>
        <p:spPr>
          <a:xfrm>
            <a:off x="4462272" y="3456432"/>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05</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30" name="Rounded Rectangle 29"/>
          <p:cNvSpPr/>
          <p:nvPr>
            <p:custDataLst>
              <p:tags r:id="rId23"/>
            </p:custDataLst>
          </p:nvPr>
        </p:nvSpPr>
        <p:spPr>
          <a:xfrm>
            <a:off x="7040880" y="3465576"/>
            <a:ext cx="713232" cy="292608"/>
          </a:xfrm>
          <a:prstGeom prst="roundRect">
            <a:avLst>
              <a:gd name="adj" fmla="val 50000"/>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0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Human</a:t>
            </a:r>
            <a:endParaRPr kumimoji="0" sz="10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31" name="TextBox 30"/>
          <p:cNvSpPr txBox="1"/>
          <p:nvPr>
            <p:custDataLst>
              <p:tags r:id="rId24"/>
            </p:custDataLst>
          </p:nvPr>
        </p:nvSpPr>
        <p:spPr>
          <a:xfrm>
            <a:off x="4480560" y="3877056"/>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Hull skinning</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32" name="TextBox 31"/>
          <p:cNvSpPr txBox="1"/>
          <p:nvPr>
            <p:custDataLst>
              <p:tags r:id="rId25"/>
            </p:custDataLst>
          </p:nvPr>
        </p:nvSpPr>
        <p:spPr>
          <a:xfrm>
            <a:off x="4480560" y="4197096"/>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Loft the section groups into hull surfaces.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3" name="Rounded Rectangle 32"/>
          <p:cNvSpPr/>
          <p:nvPr>
            <p:custDataLst>
              <p:tags r:id="rId26"/>
            </p:custDataLst>
          </p:nvPr>
        </p:nvSpPr>
        <p:spPr>
          <a:xfrm>
            <a:off x="8065008" y="3328416"/>
            <a:ext cx="3602736" cy="1810512"/>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Oval 33"/>
          <p:cNvSpPr/>
          <p:nvPr>
            <p:custDataLst>
              <p:tags r:id="rId27"/>
            </p:custDataLst>
          </p:nvPr>
        </p:nvSpPr>
        <p:spPr>
          <a:xfrm>
            <a:off x="8229600" y="3456432"/>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06</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35" name="Rounded Rectangle 34"/>
          <p:cNvSpPr/>
          <p:nvPr>
            <p:custDataLst>
              <p:tags r:id="rId28"/>
            </p:custDataLst>
          </p:nvPr>
        </p:nvSpPr>
        <p:spPr>
          <a:xfrm>
            <a:off x="10808208" y="3465576"/>
            <a:ext cx="713232" cy="292608"/>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AI</a:t>
            </a:r>
            <a:endParaRPr kumimoji="0" sz="10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36" name="TextBox 35"/>
          <p:cNvSpPr txBox="1"/>
          <p:nvPr>
            <p:custDataLst>
              <p:tags r:id="rId29"/>
            </p:custDataLst>
          </p:nvPr>
        </p:nvSpPr>
        <p:spPr>
          <a:xfrm>
            <a:off x="8247888" y="3877056"/>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Stern fin construction</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37" name="TextBox 36"/>
          <p:cNvSpPr txBox="1"/>
          <p:nvPr>
            <p:custDataLst>
              <p:tags r:id="rId30"/>
            </p:custDataLst>
          </p:nvPr>
        </p:nvSpPr>
        <p:spPr>
          <a:xfrm>
            <a:off x="8247888" y="4197096"/>
            <a:ext cx="3246120" cy="868680"/>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First create the fin outline curves to control the circumferential shape; then connect proportional points on the outlines into guide curves controlling the axial shape.</a:t>
            </a:r>
            <a:endParaRPr kumimoji="0" lang="en-US" altLang="zh-CN"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8" name="Rounded Rectangle 37"/>
          <p:cNvSpPr/>
          <p:nvPr/>
        </p:nvSpPr>
        <p:spPr>
          <a:xfrm>
            <a:off x="530352" y="5349240"/>
            <a:ext cx="11128248" cy="960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TextBox 38"/>
          <p:cNvSpPr txBox="1"/>
          <p:nvPr/>
        </p:nvSpPr>
        <p:spPr>
          <a:xfrm>
            <a:off x="731520" y="5458968"/>
            <a:ext cx="106984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Human-AI division of labor in the AHP project</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40" name="TextBox 39"/>
          <p:cNvSpPr txBox="1"/>
          <p:nvPr/>
        </p:nvSpPr>
        <p:spPr>
          <a:xfrm>
            <a:off x="731520" y="5779008"/>
            <a:ext cx="1069848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Human: section curves, section groups, hull skinning, and hull region division; all other steps are completed interactively with AI.</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1 | AI Recognition of Longitudinal Feature Lines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1 · AI line recognition</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3</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598932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p:cNvSpPr/>
          <p:nvPr/>
        </p:nvSpPr>
        <p:spPr>
          <a:xfrm>
            <a:off x="713232" y="1517904"/>
            <a:ext cx="1737360" cy="365760"/>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AI recognition workflow</a:t>
            </a:r>
            <a:endParaRPr kumimoji="0" sz="1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0" name="Oval 9"/>
          <p:cNvSpPr/>
          <p:nvPr/>
        </p:nvSpPr>
        <p:spPr>
          <a:xfrm>
            <a:off x="777240" y="2075688"/>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1" name="TextBox 10"/>
          <p:cNvSpPr txBox="1"/>
          <p:nvPr/>
        </p:nvSpPr>
        <p:spPr>
          <a:xfrm>
            <a:off x="1234440" y="2057400"/>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Locate the drawing and target lines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2" name="TextBox 11"/>
          <p:cNvSpPr txBox="1"/>
          <p:nvPr/>
        </p:nvSpPr>
        <p:spPr>
          <a:xfrm>
            <a:off x="1234440" y="2350008"/>
            <a:ext cx="5120640" cy="713232"/>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 2D feature line needs one curve only (e.g., the flat bottom line, read from the half-breadth plan); a 3D line needs two curves for width and height (e.g., the deck side line).</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Rectangle 12"/>
          <p:cNvSpPr/>
          <p:nvPr/>
        </p:nvSpPr>
        <p:spPr>
          <a:xfrm>
            <a:off x="777240" y="3035808"/>
            <a:ext cx="5394960" cy="11430"/>
          </a:xfrm>
          <a:prstGeom prst="rect">
            <a:avLst/>
          </a:prstGeom>
          <a:solidFill>
            <a:srgbClr val="D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p:cNvSpPr/>
          <p:nvPr/>
        </p:nvSpPr>
        <p:spPr>
          <a:xfrm>
            <a:off x="777240" y="3154679"/>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5" name="TextBox 14"/>
          <p:cNvSpPr txBox="1"/>
          <p:nvPr/>
        </p:nvSpPr>
        <p:spPr>
          <a:xfrm>
            <a:off x="1234440" y="3136391"/>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Locate intersections with station lines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6" name="TextBox 15"/>
          <p:cNvSpPr txBox="1"/>
          <p:nvPr/>
        </p:nvSpPr>
        <p:spPr>
          <a:xfrm>
            <a:off x="1234440" y="3428999"/>
            <a:ext cx="5120640" cy="566928"/>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 station line gives the X coordinate; the table of offsets supplies Y and Z (breadth and height), so the intersection is fixed.</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7" name="Rectangle 16"/>
          <p:cNvSpPr/>
          <p:nvPr/>
        </p:nvSpPr>
        <p:spPr>
          <a:xfrm>
            <a:off x="777240" y="4114800"/>
            <a:ext cx="5394960" cy="11430"/>
          </a:xfrm>
          <a:prstGeom prst="rect">
            <a:avLst/>
          </a:prstGeom>
          <a:solidFill>
            <a:srgbClr val="D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p:cNvSpPr/>
          <p:nvPr/>
        </p:nvSpPr>
        <p:spPr>
          <a:xfrm>
            <a:off x="777240" y="4233671"/>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3</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9" name="TextBox 18"/>
          <p:cNvSpPr txBox="1"/>
          <p:nvPr/>
        </p:nvSpPr>
        <p:spPr>
          <a:xfrm>
            <a:off x="1234440" y="4215383"/>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Read end tangent angles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0" name="TextBox 19"/>
          <p:cNvSpPr txBox="1"/>
          <p:nvPr/>
        </p:nvSpPr>
        <p:spPr>
          <a:xfrm>
            <a:off x="1234440" y="4507992"/>
            <a:ext cx="5120640" cy="713232"/>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Draw tangents at both endpoints and measure the tangent angles.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1" name="Rectangle 20"/>
          <p:cNvSpPr/>
          <p:nvPr/>
        </p:nvSpPr>
        <p:spPr>
          <a:xfrm>
            <a:off x="777240" y="5193792"/>
            <a:ext cx="5394960" cy="11430"/>
          </a:xfrm>
          <a:prstGeom prst="rect">
            <a:avLst/>
          </a:prstGeom>
          <a:solidFill>
            <a:srgbClr val="DD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p:cNvSpPr/>
          <p:nvPr/>
        </p:nvSpPr>
        <p:spPr>
          <a:xfrm>
            <a:off x="777240" y="5312664"/>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4</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3" name="TextBox 22"/>
          <p:cNvSpPr txBox="1"/>
          <p:nvPr/>
        </p:nvSpPr>
        <p:spPr>
          <a:xfrm>
            <a:off x="1234440" y="5294376"/>
            <a:ext cx="51206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Compute the segment fullness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4" name="TextBox 23"/>
          <p:cNvSpPr txBox="1"/>
          <p:nvPr/>
        </p:nvSpPr>
        <p:spPr>
          <a:xfrm>
            <a:off x="1234440" y="5586984"/>
            <a:ext cx="5120640" cy="713232"/>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Form the rectangle whose diagonal joins the endpoints (area S); the integral area between curve and edge is A, so fullness F = A/S.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5" name="Rounded Rectangle 24"/>
          <p:cNvSpPr/>
          <p:nvPr/>
        </p:nvSpPr>
        <p:spPr>
          <a:xfrm>
            <a:off x="6720840" y="1371600"/>
            <a:ext cx="493776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25"/>
          <p:cNvSpPr/>
          <p:nvPr/>
        </p:nvSpPr>
        <p:spPr>
          <a:xfrm>
            <a:off x="6903720" y="1517904"/>
            <a:ext cx="4572000" cy="2697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p:cNvSpPr txBox="1"/>
          <p:nvPr/>
        </p:nvSpPr>
        <p:spPr>
          <a:xfrm>
            <a:off x="6903720" y="4315968"/>
            <a:ext cx="45720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Locate regions and identify target lines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9" name="Rounded Rectangle 28"/>
          <p:cNvSpPr/>
          <p:nvPr>
            <p:custDataLst>
              <p:tags r:id="rId1"/>
            </p:custDataLst>
          </p:nvPr>
        </p:nvSpPr>
        <p:spPr>
          <a:xfrm>
            <a:off x="6903720" y="4681728"/>
            <a:ext cx="2194560" cy="12801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 name="Picture 29" descr="s03_img02.png"/>
          <p:cNvPicPr>
            <a:picLocks noChangeAspect="1"/>
          </p:cNvPicPr>
          <p:nvPr>
            <p:custDataLst>
              <p:tags r:id="rId2"/>
            </p:custDataLst>
          </p:nvPr>
        </p:nvPicPr>
        <p:blipFill>
          <a:blip r:embed="rId3"/>
          <a:stretch>
            <a:fillRect/>
          </a:stretch>
        </p:blipFill>
        <p:spPr>
          <a:xfrm>
            <a:off x="7513441" y="4754880"/>
            <a:ext cx="975116" cy="1133856"/>
          </a:xfrm>
          <a:prstGeom prst="rect">
            <a:avLst/>
          </a:prstGeom>
        </p:spPr>
      </p:pic>
      <p:sp>
        <p:nvSpPr>
          <p:cNvPr id="31" name="Rounded Rectangle 30"/>
          <p:cNvSpPr/>
          <p:nvPr>
            <p:custDataLst>
              <p:tags r:id="rId4"/>
            </p:custDataLst>
          </p:nvPr>
        </p:nvSpPr>
        <p:spPr>
          <a:xfrm>
            <a:off x="9281160" y="4681728"/>
            <a:ext cx="2194560" cy="12801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2" name="Picture 31" descr="s03_img03.png"/>
          <p:cNvPicPr>
            <a:picLocks noChangeAspect="1"/>
          </p:cNvPicPr>
          <p:nvPr>
            <p:custDataLst>
              <p:tags r:id="rId5"/>
            </p:custDataLst>
          </p:nvPr>
        </p:nvPicPr>
        <p:blipFill>
          <a:blip r:embed="rId6"/>
          <a:stretch>
            <a:fillRect/>
          </a:stretch>
        </p:blipFill>
        <p:spPr>
          <a:xfrm>
            <a:off x="9737811" y="4754880"/>
            <a:ext cx="1281257" cy="1133856"/>
          </a:xfrm>
          <a:prstGeom prst="rect">
            <a:avLst/>
          </a:prstGeom>
        </p:spPr>
      </p:pic>
      <p:sp>
        <p:nvSpPr>
          <p:cNvPr id="33" name="TextBox 32"/>
          <p:cNvSpPr txBox="1"/>
          <p:nvPr>
            <p:custDataLst>
              <p:tags r:id="rId7"/>
            </p:custDataLst>
          </p:nvPr>
        </p:nvSpPr>
        <p:spPr>
          <a:xfrm>
            <a:off x="6903720" y="6016752"/>
            <a:ext cx="219456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Tangent angles near intersections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4" name="TextBox 33"/>
          <p:cNvSpPr txBox="1"/>
          <p:nvPr>
            <p:custDataLst>
              <p:tags r:id="rId8"/>
            </p:custDataLst>
          </p:nvPr>
        </p:nvSpPr>
        <p:spPr>
          <a:xfrm>
            <a:off x="9281160" y="6016752"/>
            <a:ext cx="219456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Area and control-value checks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pic>
        <p:nvPicPr>
          <p:cNvPr id="35" name="图片 34" descr="seg_09_st5-st6"/>
          <p:cNvPicPr>
            <a:picLocks noChangeAspect="1"/>
          </p:cNvPicPr>
          <p:nvPr/>
        </p:nvPicPr>
        <p:blipFill>
          <a:blip r:embed="rId9"/>
          <a:stretch>
            <a:fillRect/>
          </a:stretch>
        </p:blipFill>
        <p:spPr>
          <a:xfrm>
            <a:off x="7158355" y="1809115"/>
            <a:ext cx="4088765" cy="21875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2 | WUT Parameters and Five Elements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2 · Longitudinal lines and WUT fitting</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4</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640080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p:cNvSpPr/>
          <p:nvPr/>
        </p:nvSpPr>
        <p:spPr>
          <a:xfrm>
            <a:off x="713232" y="1691640"/>
            <a:ext cx="6035040" cy="2697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s04_img01.png"/>
          <p:cNvPicPr>
            <a:picLocks noChangeAspect="1"/>
          </p:cNvPicPr>
          <p:nvPr/>
        </p:nvPicPr>
        <p:blipFill>
          <a:blip r:embed="rId1"/>
          <a:stretch>
            <a:fillRect/>
          </a:stretch>
        </p:blipFill>
        <p:spPr>
          <a:xfrm>
            <a:off x="786384" y="1957891"/>
            <a:ext cx="5888736" cy="2164976"/>
          </a:xfrm>
          <a:prstGeom prst="rect">
            <a:avLst/>
          </a:prstGeom>
        </p:spPr>
      </p:pic>
      <p:sp>
        <p:nvSpPr>
          <p:cNvPr id="11" name="TextBox 10"/>
          <p:cNvSpPr txBox="1"/>
          <p:nvPr/>
        </p:nvSpPr>
        <p:spPr>
          <a:xfrm>
            <a:off x="731520" y="1481328"/>
            <a:ext cx="60350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WUT parameters in GeneHull</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2" name="TextBox 11"/>
          <p:cNvSpPr txBox="1"/>
          <p:nvPr/>
        </p:nvSpPr>
        <p:spPr>
          <a:xfrm>
            <a:off x="777240" y="4572000"/>
            <a:ext cx="5943600" cy="164592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The panel shows endpoints, tangent angles, fullness, and sample count</a:t>
            </a:r>
            <a:endPar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AI drafts initial parameters from recognition, then verifies by curve read-back</a:t>
            </a:r>
            <a:endPar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TextBox 12"/>
          <p:cNvSpPr txBox="1"/>
          <p:nvPr/>
        </p:nvSpPr>
        <p:spPr>
          <a:xfrm>
            <a:off x="7223760" y="1371600"/>
            <a:ext cx="4434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Five elements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4" name="Rounded Rectangle 13"/>
          <p:cNvSpPr/>
          <p:nvPr/>
        </p:nvSpPr>
        <p:spPr>
          <a:xfrm>
            <a:off x="7223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p:cNvSpPr/>
          <p:nvPr/>
        </p:nvSpPr>
        <p:spPr>
          <a:xfrm>
            <a:off x="7360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6" name="TextBox 15"/>
          <p:cNvSpPr txBox="1"/>
          <p:nvPr/>
        </p:nvSpPr>
        <p:spPr>
          <a:xfrm>
            <a:off x="7754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Start point P0</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7" name="TextBox 16"/>
          <p:cNvSpPr txBox="1"/>
          <p:nvPr/>
        </p:nvSpPr>
        <p:spPr>
          <a:xfrm>
            <a:off x="7754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Start endpoint of the segment</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8" name="Rounded Rectangle 17"/>
          <p:cNvSpPr/>
          <p:nvPr/>
        </p:nvSpPr>
        <p:spPr>
          <a:xfrm>
            <a:off x="9509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p:cNvSpPr/>
          <p:nvPr/>
        </p:nvSpPr>
        <p:spPr>
          <a:xfrm>
            <a:off x="9646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0" name="TextBox 19"/>
          <p:cNvSpPr txBox="1"/>
          <p:nvPr/>
        </p:nvSpPr>
        <p:spPr>
          <a:xfrm>
            <a:off x="10040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End point P1</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1" name="TextBox 20"/>
          <p:cNvSpPr txBox="1"/>
          <p:nvPr/>
        </p:nvSpPr>
        <p:spPr>
          <a:xfrm>
            <a:off x="10040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End endpoint of the segment</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2" name="Rounded Rectangle 21"/>
          <p:cNvSpPr/>
          <p:nvPr/>
        </p:nvSpPr>
        <p:spPr>
          <a:xfrm>
            <a:off x="7223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p:cNvSpPr/>
          <p:nvPr/>
        </p:nvSpPr>
        <p:spPr>
          <a:xfrm>
            <a:off x="7360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3</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4" name="TextBox 23"/>
          <p:cNvSpPr txBox="1"/>
          <p:nvPr/>
        </p:nvSpPr>
        <p:spPr>
          <a:xfrm>
            <a:off x="7754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Two tangent angles</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5" name="TextBox 24"/>
          <p:cNvSpPr txBox="1"/>
          <p:nvPr/>
        </p:nvSpPr>
        <p:spPr>
          <a:xfrm>
            <a:off x="7754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Control entry and exit tangents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6" name="Rounded Rectangle 25"/>
          <p:cNvSpPr/>
          <p:nvPr/>
        </p:nvSpPr>
        <p:spPr>
          <a:xfrm>
            <a:off x="9509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p:cNvSpPr/>
          <p:nvPr/>
        </p:nvSpPr>
        <p:spPr>
          <a:xfrm>
            <a:off x="9646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4</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8" name="TextBox 27"/>
          <p:cNvSpPr txBox="1"/>
          <p:nvPr/>
        </p:nvSpPr>
        <p:spPr>
          <a:xfrm>
            <a:off x="10040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Fullness F</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9" name="TextBox 28"/>
          <p:cNvSpPr txBox="1"/>
          <p:nvPr/>
        </p:nvSpPr>
        <p:spPr>
          <a:xfrm>
            <a:off x="10040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Area ratio F = A/S controls the bend</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0" name="Rounded Rectangle 29"/>
          <p:cNvSpPr/>
          <p:nvPr/>
        </p:nvSpPr>
        <p:spPr>
          <a:xfrm>
            <a:off x="7223760" y="5349240"/>
            <a:ext cx="4443984" cy="64008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WUT for curved / transition segments, straight lines for flat runs</a:t>
            </a:r>
            <a:endPar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2 | Extracted Longitudinal Feature Lines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2 · Longitudinal lines and WUT fitting</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5</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5422392"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13232"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Longitudinal feature lines — top view</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713232" y="1901952"/>
            <a:ext cx="5056632" cy="3749039"/>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05_img01.png"/>
          <p:cNvPicPr>
            <a:picLocks noChangeAspect="1"/>
          </p:cNvPicPr>
          <p:nvPr/>
        </p:nvPicPr>
        <p:blipFill>
          <a:blip r:embed="rId1"/>
          <a:stretch>
            <a:fillRect/>
          </a:stretch>
        </p:blipFill>
        <p:spPr>
          <a:xfrm>
            <a:off x="786384" y="2010166"/>
            <a:ext cx="4910328" cy="3532610"/>
          </a:xfrm>
          <a:prstGeom prst="rect">
            <a:avLst/>
          </a:prstGeom>
        </p:spPr>
      </p:pic>
      <p:sp>
        <p:nvSpPr>
          <p:cNvPr id="12" name="TextBox 11"/>
          <p:cNvSpPr txBox="1"/>
          <p:nvPr/>
        </p:nvSpPr>
        <p:spPr>
          <a:xfrm>
            <a:off x="713232" y="5806440"/>
            <a:ext cx="502920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Read-back of all 12 longitudinal feature lines (top view)</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Rounded Rectangle 12"/>
          <p:cNvSpPr/>
          <p:nvPr/>
        </p:nvSpPr>
        <p:spPr>
          <a:xfrm>
            <a:off x="6236208" y="1371600"/>
            <a:ext cx="5422392"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p:cNvSpPr txBox="1"/>
          <p:nvPr/>
        </p:nvSpPr>
        <p:spPr>
          <a:xfrm>
            <a:off x="6419088"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Longitudinal feature lines — side view</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5" name="Rounded Rectangle 14"/>
          <p:cNvSpPr/>
          <p:nvPr/>
        </p:nvSpPr>
        <p:spPr>
          <a:xfrm>
            <a:off x="6419088" y="1901952"/>
            <a:ext cx="5056632" cy="3749039"/>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Picture 15" descr="s05_img02.png"/>
          <p:cNvPicPr>
            <a:picLocks noChangeAspect="1"/>
          </p:cNvPicPr>
          <p:nvPr/>
        </p:nvPicPr>
        <p:blipFill>
          <a:blip r:embed="rId2"/>
          <a:stretch>
            <a:fillRect/>
          </a:stretch>
        </p:blipFill>
        <p:spPr>
          <a:xfrm>
            <a:off x="6492240" y="2010166"/>
            <a:ext cx="4910328" cy="3532610"/>
          </a:xfrm>
          <a:prstGeom prst="rect">
            <a:avLst/>
          </a:prstGeom>
        </p:spPr>
      </p:pic>
      <p:sp>
        <p:nvSpPr>
          <p:cNvPr id="17" name="TextBox 16"/>
          <p:cNvSpPr txBox="1"/>
          <p:nvPr/>
        </p:nvSpPr>
        <p:spPr>
          <a:xfrm>
            <a:off x="6419088" y="5806440"/>
            <a:ext cx="5029200" cy="45720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Read-back of all 12 longitudinal feature lines (side view)</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2 | Verification of Fitting Parameters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2 · Longitudinal lines and WUT fitting</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6</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2286000" cy="10515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13232" y="1499616"/>
            <a:ext cx="192024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Longitudinal lines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0" name="TextBox 9"/>
          <p:cNvSpPr txBox="1"/>
          <p:nvPr/>
        </p:nvSpPr>
        <p:spPr>
          <a:xfrm>
            <a:off x="713232" y="1792224"/>
            <a:ext cx="1920240" cy="5394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12</a:t>
            </a:r>
            <a:endPar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1" name="Rounded Rectangle 10"/>
          <p:cNvSpPr/>
          <p:nvPr/>
        </p:nvSpPr>
        <p:spPr>
          <a:xfrm>
            <a:off x="2999232" y="1371600"/>
            <a:ext cx="2286000" cy="10515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3182112" y="1499616"/>
            <a:ext cx="192024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WUT segments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TextBox 12"/>
          <p:cNvSpPr txBox="1"/>
          <p:nvPr/>
        </p:nvSpPr>
        <p:spPr>
          <a:xfrm>
            <a:off x="3182112" y="1792224"/>
            <a:ext cx="1920240" cy="5394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105</a:t>
            </a:r>
            <a:endPar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
        <p:nvSpPr>
          <p:cNvPr id="14" name="Rounded Rectangle 13"/>
          <p:cNvSpPr/>
          <p:nvPr/>
        </p:nvSpPr>
        <p:spPr>
          <a:xfrm>
            <a:off x="5468112" y="1371600"/>
            <a:ext cx="2286000" cy="10515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5650992" y="1499616"/>
            <a:ext cx="192024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Straight segments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6" name="TextBox 15"/>
          <p:cNvSpPr txBox="1"/>
          <p:nvPr/>
        </p:nvSpPr>
        <p:spPr>
          <a:xfrm>
            <a:off x="5650992" y="1792224"/>
            <a:ext cx="1920240" cy="5394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67</a:t>
            </a:r>
            <a:endPar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
        <p:nvSpPr>
          <p:cNvPr id="17" name="Rounded Rectangle 16"/>
          <p:cNvSpPr/>
          <p:nvPr/>
        </p:nvSpPr>
        <p:spPr>
          <a:xfrm>
            <a:off x="530352" y="2697480"/>
            <a:ext cx="5440680" cy="2514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Box 17"/>
          <p:cNvSpPr txBox="1"/>
          <p:nvPr/>
        </p:nvSpPr>
        <p:spPr>
          <a:xfrm>
            <a:off x="731520" y="283464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Geometric checks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9" name="TextBox 18"/>
          <p:cNvSpPr txBox="1"/>
          <p:nvPr/>
        </p:nvSpPr>
        <p:spPr>
          <a:xfrm>
            <a:off x="731520" y="3200400"/>
            <a:ext cx="5074920" cy="19202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Fitted endpoints coincide with extracted endpoints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Adjacent segments share nodes with tangent continuity</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WUT fullness within valid fitting range</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Flat runs kept as straight lines, no spurious bending</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0" name="Rounded Rectangle 19"/>
          <p:cNvSpPr/>
          <p:nvPr/>
        </p:nvSpPr>
        <p:spPr>
          <a:xfrm>
            <a:off x="6217920" y="2697480"/>
            <a:ext cx="5440680" cy="2514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6419088" y="283464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Consistency checks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2" name="TextBox 21"/>
          <p:cNvSpPr txBox="1"/>
          <p:nvPr/>
        </p:nvSpPr>
        <p:spPr>
          <a:xfrm>
            <a:off x="6419088" y="3200400"/>
            <a:ext cx="5074920" cy="19202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Segment count, endpoints, and point counts agree</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End tangent angles match adjacent segments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Fullness consistent with segment shape</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65 parameter rows traceable to their segments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3" name="Rounded Rectangle 22"/>
          <p:cNvSpPr/>
          <p:nvPr/>
        </p:nvSpPr>
        <p:spPr>
          <a:xfrm>
            <a:off x="530352" y="5486400"/>
            <a:ext cx="11128248" cy="50292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Once verified, the longitudinal feature lines serve as upstream curves for the section templates.</a:t>
            </a:r>
            <a:endParaRPr kumimoji="0" sz="1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3 | Tangent-Angle and Fullness Curves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3 · Shape control curves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7</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525780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31520" y="1517904"/>
            <a:ext cx="484632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Overview of shape control curves in GeneHull</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713232" y="1920240"/>
            <a:ext cx="4892040" cy="35204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07_img01.png"/>
          <p:cNvPicPr>
            <a:picLocks noChangeAspect="1"/>
          </p:cNvPicPr>
          <p:nvPr/>
        </p:nvPicPr>
        <p:blipFill>
          <a:blip r:embed="rId1"/>
          <a:stretch>
            <a:fillRect/>
          </a:stretch>
        </p:blipFill>
        <p:spPr>
          <a:xfrm>
            <a:off x="786384" y="2043999"/>
            <a:ext cx="4745736" cy="3272921"/>
          </a:xfrm>
          <a:prstGeom prst="rect">
            <a:avLst/>
          </a:prstGeom>
        </p:spPr>
      </p:pic>
      <p:sp>
        <p:nvSpPr>
          <p:cNvPr id="12" name="TextBox 11"/>
          <p:cNvSpPr txBox="1"/>
          <p:nvPr/>
        </p:nvSpPr>
        <p:spPr>
          <a:xfrm>
            <a:off x="731520" y="5623560"/>
            <a:ext cx="4846320" cy="5486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Each family is fitted segment by segment along the length and sampled at target stations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Rounded Rectangle 12"/>
          <p:cNvSpPr/>
          <p:nvPr/>
        </p:nvSpPr>
        <p:spPr>
          <a:xfrm>
            <a:off x="6035040" y="1371600"/>
            <a:ext cx="562356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p:cNvSpPr txBox="1"/>
          <p:nvPr/>
        </p:nvSpPr>
        <p:spPr>
          <a:xfrm>
            <a:off x="6236208" y="1517904"/>
            <a:ext cx="52120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Two families: 4 fullness curves + 6 tangent-angle curve groups</a:t>
            </a:r>
            <a:endPar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5" name="TextBox 14"/>
          <p:cNvSpPr txBox="1"/>
          <p:nvPr/>
        </p:nvSpPr>
        <p:spPr>
          <a:xfrm>
            <a:off x="6236208" y="1920240"/>
            <a:ext cx="525780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Fullness example: FULL1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bilge fullness, straight at midship</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6" name="Rounded Rectangle 15"/>
          <p:cNvSpPr/>
          <p:nvPr/>
        </p:nvSpPr>
        <p:spPr>
          <a:xfrm>
            <a:off x="6236208" y="2331720"/>
            <a:ext cx="5221224" cy="16002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descr="s07_img03.png"/>
          <p:cNvPicPr>
            <a:picLocks noChangeAspect="1"/>
          </p:cNvPicPr>
          <p:nvPr/>
        </p:nvPicPr>
        <p:blipFill>
          <a:blip r:embed="rId2"/>
          <a:stretch>
            <a:fillRect/>
          </a:stretch>
        </p:blipFill>
        <p:spPr>
          <a:xfrm>
            <a:off x="6309360" y="2482853"/>
            <a:ext cx="5074920" cy="1297933"/>
          </a:xfrm>
          <a:prstGeom prst="rect">
            <a:avLst/>
          </a:prstGeom>
        </p:spPr>
      </p:pic>
      <p:sp>
        <p:nvSpPr>
          <p:cNvPr id="18" name="TextBox 17"/>
          <p:cNvSpPr txBox="1"/>
          <p:nvPr/>
        </p:nvSpPr>
        <p:spPr>
          <a:xfrm>
            <a:off x="6236208" y="4023360"/>
            <a:ext cx="52120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Parameters vary along the length with key station readings retained</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9" name="TextBox 18"/>
          <p:cNvSpPr txBox="1"/>
          <p:nvPr/>
        </p:nvSpPr>
        <p:spPr>
          <a:xfrm>
            <a:off x="6236208" y="4434840"/>
            <a:ext cx="525780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Tangent-angle example: bottom angle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section tangent angle at the flat bottom, along the length</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0" name="Rounded Rectangle 19"/>
          <p:cNvSpPr/>
          <p:nvPr/>
        </p:nvSpPr>
        <p:spPr>
          <a:xfrm>
            <a:off x="6236208" y="4846320"/>
            <a:ext cx="5221224" cy="1143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Picture 20" descr="s07_img02.png"/>
          <p:cNvPicPr>
            <a:picLocks noChangeAspect="1"/>
          </p:cNvPicPr>
          <p:nvPr/>
        </p:nvPicPr>
        <p:blipFill>
          <a:blip r:embed="rId3"/>
          <a:stretch>
            <a:fillRect/>
          </a:stretch>
        </p:blipFill>
        <p:spPr>
          <a:xfrm>
            <a:off x="6987981" y="4919472"/>
            <a:ext cx="3717676" cy="99669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3 | WUT Fitting of Shape Control Curves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3 · Shape control curves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8</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54406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31520" y="1517904"/>
            <a:ext cx="5029200" cy="19939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Fullness example: FULL2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section curve between waterline and deck line</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713232" y="2011680"/>
            <a:ext cx="5074920"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08_img02.png"/>
          <p:cNvPicPr>
            <a:picLocks noChangeAspect="1"/>
          </p:cNvPicPr>
          <p:nvPr/>
        </p:nvPicPr>
        <p:blipFill>
          <a:blip r:embed="rId1"/>
          <a:stretch>
            <a:fillRect/>
          </a:stretch>
        </p:blipFill>
        <p:spPr>
          <a:xfrm>
            <a:off x="1153789" y="2084832"/>
            <a:ext cx="4193804" cy="2139696"/>
          </a:xfrm>
          <a:prstGeom prst="rect">
            <a:avLst/>
          </a:prstGeom>
        </p:spPr>
      </p:pic>
      <p:sp>
        <p:nvSpPr>
          <p:cNvPr id="12" name="TextBox 11"/>
          <p:cNvSpPr txBox="1"/>
          <p:nvPr/>
        </p:nvSpPr>
        <p:spPr>
          <a:xfrm>
            <a:off x="731520" y="4480560"/>
            <a:ext cx="502920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Tangent-angle example: bottom angle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section tangent angle at the flat bottom, along the length</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Rounded Rectangle 12"/>
          <p:cNvSpPr/>
          <p:nvPr/>
        </p:nvSpPr>
        <p:spPr>
          <a:xfrm>
            <a:off x="713232" y="4892040"/>
            <a:ext cx="5074920" cy="12801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4" name="Picture 13" descr="s07_img02.png"/>
          <p:cNvPicPr>
            <a:picLocks noChangeAspect="1"/>
          </p:cNvPicPr>
          <p:nvPr/>
        </p:nvPicPr>
        <p:blipFill>
          <a:blip r:embed="rId2"/>
          <a:stretch>
            <a:fillRect/>
          </a:stretch>
        </p:blipFill>
        <p:spPr>
          <a:xfrm>
            <a:off x="1124711" y="4965192"/>
            <a:ext cx="4251960" cy="1133856"/>
          </a:xfrm>
          <a:prstGeom prst="rect">
            <a:avLst/>
          </a:prstGeom>
        </p:spPr>
      </p:pic>
      <p:sp>
        <p:nvSpPr>
          <p:cNvPr id="15" name="Rounded Rectangle 14"/>
          <p:cNvSpPr/>
          <p:nvPr/>
        </p:nvSpPr>
        <p:spPr>
          <a:xfrm>
            <a:off x="6217920" y="1371600"/>
            <a:ext cx="5440680" cy="3840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6419088"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Four steps of WUT fitting</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7" name="Rounded Rectangle 16"/>
          <p:cNvSpPr/>
          <p:nvPr/>
        </p:nvSpPr>
        <p:spPr>
          <a:xfrm>
            <a:off x="6419088" y="19659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p:cNvSpPr/>
          <p:nvPr/>
        </p:nvSpPr>
        <p:spPr>
          <a:xfrm>
            <a:off x="6556248" y="20939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9" name="TextBox 18"/>
          <p:cNvSpPr txBox="1"/>
          <p:nvPr/>
        </p:nvSpPr>
        <p:spPr>
          <a:xfrm>
            <a:off x="6949440" y="20939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Segment by shape</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0" name="TextBox 19"/>
          <p:cNvSpPr txBox="1"/>
          <p:nvPr/>
        </p:nvSpPr>
        <p:spPr>
          <a:xfrm>
            <a:off x="6949440" y="23957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Flat and transition runs along the length</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1" name="Rounded Rectangle 20"/>
          <p:cNvSpPr/>
          <p:nvPr/>
        </p:nvSpPr>
        <p:spPr>
          <a:xfrm>
            <a:off x="8961119" y="19659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p:cNvSpPr/>
          <p:nvPr/>
        </p:nvSpPr>
        <p:spPr>
          <a:xfrm>
            <a:off x="9098280" y="20939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3" name="TextBox 22"/>
          <p:cNvSpPr txBox="1"/>
          <p:nvPr/>
        </p:nvSpPr>
        <p:spPr>
          <a:xfrm>
            <a:off x="9491472" y="20939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Fix endpoints</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4" name="TextBox 23"/>
          <p:cNvSpPr txBox="1"/>
          <p:nvPr/>
        </p:nvSpPr>
        <p:spPr>
          <a:xfrm>
            <a:off x="9491472" y="23957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Adjacent segments share nodes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5" name="Rounded Rectangle 24"/>
          <p:cNvSpPr/>
          <p:nvPr/>
        </p:nvSpPr>
        <p:spPr>
          <a:xfrm>
            <a:off x="6419088" y="35661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Oval 25"/>
          <p:cNvSpPr/>
          <p:nvPr/>
        </p:nvSpPr>
        <p:spPr>
          <a:xfrm>
            <a:off x="6556248" y="36941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3</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7" name="TextBox 26"/>
          <p:cNvSpPr txBox="1"/>
          <p:nvPr/>
        </p:nvSpPr>
        <p:spPr>
          <a:xfrm>
            <a:off x="6949440" y="36941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Encode control values</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8" name="TextBox 27"/>
          <p:cNvSpPr txBox="1"/>
          <p:nvPr/>
        </p:nvSpPr>
        <p:spPr>
          <a:xfrm>
            <a:off x="6949440" y="39959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z-values encode angle or fullness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9" name="Rounded Rectangle 28"/>
          <p:cNvSpPr/>
          <p:nvPr/>
        </p:nvSpPr>
        <p:spPr>
          <a:xfrm>
            <a:off x="8961119" y="3566160"/>
            <a:ext cx="2395728" cy="1463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Oval 29"/>
          <p:cNvSpPr/>
          <p:nvPr/>
        </p:nvSpPr>
        <p:spPr>
          <a:xfrm>
            <a:off x="9098280" y="369417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4</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31" name="TextBox 30"/>
          <p:cNvSpPr txBox="1"/>
          <p:nvPr/>
        </p:nvSpPr>
        <p:spPr>
          <a:xfrm>
            <a:off x="9491472" y="3694176"/>
            <a:ext cx="1709928"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Write into sections</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32" name="TextBox 31"/>
          <p:cNvSpPr txBox="1"/>
          <p:nvPr/>
        </p:nvSpPr>
        <p:spPr>
          <a:xfrm>
            <a:off x="9491472" y="3995928"/>
            <a:ext cx="1709928" cy="91440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Sampled at stations, sent to matching segment</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3" name="Rounded Rectangle 32"/>
          <p:cNvSpPr/>
          <p:nvPr/>
        </p:nvSpPr>
        <p:spPr>
          <a:xfrm>
            <a:off x="6217920" y="5440680"/>
            <a:ext cx="5440680" cy="59436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Shape control curves are segmented independently along the length</a:t>
            </a:r>
            <a:endPar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3 | Verification of Shape Control Parameters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3 · Shape control curves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9</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custDataLst>
              <p:tags r:id="rId1"/>
            </p:custDataLst>
          </p:nvPr>
        </p:nvSpPr>
        <p:spPr>
          <a:xfrm>
            <a:off x="530352" y="1371600"/>
            <a:ext cx="54406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custDataLst>
              <p:tags r:id="rId2"/>
            </p:custDataLst>
          </p:nvPr>
        </p:nvSpPr>
        <p:spPr>
          <a:xfrm>
            <a:off x="713232" y="1517904"/>
            <a:ext cx="50749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Tangent-angle check: BOT bottom angle (always 0 in parallel midbody)</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custDataLst>
              <p:tags r:id="rId3"/>
            </p:custDataLst>
          </p:nvPr>
        </p:nvSpPr>
        <p:spPr>
          <a:xfrm>
            <a:off x="713232" y="2103120"/>
            <a:ext cx="5074920" cy="21488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custDataLst>
              <p:tags r:id="rId4"/>
            </p:custDataLst>
          </p:nvPr>
        </p:nvSpPr>
        <p:spPr>
          <a:xfrm>
            <a:off x="713232" y="438912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Tangent-angle checks</a:t>
            </a:r>
            <a:endParaRPr kumimoji="0" sz="120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endParaRPr>
          </a:p>
        </p:txBody>
      </p:sp>
      <p:sp>
        <p:nvSpPr>
          <p:cNvPr id="13" name="TextBox 12"/>
          <p:cNvSpPr txBox="1"/>
          <p:nvPr>
            <p:custDataLst>
              <p:tags r:id="rId5"/>
            </p:custDataLst>
          </p:nvPr>
        </p:nvSpPr>
        <p:spPr>
          <a:xfrm>
            <a:off x="713232" y="4736592"/>
            <a:ext cx="5074920" cy="14630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End transitions consistent with the horizontal datum</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Angle changes between adjacent stations remain continuous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Abnormal reversals and bad intersections investigated individually</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4" name="Rounded Rectangle 13"/>
          <p:cNvSpPr/>
          <p:nvPr>
            <p:custDataLst>
              <p:tags r:id="rId6"/>
            </p:custDataLst>
          </p:nvPr>
        </p:nvSpPr>
        <p:spPr>
          <a:xfrm>
            <a:off x="6217920" y="1371600"/>
            <a:ext cx="54406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custDataLst>
              <p:tags r:id="rId7"/>
            </p:custDataLst>
          </p:nvPr>
        </p:nvSpPr>
        <p:spPr>
          <a:xfrm>
            <a:off x="6400800" y="1517904"/>
            <a:ext cx="507492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Fullness check: FULL4 (bulwark segment, constant straight-chord 0.500)</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6" name="Rounded Rectangle 15"/>
          <p:cNvSpPr/>
          <p:nvPr>
            <p:custDataLst>
              <p:tags r:id="rId8"/>
            </p:custDataLst>
          </p:nvPr>
        </p:nvSpPr>
        <p:spPr>
          <a:xfrm>
            <a:off x="6400800" y="2103120"/>
            <a:ext cx="5074920" cy="21488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Picture 16" descr="s09_img02.png"/>
          <p:cNvPicPr>
            <a:picLocks noChangeAspect="1"/>
          </p:cNvPicPr>
          <p:nvPr>
            <p:custDataLst>
              <p:tags r:id="rId9"/>
            </p:custDataLst>
          </p:nvPr>
        </p:nvPicPr>
        <p:blipFill>
          <a:blip r:embed="rId10"/>
          <a:stretch>
            <a:fillRect/>
          </a:stretch>
        </p:blipFill>
        <p:spPr>
          <a:xfrm>
            <a:off x="7376281" y="2176272"/>
            <a:ext cx="3123956" cy="2002536"/>
          </a:xfrm>
          <a:prstGeom prst="rect">
            <a:avLst/>
          </a:prstGeom>
        </p:spPr>
      </p:pic>
      <p:sp>
        <p:nvSpPr>
          <p:cNvPr id="18" name="TextBox 17"/>
          <p:cNvSpPr txBox="1"/>
          <p:nvPr>
            <p:custDataLst>
              <p:tags r:id="rId11"/>
            </p:custDataLst>
          </p:nvPr>
        </p:nvSpPr>
        <p:spPr>
          <a:xfrm>
            <a:off x="6400800" y="4389120"/>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Fullness checks</a:t>
            </a:r>
            <a:endParaRPr kumimoji="0" sz="12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
        <p:nvSpPr>
          <p:cNvPr id="19" name="TextBox 18"/>
          <p:cNvSpPr txBox="1"/>
          <p:nvPr>
            <p:custDataLst>
              <p:tags r:id="rId12"/>
            </p:custDataLst>
          </p:nvPr>
        </p:nvSpPr>
        <p:spPr>
          <a:xfrm>
            <a:off x="6400800" y="4736592"/>
            <a:ext cx="5074920" cy="146304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Values map reliably to the corresponding WUT segments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0.500 means the segment degenerates to a straight chord</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Key curve values agree with 3D read-back</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pic>
        <p:nvPicPr>
          <p:cNvPr id="20" name="Picture 13" descr="s07_img02.png"/>
          <p:cNvPicPr>
            <a:picLocks noChangeAspect="1"/>
          </p:cNvPicPr>
          <p:nvPr>
            <p:custDataLst>
              <p:tags r:id="rId13"/>
            </p:custDataLst>
          </p:nvPr>
        </p:nvPicPr>
        <p:blipFill>
          <a:blip r:embed="rId14"/>
          <a:stretch>
            <a:fillRect/>
          </a:stretch>
        </p:blipFill>
        <p:spPr>
          <a:xfrm>
            <a:off x="1124711" y="2705227"/>
            <a:ext cx="4251960" cy="113385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4 | Building the Single-Station Section Template</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4 · Section templates and section groups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10</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640080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31520" y="1517904"/>
            <a:ext cx="60350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Section segment binding in GeneHull</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713232" y="1920240"/>
            <a:ext cx="6035040" cy="30632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10_img01.png"/>
          <p:cNvPicPr>
            <a:picLocks noChangeAspect="1"/>
          </p:cNvPicPr>
          <p:nvPr/>
        </p:nvPicPr>
        <p:blipFill>
          <a:blip r:embed="rId1"/>
          <a:stretch>
            <a:fillRect/>
          </a:stretch>
        </p:blipFill>
        <p:spPr>
          <a:xfrm>
            <a:off x="786384" y="2193583"/>
            <a:ext cx="5888736" cy="2516553"/>
          </a:xfrm>
          <a:prstGeom prst="rect">
            <a:avLst/>
          </a:prstGeom>
        </p:spPr>
      </p:pic>
      <p:sp>
        <p:nvSpPr>
          <p:cNvPr id="12" name="TextBox 11"/>
          <p:cNvSpPr txBox="1"/>
          <p:nvPr/>
        </p:nvSpPr>
        <p:spPr>
          <a:xfrm>
            <a:off x="731520" y="5166360"/>
            <a:ext cx="5989320"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The panel shows, segment by segment, how key points bind to the upstream longitudinal curves; each segment needs its matching section template.</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TextBox 12"/>
          <p:cNvSpPr txBox="1"/>
          <p:nvPr/>
        </p:nvSpPr>
        <p:spPr>
          <a:xfrm>
            <a:off x="7223760" y="1371600"/>
            <a:ext cx="4434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Four steps of section construction</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4" name="Rounded Rectangle 13"/>
          <p:cNvSpPr/>
          <p:nvPr>
            <p:custDataLst>
              <p:tags r:id="rId2"/>
            </p:custDataLst>
          </p:nvPr>
        </p:nvSpPr>
        <p:spPr>
          <a:xfrm>
            <a:off x="7223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p:cNvSpPr/>
          <p:nvPr>
            <p:custDataLst>
              <p:tags r:id="rId3"/>
            </p:custDataLst>
          </p:nvPr>
        </p:nvSpPr>
        <p:spPr>
          <a:xfrm>
            <a:off x="7360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6" name="TextBox 15"/>
          <p:cNvSpPr txBox="1"/>
          <p:nvPr>
            <p:custDataLst>
              <p:tags r:id="rId4"/>
            </p:custDataLst>
          </p:nvPr>
        </p:nvSpPr>
        <p:spPr>
          <a:xfrm>
            <a:off x="7754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Choose position</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7" name="TextBox 16"/>
          <p:cNvSpPr txBox="1"/>
          <p:nvPr>
            <p:custDataLst>
              <p:tags r:id="rId5"/>
            </p:custDataLst>
          </p:nvPr>
        </p:nvSpPr>
        <p:spPr>
          <a:xfrm>
            <a:off x="7754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Any x position within the segment range</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8" name="Rounded Rectangle 17"/>
          <p:cNvSpPr/>
          <p:nvPr>
            <p:custDataLst>
              <p:tags r:id="rId6"/>
            </p:custDataLst>
          </p:nvPr>
        </p:nvSpPr>
        <p:spPr>
          <a:xfrm>
            <a:off x="9509760" y="178308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p:cNvSpPr/>
          <p:nvPr>
            <p:custDataLst>
              <p:tags r:id="rId7"/>
            </p:custDataLst>
          </p:nvPr>
        </p:nvSpPr>
        <p:spPr>
          <a:xfrm>
            <a:off x="9646920" y="1911095"/>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0" name="TextBox 19"/>
          <p:cNvSpPr txBox="1"/>
          <p:nvPr>
            <p:custDataLst>
              <p:tags r:id="rId8"/>
            </p:custDataLst>
          </p:nvPr>
        </p:nvSpPr>
        <p:spPr>
          <a:xfrm>
            <a:off x="10040112" y="1911095"/>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Bind endpoint coordinates</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1" name="TextBox 20"/>
          <p:cNvSpPr txBox="1"/>
          <p:nvPr>
            <p:custDataLst>
              <p:tags r:id="rId9"/>
            </p:custDataLst>
          </p:nvPr>
        </p:nvSpPr>
        <p:spPr>
          <a:xfrm>
            <a:off x="10040112" y="2212848"/>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Endpoint coordinates bind to the longitudinal lines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2" name="Rounded Rectangle 21"/>
          <p:cNvSpPr/>
          <p:nvPr>
            <p:custDataLst>
              <p:tags r:id="rId10"/>
            </p:custDataLst>
          </p:nvPr>
        </p:nvSpPr>
        <p:spPr>
          <a:xfrm>
            <a:off x="7223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p:cNvSpPr/>
          <p:nvPr>
            <p:custDataLst>
              <p:tags r:id="rId11"/>
            </p:custDataLst>
          </p:nvPr>
        </p:nvSpPr>
        <p:spPr>
          <a:xfrm>
            <a:off x="7360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3</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4" name="TextBox 23"/>
          <p:cNvSpPr txBox="1"/>
          <p:nvPr>
            <p:custDataLst>
              <p:tags r:id="rId12"/>
            </p:custDataLst>
          </p:nvPr>
        </p:nvSpPr>
        <p:spPr>
          <a:xfrm>
            <a:off x="7754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Bind fullness &amp; angles</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5" name="TextBox 24"/>
          <p:cNvSpPr txBox="1"/>
          <p:nvPr>
            <p:custDataLst>
              <p:tags r:id="rId13"/>
            </p:custDataLst>
          </p:nvPr>
        </p:nvSpPr>
        <p:spPr>
          <a:xfrm>
            <a:off x="7754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Intersection angles and segment fullness bind to the lines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6" name="Rounded Rectangle 25"/>
          <p:cNvSpPr/>
          <p:nvPr>
            <p:custDataLst>
              <p:tags r:id="rId14"/>
            </p:custDataLst>
          </p:nvPr>
        </p:nvSpPr>
        <p:spPr>
          <a:xfrm>
            <a:off x="9509760" y="3474720"/>
            <a:ext cx="2157984" cy="155448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Oval 26"/>
          <p:cNvSpPr/>
          <p:nvPr>
            <p:custDataLst>
              <p:tags r:id="rId15"/>
            </p:custDataLst>
          </p:nvPr>
        </p:nvSpPr>
        <p:spPr>
          <a:xfrm>
            <a:off x="9646920" y="3602736"/>
            <a:ext cx="292608" cy="292608"/>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4</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8" name="TextBox 27"/>
          <p:cNvSpPr txBox="1"/>
          <p:nvPr>
            <p:custDataLst>
              <p:tags r:id="rId16"/>
            </p:custDataLst>
          </p:nvPr>
        </p:nvSpPr>
        <p:spPr>
          <a:xfrm>
            <a:off x="10040112" y="3602736"/>
            <a:ext cx="1472184"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Check continuity</a:t>
            </a:r>
            <a:endParaRPr kumimoji="0" sz="12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9" name="TextBox 28"/>
          <p:cNvSpPr txBox="1"/>
          <p:nvPr>
            <p:custDataLst>
              <p:tags r:id="rId17"/>
            </p:custDataLst>
          </p:nvPr>
        </p:nvSpPr>
        <p:spPr>
          <a:xfrm>
            <a:off x="10040112" y="3904487"/>
            <a:ext cx="1472184" cy="1005840"/>
          </a:xfrm>
          <a:prstGeom prst="rect">
            <a:avLst/>
          </a:prstGeom>
          <a:noFill/>
        </p:spPr>
        <p:txBody>
          <a:bodyPr wrap="square" lIns="0" tIns="0" rIns="0" bIns="0" anchor="t">
            <a:spAutoFit/>
          </a:bodyPr>
          <a:lstStyle/>
          <a:p>
            <a:pPr marL="0" marR="0" lvl="0" indent="0" algn="l" defTabSz="457200" rtl="0" eaLnBrk="1" fontAlgn="auto" latinLnBrk="0" hangingPunct="1">
              <a:lnSpc>
                <a:spcPct val="106000"/>
              </a:lnSpc>
              <a:spcBef>
                <a:spcPts val="0"/>
              </a:spcBef>
              <a:spcAft>
                <a:spcPts val="0"/>
              </a:spcAft>
              <a:buClrTx/>
              <a:buSzTx/>
              <a:buFontTx/>
              <a:buNone/>
              <a:defRPr/>
            </a:pPr>
            <a:r>
              <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Shared nodes with verified tangents</a:t>
            </a:r>
            <a:endParaRPr kumimoji="0" sz="10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30" name="Rounded Rectangle 29"/>
          <p:cNvSpPr/>
          <p:nvPr/>
        </p:nvSpPr>
        <p:spPr>
          <a:xfrm>
            <a:off x="7223760" y="5349240"/>
            <a:ext cx="4443984" cy="640080"/>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Proceed to the section group after continuity passes</a:t>
            </a:r>
            <a:endParaRPr kumimoji="0" sz="115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4 | From Single Template to the Full Section Group</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4 · Section templates and section groups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11</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4983480" cy="1371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31520" y="1481328"/>
            <a:ext cx="45720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Single-station template</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TextBox 9"/>
          <p:cNvSpPr txBox="1"/>
          <p:nvPr/>
        </p:nvSpPr>
        <p:spPr>
          <a:xfrm>
            <a:off x="731520" y="1810512"/>
            <a:ext cx="4572000" cy="8686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Template fixes segment composition and endpoint curves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Sections placed evenly within each segment</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1" name="Rounded Rectangle 10"/>
          <p:cNvSpPr/>
          <p:nvPr/>
        </p:nvSpPr>
        <p:spPr>
          <a:xfrm>
            <a:off x="530352" y="2926080"/>
            <a:ext cx="4983480" cy="12801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p:cNvSpPr txBox="1"/>
          <p:nvPr/>
        </p:nvSpPr>
        <p:spPr>
          <a:xfrm>
            <a:off x="713232" y="3054096"/>
            <a:ext cx="461772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Full-ship sections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3" name="TextBox 12"/>
          <p:cNvSpPr txBox="1"/>
          <p:nvPr/>
        </p:nvSpPr>
        <p:spPr>
          <a:xfrm>
            <a:off x="713232" y="3346704"/>
            <a:ext cx="4617720" cy="76809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145</a:t>
            </a:r>
            <a:endPar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4" name="TextBox 13"/>
          <p:cNvSpPr txBox="1"/>
          <p:nvPr/>
        </p:nvSpPr>
        <p:spPr>
          <a:xfrm>
            <a:off x="713232" y="3877055"/>
            <a:ext cx="4617720" cy="256032"/>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9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Generated evenly with per-segment counts</a:t>
            </a:r>
            <a:endParaRPr kumimoji="0" sz="9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15" name="Rounded Rectangle 14"/>
          <p:cNvSpPr/>
          <p:nvPr/>
        </p:nvSpPr>
        <p:spPr>
          <a:xfrm>
            <a:off x="530352" y="4389120"/>
            <a:ext cx="4983480" cy="196596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731520" y="4498848"/>
            <a:ext cx="45720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Generation logic</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7" name="TextBox 16"/>
          <p:cNvSpPr txBox="1"/>
          <p:nvPr/>
        </p:nvSpPr>
        <p:spPr>
          <a:xfrm>
            <a:off x="731520" y="4828032"/>
            <a:ext cx="4572000" cy="141732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Template inherits the upstream curves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Generated evenly within each segment range</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Grouped by segment-composition changes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8" name="Rounded Rectangle 17"/>
          <p:cNvSpPr/>
          <p:nvPr/>
        </p:nvSpPr>
        <p:spPr>
          <a:xfrm>
            <a:off x="5760720" y="1371600"/>
            <a:ext cx="589788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5961888" y="1517904"/>
            <a:ext cx="5486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Full-ship section group</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0" name="Rounded Rectangle 19"/>
          <p:cNvSpPr/>
          <p:nvPr/>
        </p:nvSpPr>
        <p:spPr>
          <a:xfrm>
            <a:off x="5943600" y="1920240"/>
            <a:ext cx="5532120" cy="37947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Picture 20" descr="s11_img01.png"/>
          <p:cNvPicPr>
            <a:picLocks noChangeAspect="1"/>
          </p:cNvPicPr>
          <p:nvPr/>
        </p:nvPicPr>
        <p:blipFill>
          <a:blip r:embed="rId1"/>
          <a:stretch>
            <a:fillRect/>
          </a:stretch>
        </p:blipFill>
        <p:spPr>
          <a:xfrm>
            <a:off x="6064529" y="1993392"/>
            <a:ext cx="5290261" cy="3648456"/>
          </a:xfrm>
          <a:prstGeom prst="rect">
            <a:avLst/>
          </a:prstGeom>
        </p:spPr>
      </p:pic>
      <p:sp>
        <p:nvSpPr>
          <p:cNvPr id="22" name="TextBox 21"/>
          <p:cNvSpPr txBox="1"/>
          <p:nvPr/>
        </p:nvSpPr>
        <p:spPr>
          <a:xfrm>
            <a:off x="5961888" y="5852160"/>
            <a:ext cx="5486400" cy="36576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Sections placed evenly within each segment</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4 | Hull Region Arrangement</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4 · Section templates and section groups</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12</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TextBox 7"/>
          <p:cNvSpPr txBox="1"/>
          <p:nvPr/>
        </p:nvSpPr>
        <p:spPr>
          <a:xfrm>
            <a:off x="530352" y="1371600"/>
            <a:ext cx="7315200"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Isomorphic grouping and hull regions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graphicFrame>
        <p:nvGraphicFramePr>
          <p:cNvPr id="9" name="Table 8"/>
          <p:cNvGraphicFramePr>
            <a:graphicFrameLocks noGrp="1"/>
          </p:cNvGraphicFramePr>
          <p:nvPr/>
        </p:nvGraphicFramePr>
        <p:xfrm>
          <a:off x="530352" y="1810512"/>
          <a:ext cx="11128248" cy="4480560"/>
        </p:xfrm>
        <a:graphic>
          <a:graphicData uri="http://schemas.openxmlformats.org/drawingml/2006/table">
            <a:tbl>
              <a:tblPr firstRow="1" bandRow="1">
                <a:tableStyleId>{5C22544A-7EE6-4342-B048-85BDC9FD1C3A}</a:tableStyleId>
              </a:tblPr>
              <a:tblGrid>
                <a:gridCol w="1371600"/>
                <a:gridCol w="2103120"/>
                <a:gridCol w="914400"/>
                <a:gridCol w="822960"/>
                <a:gridCol w="5916168"/>
              </a:tblGrid>
              <a:tr h="640080">
                <a:tc>
                  <a:txBody>
                    <a:bodyPr/>
                    <a:lstStyle/>
                    <a:p>
                      <a:r>
                        <a:rPr sz="1050" b="1">
                          <a:solidFill>
                            <a:srgbClr val="FFFFFF"/>
                          </a:solidFill>
                          <a:latin typeface="Arial" panose="020B0604020202020204"/>
                          <a:ea typeface="微软雅黑" panose="020B0503020204020204" pitchFamily="34" charset="-122"/>
                          <a:cs typeface="Arial" panose="020B0604020202020204"/>
                        </a:rPr>
                        <a:t>Group</a:t>
                      </a:r>
                      <a:endParaRPr sz="1050" b="1">
                        <a:solidFill>
                          <a:srgbClr val="FFFFFF"/>
                        </a:solidFill>
                        <a:latin typeface="Arial" panose="020B0604020202020204"/>
                        <a:ea typeface="微软雅黑" panose="020B0503020204020204" pitchFamily="34" charset="-122"/>
                        <a:cs typeface="Arial" panose="020B0604020202020204"/>
                      </a:endParaRPr>
                    </a:p>
                  </a:txBody>
                  <a:tcPr>
                    <a:solidFill>
                      <a:srgbClr val="002060"/>
                    </a:solidFill>
                  </a:tcPr>
                </a:tc>
                <a:tc>
                  <a:txBody>
                    <a:bodyPr/>
                    <a:lstStyle/>
                    <a:p>
                      <a:r>
                        <a:rPr sz="1050" b="1">
                          <a:solidFill>
                            <a:srgbClr val="FFFFFF"/>
                          </a:solidFill>
                          <a:latin typeface="Arial" panose="020B0604020202020204"/>
                          <a:ea typeface="微软雅黑" panose="020B0503020204020204" pitchFamily="34" charset="-122"/>
                          <a:cs typeface="Arial" panose="020B0604020202020204"/>
                        </a:rPr>
                        <a:t>Length range / m</a:t>
                      </a:r>
                      <a:endParaRPr sz="1050" b="1">
                        <a:solidFill>
                          <a:srgbClr val="FFFFFF"/>
                        </a:solidFill>
                        <a:latin typeface="Arial" panose="020B0604020202020204"/>
                        <a:ea typeface="微软雅黑" panose="020B0503020204020204" pitchFamily="34" charset="-122"/>
                        <a:cs typeface="Arial" panose="020B0604020202020204"/>
                      </a:endParaRPr>
                    </a:p>
                  </a:txBody>
                  <a:tcPr>
                    <a:solidFill>
                      <a:srgbClr val="002060"/>
                    </a:solidFill>
                  </a:tcPr>
                </a:tc>
                <a:tc>
                  <a:txBody>
                    <a:bodyPr/>
                    <a:lstStyle/>
                    <a:p>
                      <a:r>
                        <a:rPr sz="1050" b="1">
                          <a:solidFill>
                            <a:srgbClr val="FFFFFF"/>
                          </a:solidFill>
                          <a:latin typeface="Arial" panose="020B0604020202020204"/>
                          <a:ea typeface="微软雅黑" panose="020B0503020204020204" pitchFamily="34" charset="-122"/>
                          <a:cs typeface="Arial" panose="020B0604020202020204"/>
                        </a:rPr>
                        <a:t>Stations</a:t>
                      </a:r>
                      <a:endParaRPr sz="1050" b="1">
                        <a:solidFill>
                          <a:srgbClr val="FFFFFF"/>
                        </a:solidFill>
                        <a:latin typeface="Arial" panose="020B0604020202020204"/>
                        <a:ea typeface="微软雅黑" panose="020B0503020204020204" pitchFamily="34" charset="-122"/>
                        <a:cs typeface="Arial" panose="020B0604020202020204"/>
                      </a:endParaRPr>
                    </a:p>
                  </a:txBody>
                  <a:tcPr>
                    <a:solidFill>
                      <a:srgbClr val="002060"/>
                    </a:solidFill>
                  </a:tcPr>
                </a:tc>
                <a:tc>
                  <a:txBody>
                    <a:bodyPr/>
                    <a:lstStyle/>
                    <a:p>
                      <a:r>
                        <a:rPr sz="1050" b="1">
                          <a:solidFill>
                            <a:srgbClr val="FFFFFF"/>
                          </a:solidFill>
                          <a:latin typeface="Arial" panose="020B0604020202020204"/>
                          <a:ea typeface="微软雅黑" panose="020B0503020204020204" pitchFamily="34" charset="-122"/>
                          <a:cs typeface="Arial" panose="020B0604020202020204"/>
                        </a:rPr>
                        <a:t>Segments</a:t>
                      </a:r>
                      <a:endParaRPr sz="1050" b="1">
                        <a:solidFill>
                          <a:srgbClr val="FFFFFF"/>
                        </a:solidFill>
                        <a:latin typeface="Arial" panose="020B0604020202020204"/>
                        <a:ea typeface="微软雅黑" panose="020B0503020204020204" pitchFamily="34" charset="-122"/>
                        <a:cs typeface="Arial" panose="020B0604020202020204"/>
                      </a:endParaRPr>
                    </a:p>
                  </a:txBody>
                  <a:tcPr>
                    <a:solidFill>
                      <a:srgbClr val="002060"/>
                    </a:solidFill>
                  </a:tcPr>
                </a:tc>
                <a:tc>
                  <a:txBody>
                    <a:bodyPr/>
                    <a:lstStyle/>
                    <a:p>
                      <a:r>
                        <a:rPr sz="1050" b="1">
                          <a:solidFill>
                            <a:srgbClr val="FFFFFF"/>
                          </a:solidFill>
                          <a:latin typeface="Arial" panose="020B0604020202020204"/>
                          <a:ea typeface="微软雅黑" panose="020B0503020204020204" pitchFamily="34" charset="-122"/>
                          <a:cs typeface="Arial" panose="020B0604020202020204"/>
                        </a:rPr>
                        <a:t>Segment composition</a:t>
                      </a:r>
                      <a:endParaRPr sz="1050" b="1">
                        <a:solidFill>
                          <a:srgbClr val="FFFFFF"/>
                        </a:solidFill>
                        <a:latin typeface="Arial" panose="020B0604020202020204"/>
                        <a:ea typeface="微软雅黑" panose="020B0503020204020204" pitchFamily="34" charset="-122"/>
                        <a:cs typeface="Arial" panose="020B0604020202020204"/>
                      </a:endParaRPr>
                    </a:p>
                  </a:txBody>
                  <a:tcPr>
                    <a:solidFill>
                      <a:srgbClr val="002060"/>
                    </a:solidFill>
                  </a:tcPr>
                </a:tc>
              </a:tr>
              <a:tr h="640080">
                <a:tc>
                  <a:txBody>
                    <a:bodyPr/>
                    <a:lstStyle/>
                    <a:p>
                      <a:r>
                        <a:rPr sz="1100" b="1">
                          <a:solidFill>
                            <a:srgbClr val="111111"/>
                          </a:solidFill>
                          <a:latin typeface="Arial" panose="020B0604020202020204"/>
                          <a:ea typeface="微软雅黑" panose="020B0503020204020204" pitchFamily="34" charset="-122"/>
                          <a:cs typeface="Arial" panose="020B0604020202020204"/>
                        </a:rPr>
                        <a:t>Midship-aft body</a:t>
                      </a:r>
                      <a:endParaRPr sz="1100" b="1">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−2.99 – 165.0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40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4</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Flat bottom → bilge curve → flat side → deck</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r>
              <a:tr h="640080">
                <a:tc>
                  <a:txBody>
                    <a:bodyPr/>
                    <a:lstStyle/>
                    <a:p>
                      <a:r>
                        <a:rPr sz="1100" b="1">
                          <a:solidFill>
                            <a:srgbClr val="111111"/>
                          </a:solidFill>
                          <a:latin typeface="Arial" panose="020B0604020202020204"/>
                          <a:ea typeface="微软雅黑" panose="020B0503020204020204" pitchFamily="34" charset="-122"/>
                          <a:cs typeface="Arial" panose="020B0604020202020204"/>
                        </a:rPr>
                        <a:t>Fwd body 1</a:t>
                      </a:r>
                      <a:endParaRPr sz="1100" b="1">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165.0 – 167.467</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20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5</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Flat bottom → bilge curve → above-water curve → flat side → deck</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r>
              <a:tr h="640080">
                <a:tc>
                  <a:txBody>
                    <a:bodyPr/>
                    <a:lstStyle/>
                    <a:p>
                      <a:r>
                        <a:rPr sz="1100" b="1">
                          <a:solidFill>
                            <a:srgbClr val="111111"/>
                          </a:solidFill>
                          <a:latin typeface="Arial" panose="020B0604020202020204"/>
                          <a:ea typeface="微软雅黑" panose="020B0503020204020204" pitchFamily="34" charset="-122"/>
                          <a:cs typeface="Arial" panose="020B0604020202020204"/>
                        </a:rPr>
                        <a:t>Fwd body 2</a:t>
                      </a:r>
                      <a:endParaRPr sz="1100" b="1">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167.467 – 177.318</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20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4</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Flat bottom → bilge curve → above-water curve → deck</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r>
              <a:tr h="640080">
                <a:tc>
                  <a:txBody>
                    <a:bodyPr/>
                    <a:lstStyle/>
                    <a:p>
                      <a:r>
                        <a:rPr sz="1100" b="1">
                          <a:solidFill>
                            <a:srgbClr val="111111"/>
                          </a:solidFill>
                          <a:latin typeface="Arial" panose="020B0604020202020204"/>
                          <a:ea typeface="微软雅黑" panose="020B0503020204020204" pitchFamily="34" charset="-122"/>
                          <a:cs typeface="Arial" panose="020B0604020202020204"/>
                        </a:rPr>
                        <a:t>Fwd body 3</a:t>
                      </a:r>
                      <a:endParaRPr sz="1100" b="1">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177.318 – 182.874</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20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lang="en-US" sz="1100" b="0">
                          <a:solidFill>
                            <a:srgbClr val="111111"/>
                          </a:solidFill>
                          <a:latin typeface="Arial" panose="020B0604020202020204"/>
                          <a:ea typeface="微软雅黑" panose="020B0503020204020204" pitchFamily="34" charset="-122"/>
                          <a:cs typeface="Arial" panose="020B0604020202020204"/>
                        </a:rPr>
                        <a:t>5</a:t>
                      </a:r>
                      <a:endParaRPr lang="en-US"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Flat bottom → bilge curve → above-water curve → deck → forecastle transition arc</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r>
              <a:tr h="640080">
                <a:tc>
                  <a:txBody>
                    <a:bodyPr/>
                    <a:lstStyle/>
                    <a:p>
                      <a:r>
                        <a:rPr sz="1100" b="1">
                          <a:solidFill>
                            <a:srgbClr val="111111"/>
                          </a:solidFill>
                          <a:latin typeface="Arial" panose="020B0604020202020204"/>
                          <a:ea typeface="微软雅黑" panose="020B0503020204020204" pitchFamily="34" charset="-122"/>
                          <a:cs typeface="Arial" panose="020B0604020202020204"/>
                        </a:rPr>
                        <a:t>Fwd body 4</a:t>
                      </a:r>
                      <a:endParaRPr sz="1100" b="1">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182.874 – 183.070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5</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lang="en-US" sz="1100" b="0">
                          <a:solidFill>
                            <a:srgbClr val="111111"/>
                          </a:solidFill>
                          <a:latin typeface="Arial" panose="020B0604020202020204"/>
                          <a:ea typeface="微软雅黑" panose="020B0503020204020204" pitchFamily="34" charset="-122"/>
                          <a:cs typeface="Arial" panose="020B0604020202020204"/>
                        </a:rPr>
                        <a:t>6</a:t>
                      </a:r>
                      <a:endParaRPr lang="en-US"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Flat bottom → bilge curve → above-water curve → deck → forecastle → bulwark transition arc</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2F7FD"/>
                    </a:solidFill>
                  </a:tcPr>
                </a:tc>
              </a:tr>
              <a:tr h="640080">
                <a:tc>
                  <a:txBody>
                    <a:bodyPr/>
                    <a:lstStyle/>
                    <a:p>
                      <a:r>
                        <a:rPr sz="1100" b="1">
                          <a:solidFill>
                            <a:srgbClr val="111111"/>
                          </a:solidFill>
                          <a:latin typeface="Arial" panose="020B0604020202020204"/>
                          <a:ea typeface="微软雅黑" panose="020B0503020204020204" pitchFamily="34" charset="-122"/>
                          <a:cs typeface="Arial" panose="020B0604020202020204"/>
                        </a:rPr>
                        <a:t>Fwd body 5</a:t>
                      </a:r>
                      <a:endParaRPr sz="1100" b="1">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183.070 – 197.000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40</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lang="en-US" sz="1100" b="0">
                          <a:solidFill>
                            <a:srgbClr val="111111"/>
                          </a:solidFill>
                          <a:latin typeface="Arial" panose="020B0604020202020204"/>
                          <a:ea typeface="微软雅黑" panose="020B0503020204020204" pitchFamily="34" charset="-122"/>
                          <a:cs typeface="Arial" panose="020B0604020202020204"/>
                        </a:rPr>
                        <a:t>6</a:t>
                      </a:r>
                      <a:endParaRPr lang="en-US"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c>
                  <a:txBody>
                    <a:bodyPr/>
                    <a:lstStyle/>
                    <a:p>
                      <a:r>
                        <a:rPr sz="1100" b="0">
                          <a:solidFill>
                            <a:srgbClr val="111111"/>
                          </a:solidFill>
                          <a:latin typeface="Arial" panose="020B0604020202020204"/>
                          <a:ea typeface="微软雅黑" panose="020B0503020204020204" pitchFamily="34" charset="-122"/>
                          <a:cs typeface="Arial" panose="020B0604020202020204"/>
                        </a:rPr>
                        <a:t>Flat bottom → bilge curve → above-water curve → deck → forecastle → bulwark</a:t>
                      </a:r>
                      <a:endParaRPr sz="1100" b="0">
                        <a:solidFill>
                          <a:srgbClr val="111111"/>
                        </a:solidFill>
                        <a:latin typeface="Arial" panose="020B0604020202020204"/>
                        <a:ea typeface="微软雅黑" panose="020B0503020204020204" pitchFamily="34" charset="-122"/>
                        <a:cs typeface="Arial" panose="020B0604020202020204"/>
                      </a:endParaRPr>
                    </a:p>
                  </a:txBody>
                  <a:tcPr>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5 | Hull Skinning from Section Groups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5 · Hull skinning</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13</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2212848" y="1371600"/>
            <a:ext cx="7772400" cy="30175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p:cNvSpPr/>
          <p:nvPr/>
        </p:nvSpPr>
        <p:spPr>
          <a:xfrm>
            <a:off x="2395728" y="1517904"/>
            <a:ext cx="7406640" cy="22860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s13_img01.png"/>
          <p:cNvPicPr>
            <a:picLocks noChangeAspect="1"/>
          </p:cNvPicPr>
          <p:nvPr/>
        </p:nvPicPr>
        <p:blipFill>
          <a:blip r:embed="rId1"/>
          <a:stretch>
            <a:fillRect/>
          </a:stretch>
        </p:blipFill>
        <p:spPr>
          <a:xfrm>
            <a:off x="2782519" y="1591056"/>
            <a:ext cx="6633057" cy="2139696"/>
          </a:xfrm>
          <a:prstGeom prst="rect">
            <a:avLst/>
          </a:prstGeom>
        </p:spPr>
      </p:pic>
      <p:sp>
        <p:nvSpPr>
          <p:cNvPr id="11" name="TextBox 10"/>
          <p:cNvSpPr txBox="1"/>
          <p:nvPr/>
        </p:nvSpPr>
        <p:spPr>
          <a:xfrm>
            <a:off x="2395728" y="3913632"/>
            <a:ext cx="7406640" cy="0"/>
          </a:xfrm>
          <a:prstGeom prst="rect">
            <a:avLst/>
          </a:prstGeom>
          <a:noFill/>
        </p:spPr>
        <p:txBody>
          <a:bodyPr wrap="square" lIns="0" tIns="0" rIns="0" bIns="0">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2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Hull skinning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section groups build a continuous surface; main hull completed</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2" name="Rounded Rectangle 11"/>
          <p:cNvSpPr/>
          <p:nvPr/>
        </p:nvSpPr>
        <p:spPr>
          <a:xfrm>
            <a:off x="530352" y="4663440"/>
            <a:ext cx="3602736" cy="16916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p:cNvSpPr txBox="1"/>
          <p:nvPr/>
        </p:nvSpPr>
        <p:spPr>
          <a:xfrm>
            <a:off x="731520" y="4773168"/>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Input</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4" name="TextBox 13"/>
          <p:cNvSpPr txBox="1"/>
          <p:nvPr/>
        </p:nvSpPr>
        <p:spPr>
          <a:xfrm>
            <a:off x="731520" y="5120640"/>
            <a:ext cx="3200400" cy="10972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6 section groups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145 sections sampled along the length</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5" name="Rounded Rectangle 14"/>
          <p:cNvSpPr/>
          <p:nvPr/>
        </p:nvSpPr>
        <p:spPr>
          <a:xfrm>
            <a:off x="4315968" y="4663440"/>
            <a:ext cx="3602736" cy="16916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4498848" y="4791455"/>
            <a:ext cx="3236976"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Skinned surfaces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7" name="TextBox 16"/>
          <p:cNvSpPr txBox="1"/>
          <p:nvPr/>
        </p:nvSpPr>
        <p:spPr>
          <a:xfrm>
            <a:off x="4498848" y="5084064"/>
            <a:ext cx="3236976" cy="1179576"/>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6</a:t>
            </a:r>
            <a:endPar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8" name="TextBox 17"/>
          <p:cNvSpPr txBox="1"/>
          <p:nvPr/>
        </p:nvSpPr>
        <p:spPr>
          <a:xfrm>
            <a:off x="4498848" y="6025895"/>
            <a:ext cx="3236976" cy="256032"/>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9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Main hull completed</a:t>
            </a:r>
            <a:endParaRPr kumimoji="0" sz="9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19" name="Rounded Rectangle 18"/>
          <p:cNvSpPr/>
          <p:nvPr/>
        </p:nvSpPr>
        <p:spPr>
          <a:xfrm>
            <a:off x="8101583" y="4663440"/>
            <a:ext cx="3602736" cy="169164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p:cNvSpPr txBox="1"/>
          <p:nvPr/>
        </p:nvSpPr>
        <p:spPr>
          <a:xfrm>
            <a:off x="8302752" y="4773168"/>
            <a:ext cx="32004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Generation rules</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1" name="TextBox 20"/>
          <p:cNvSpPr txBox="1"/>
          <p:nvPr/>
        </p:nvSpPr>
        <p:spPr>
          <a:xfrm>
            <a:off x="8302752" y="5120640"/>
            <a:ext cx="3246120" cy="10972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9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Consistent segment count, endpoints, and point count</a:t>
            </a:r>
            <a:endPar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9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Adjacent sections connected in station order</a:t>
            </a:r>
            <a:endPar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9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Group boundaries kept as separate surfaces</a:t>
            </a:r>
            <a:endParaRPr kumimoji="0" sz="9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6 | AI Recognition of Fin Outlines and Guide Curves</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6 · Stern fin and project output</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14</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5422392" cy="37033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13232"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Fin surface and root connection region</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713232" y="1920240"/>
            <a:ext cx="5056632" cy="29718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14_img01.png"/>
          <p:cNvPicPr>
            <a:picLocks noChangeAspect="1"/>
          </p:cNvPicPr>
          <p:nvPr/>
        </p:nvPicPr>
        <p:blipFill>
          <a:blip r:embed="rId1"/>
          <a:stretch>
            <a:fillRect/>
          </a:stretch>
        </p:blipFill>
        <p:spPr>
          <a:xfrm>
            <a:off x="1178935" y="1993392"/>
            <a:ext cx="4125224" cy="2825496"/>
          </a:xfrm>
          <a:prstGeom prst="rect">
            <a:avLst/>
          </a:prstGeom>
        </p:spPr>
      </p:pic>
      <p:sp>
        <p:nvSpPr>
          <p:cNvPr id="12" name="Rounded Rectangle 11"/>
          <p:cNvSpPr/>
          <p:nvPr/>
        </p:nvSpPr>
        <p:spPr>
          <a:xfrm>
            <a:off x="6236208" y="1371600"/>
            <a:ext cx="5422392" cy="37033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p:cNvSpPr txBox="1"/>
          <p:nvPr/>
        </p:nvSpPr>
        <p:spPr>
          <a:xfrm>
            <a:off x="6419088" y="1517904"/>
            <a:ext cx="502920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6 outline curves and 12 guide curves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4" name="Rounded Rectangle 13"/>
          <p:cNvSpPr/>
          <p:nvPr/>
        </p:nvSpPr>
        <p:spPr>
          <a:xfrm>
            <a:off x="6419088" y="1920240"/>
            <a:ext cx="5056632" cy="297180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descr="s14_img02.png"/>
          <p:cNvPicPr>
            <a:picLocks noChangeAspect="1"/>
          </p:cNvPicPr>
          <p:nvPr/>
        </p:nvPicPr>
        <p:blipFill>
          <a:blip r:embed="rId2"/>
          <a:stretch>
            <a:fillRect/>
          </a:stretch>
        </p:blipFill>
        <p:spPr>
          <a:xfrm>
            <a:off x="6898919" y="1993392"/>
            <a:ext cx="4096969" cy="2825496"/>
          </a:xfrm>
          <a:prstGeom prst="rect">
            <a:avLst/>
          </a:prstGeom>
        </p:spPr>
      </p:pic>
      <p:sp>
        <p:nvSpPr>
          <p:cNvPr id="16" name="TextBox 15"/>
          <p:cNvSpPr txBox="1"/>
          <p:nvPr/>
        </p:nvSpPr>
        <p:spPr>
          <a:xfrm>
            <a:off x="530352" y="5303520"/>
            <a:ext cx="11128248" cy="10972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Outlines define the root edge, end face, and side boundaries; guide curves control the mapping of the 6 control points on the surface.</a:t>
            </a:r>
            <a:endPar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1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After outline reshaping, the equal-t control points update with the outlines and rejoin the main hull surface.</a:t>
            </a:r>
            <a:endParaRPr kumimoji="0" sz="11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6 | B-Spline Control and Guide Curve Construction</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6 · Stern fin and project output</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15</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603504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731520" y="1517904"/>
            <a:ext cx="5577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B-splines and guide curves</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0" name="Rounded Rectangle 9"/>
          <p:cNvSpPr/>
          <p:nvPr/>
        </p:nvSpPr>
        <p:spPr>
          <a:xfrm>
            <a:off x="713232" y="1920240"/>
            <a:ext cx="5669280" cy="26060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descr="s15_img01.png"/>
          <p:cNvPicPr>
            <a:picLocks noChangeAspect="1"/>
          </p:cNvPicPr>
          <p:nvPr/>
        </p:nvPicPr>
        <p:blipFill>
          <a:blip r:embed="rId1"/>
          <a:stretch>
            <a:fillRect/>
          </a:stretch>
        </p:blipFill>
        <p:spPr>
          <a:xfrm>
            <a:off x="1038941" y="1993392"/>
            <a:ext cx="5017861" cy="2459736"/>
          </a:xfrm>
          <a:prstGeom prst="rect">
            <a:avLst/>
          </a:prstGeom>
        </p:spPr>
      </p:pic>
      <p:sp>
        <p:nvSpPr>
          <p:cNvPr id="12" name="Rounded Rectangle 11"/>
          <p:cNvSpPr/>
          <p:nvPr/>
        </p:nvSpPr>
        <p:spPr>
          <a:xfrm>
            <a:off x="713232" y="4709160"/>
            <a:ext cx="1828800" cy="12344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descr="s15_img02.png"/>
          <p:cNvPicPr>
            <a:picLocks noChangeAspect="1"/>
          </p:cNvPicPr>
          <p:nvPr/>
        </p:nvPicPr>
        <p:blipFill>
          <a:blip r:embed="rId2"/>
          <a:stretch>
            <a:fillRect/>
          </a:stretch>
        </p:blipFill>
        <p:spPr>
          <a:xfrm>
            <a:off x="1083564" y="4782312"/>
            <a:ext cx="1088136" cy="1088136"/>
          </a:xfrm>
          <a:prstGeom prst="rect">
            <a:avLst/>
          </a:prstGeom>
        </p:spPr>
      </p:pic>
      <p:sp>
        <p:nvSpPr>
          <p:cNvPr id="14" name="Rounded Rectangle 13"/>
          <p:cNvSpPr/>
          <p:nvPr/>
        </p:nvSpPr>
        <p:spPr>
          <a:xfrm>
            <a:off x="2724912" y="4709160"/>
            <a:ext cx="3657600" cy="123444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5" name="Picture 14" descr="s15_img03.png"/>
          <p:cNvPicPr>
            <a:picLocks noChangeAspect="1"/>
          </p:cNvPicPr>
          <p:nvPr/>
        </p:nvPicPr>
        <p:blipFill>
          <a:blip r:embed="rId3"/>
          <a:stretch>
            <a:fillRect/>
          </a:stretch>
        </p:blipFill>
        <p:spPr>
          <a:xfrm>
            <a:off x="3394847" y="4782312"/>
            <a:ext cx="2317729" cy="1088136"/>
          </a:xfrm>
          <a:prstGeom prst="rect">
            <a:avLst/>
          </a:prstGeom>
        </p:spPr>
      </p:pic>
      <p:sp>
        <p:nvSpPr>
          <p:cNvPr id="16" name="TextBox 15"/>
          <p:cNvSpPr txBox="1"/>
          <p:nvPr/>
        </p:nvSpPr>
        <p:spPr>
          <a:xfrm>
            <a:off x="731520" y="6016752"/>
            <a:ext cx="55778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Fin injection check: outlines, guide curves, and main hull root edge</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7" name="Oval 16"/>
          <p:cNvSpPr/>
          <p:nvPr>
            <p:custDataLst>
              <p:tags r:id="rId4"/>
            </p:custDataLst>
          </p:nvPr>
        </p:nvSpPr>
        <p:spPr>
          <a:xfrm>
            <a:off x="6903720" y="1572768"/>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1</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18" name="TextBox 17"/>
          <p:cNvSpPr txBox="1"/>
          <p:nvPr>
            <p:custDataLst>
              <p:tags r:id="rId5"/>
            </p:custDataLst>
          </p:nvPr>
        </p:nvSpPr>
        <p:spPr>
          <a:xfrm>
            <a:off x="7360920" y="1554480"/>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Outline curves 1-4</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9" name="TextBox 18"/>
          <p:cNvSpPr txBox="1"/>
          <p:nvPr>
            <p:custDataLst>
              <p:tags r:id="rId6"/>
            </p:custDataLst>
          </p:nvPr>
        </p:nvSpPr>
        <p:spPr>
          <a:xfrm>
            <a:off x="7360920" y="1847088"/>
            <a:ext cx="4297680" cy="182245"/>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B-spline control-point curves</a:t>
            </a:r>
            <a:r>
              <a:rPr kumimoji="0" lang="zh-CN" altLang="en-US"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 </a:t>
            </a:r>
            <a:r>
              <a:rPr kumimoji="0" lang="en-US" altLang="zh-CN"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controlling the circumferential shape</a:t>
            </a:r>
            <a:endParaRPr kumimoji="0" lang="en-US" altLang="zh-CN"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0" name="Oval 19"/>
          <p:cNvSpPr/>
          <p:nvPr>
            <p:custDataLst>
              <p:tags r:id="rId7"/>
            </p:custDataLst>
          </p:nvPr>
        </p:nvSpPr>
        <p:spPr>
          <a:xfrm>
            <a:off x="6903720" y="2779776"/>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2</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1" name="TextBox 20"/>
          <p:cNvSpPr txBox="1"/>
          <p:nvPr>
            <p:custDataLst>
              <p:tags r:id="rId8"/>
            </p:custDataLst>
          </p:nvPr>
        </p:nvSpPr>
        <p:spPr>
          <a:xfrm>
            <a:off x="7360920" y="2761488"/>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Outline curve 5</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2" name="TextBox 21"/>
          <p:cNvSpPr txBox="1"/>
          <p:nvPr>
            <p:custDataLst>
              <p:tags r:id="rId9"/>
            </p:custDataLst>
          </p:nvPr>
        </p:nvSpPr>
        <p:spPr>
          <a:xfrm>
            <a:off x="7360920" y="3054096"/>
            <a:ext cx="4297680" cy="758951"/>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Controls the shaft outlet shape and position</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3" name="Oval 22"/>
          <p:cNvSpPr/>
          <p:nvPr>
            <p:custDataLst>
              <p:tags r:id="rId10"/>
            </p:custDataLst>
          </p:nvPr>
        </p:nvSpPr>
        <p:spPr>
          <a:xfrm>
            <a:off x="6903720" y="3986783"/>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3</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4" name="TextBox 23"/>
          <p:cNvSpPr txBox="1"/>
          <p:nvPr>
            <p:custDataLst>
              <p:tags r:id="rId11"/>
            </p:custDataLst>
          </p:nvPr>
        </p:nvSpPr>
        <p:spPr>
          <a:xfrm>
            <a:off x="7360920" y="3968496"/>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Outline curve 6</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5" name="TextBox 24"/>
          <p:cNvSpPr txBox="1"/>
          <p:nvPr>
            <p:custDataLst>
              <p:tags r:id="rId12"/>
            </p:custDataLst>
          </p:nvPr>
        </p:nvSpPr>
        <p:spPr>
          <a:xfrm>
            <a:off x="7360920" y="4261104"/>
            <a:ext cx="4297680" cy="758951"/>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Obtained by offsetting outline curve 5</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6" name="Oval 25"/>
          <p:cNvSpPr/>
          <p:nvPr>
            <p:custDataLst>
              <p:tags r:id="rId13"/>
            </p:custDataLst>
          </p:nvPr>
        </p:nvSpPr>
        <p:spPr>
          <a:xfrm>
            <a:off x="6903720" y="5193792"/>
            <a:ext cx="320040" cy="32004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4</a:t>
            </a:r>
            <a:endParaRPr kumimoji="0" sz="11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27" name="TextBox 26"/>
          <p:cNvSpPr txBox="1"/>
          <p:nvPr>
            <p:custDataLst>
              <p:tags r:id="rId14"/>
            </p:custDataLst>
          </p:nvPr>
        </p:nvSpPr>
        <p:spPr>
          <a:xfrm>
            <a:off x="7360920" y="5175504"/>
            <a:ext cx="429768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12 guide curves</a:t>
            </a:r>
            <a:endParaRPr kumimoji="0" sz="135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8" name="TextBox 27"/>
          <p:cNvSpPr txBox="1"/>
          <p:nvPr>
            <p:custDataLst>
              <p:tags r:id="rId15"/>
            </p:custDataLst>
          </p:nvPr>
        </p:nvSpPr>
        <p:spPr>
          <a:xfrm>
            <a:off x="7360920" y="5468112"/>
            <a:ext cx="4297680" cy="182245"/>
          </a:xfrm>
          <a:prstGeom prst="rect">
            <a:avLst/>
          </a:prstGeom>
          <a:noFill/>
        </p:spPr>
        <p:txBody>
          <a:bodyPr wrap="square" lIns="0" tIns="0" rIns="0" bIns="0" anchor="t">
            <a:spAutoFit/>
          </a:bodyPr>
          <a:lstStyle/>
          <a:p>
            <a:pPr marL="0" marR="0" lvl="0" indent="0" algn="l" defTabSz="457200" rtl="0" eaLnBrk="1" fontAlgn="auto" latinLnBrk="0" hangingPunct="1">
              <a:lnSpc>
                <a:spcPct val="108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Fitted through proportional points on the 6 outlines</a:t>
            </a:r>
            <a:r>
              <a:rPr kumimoji="0" lang="zh-CN" altLang="en-US"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 </a:t>
            </a:r>
            <a:r>
              <a:rPr kumimoji="0" lang="en-US" altLang="zh-CN"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controlling the fin radial shape</a:t>
            </a:r>
            <a:endParaRPr kumimoji="0" lang="en-US" altLang="zh-CN"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722376"/>
          </a:xfrm>
          <a:prstGeom prst="roundRect">
            <a:avLst>
              <a:gd name="adj" fmla="val 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ounded Rectangle 2"/>
          <p:cNvSpPr/>
          <p:nvPr/>
        </p:nvSpPr>
        <p:spPr>
          <a:xfrm>
            <a:off x="530352" y="219456"/>
            <a:ext cx="64008" cy="283464"/>
          </a:xfrm>
          <a:prstGeom prst="roundRect">
            <a:avLst>
              <a:gd name="adj" fmla="val 5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749808" y="128016"/>
            <a:ext cx="1060704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rPr>
              <a:t>Step 6 | Fin Integration and Geometric Verification</a:t>
            </a:r>
            <a:endParaRPr kumimoji="0" sz="2200" b="1"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Arial" panose="020B0604020202020204"/>
            </a:endParaRPr>
          </a:p>
        </p:txBody>
      </p:sp>
      <p:sp>
        <p:nvSpPr>
          <p:cNvPr id="5" name="TextBox 4"/>
          <p:cNvSpPr txBox="1"/>
          <p:nvPr/>
        </p:nvSpPr>
        <p:spPr>
          <a:xfrm>
            <a:off x="521207" y="804672"/>
            <a:ext cx="7315200" cy="32004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Step 6 · Stern fin and project output</a:t>
            </a:r>
            <a:endParaRPr kumimoji="0" sz="1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6" name="Rectangle 5"/>
          <p:cNvSpPr/>
          <p:nvPr/>
        </p:nvSpPr>
        <p:spPr>
          <a:xfrm>
            <a:off x="530352" y="1152144"/>
            <a:ext cx="11128248" cy="15240"/>
          </a:xfrm>
          <a:prstGeom prst="rect">
            <a:avLst/>
          </a:prstGeom>
          <a:solidFill>
            <a:srgbClr val="B7C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11247120" y="6510528"/>
            <a:ext cx="457200" cy="228600"/>
          </a:xfrm>
          <a:prstGeom prst="rect">
            <a:avLst/>
          </a:prstGeom>
          <a:noFill/>
        </p:spPr>
        <p:txBody>
          <a:bodyPr wrap="square" lIns="0" tIns="0" rIns="0" bIns="0" anchor="t">
            <a:spAutoFit/>
          </a:bodyPr>
          <a:lstStyle/>
          <a:p>
            <a:pPr marL="0" marR="0" lvl="0" indent="0" algn="r" defTabSz="457200" rtl="0" eaLnBrk="1" fontAlgn="auto" latinLnBrk="0" hangingPunct="1">
              <a:lnSpc>
                <a:spcPct val="105000"/>
              </a:lnSpc>
              <a:spcBef>
                <a:spcPts val="0"/>
              </a:spcBef>
              <a:spcAft>
                <a:spcPts val="0"/>
              </a:spcAft>
              <a:buClrTx/>
              <a:buSzTx/>
              <a:buFontTx/>
              <a:buNone/>
              <a:defRPr/>
            </a:pPr>
            <a:r>
              <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rPr>
              <a:t>16</a:t>
            </a:r>
            <a:endParaRPr kumimoji="0" sz="1000" b="0" i="0" u="none" strike="noStrike" kern="1200" cap="none" spc="0" normalizeH="0" baseline="0" noProof="0">
              <a:ln>
                <a:noFill/>
              </a:ln>
              <a:solidFill>
                <a:srgbClr val="475569"/>
              </a:solidFill>
              <a:effectLst/>
              <a:uLnTx/>
              <a:uFillTx/>
              <a:latin typeface="Arial" panose="020B0604020202020204"/>
              <a:ea typeface="微软雅黑" panose="020B0503020204020204" pitchFamily="34" charset="-122"/>
              <a:cs typeface="Arial" panose="020B0604020202020204"/>
            </a:endParaRPr>
          </a:p>
        </p:txBody>
      </p:sp>
      <p:sp>
        <p:nvSpPr>
          <p:cNvPr id="8" name="Rounded Rectangle 7"/>
          <p:cNvSpPr/>
          <p:nvPr/>
        </p:nvSpPr>
        <p:spPr>
          <a:xfrm>
            <a:off x="530352" y="1371600"/>
            <a:ext cx="5806440" cy="4983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ounded Rectangle 8"/>
          <p:cNvSpPr/>
          <p:nvPr/>
        </p:nvSpPr>
        <p:spPr>
          <a:xfrm>
            <a:off x="713232" y="1554480"/>
            <a:ext cx="5440680" cy="4023360"/>
          </a:xfrm>
          <a:prstGeom prst="roundRect">
            <a:avLst>
              <a:gd name="adj" fmla="val 8000"/>
            </a:avLst>
          </a:prstGeom>
          <a:solidFill>
            <a:srgbClr val="FFFFFF"/>
          </a:solidFill>
          <a:ln w="12700">
            <a:solidFill>
              <a:srgbClr val="DDE8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s16_img01.png"/>
          <p:cNvPicPr>
            <a:picLocks noChangeAspect="1"/>
          </p:cNvPicPr>
          <p:nvPr/>
        </p:nvPicPr>
        <p:blipFill>
          <a:blip r:embed="rId1"/>
          <a:stretch>
            <a:fillRect/>
          </a:stretch>
        </p:blipFill>
        <p:spPr>
          <a:xfrm>
            <a:off x="786384" y="1753017"/>
            <a:ext cx="5294376" cy="3626284"/>
          </a:xfrm>
          <a:prstGeom prst="rect">
            <a:avLst/>
          </a:prstGeom>
        </p:spPr>
      </p:pic>
      <p:sp>
        <p:nvSpPr>
          <p:cNvPr id="11" name="TextBox 10"/>
          <p:cNvSpPr txBox="1"/>
          <p:nvPr/>
        </p:nvSpPr>
        <p:spPr>
          <a:xfrm>
            <a:off x="731520" y="5715000"/>
            <a:ext cx="5440680" cy="5029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Fin root fitting, local blending, and continuous connection to the main hull</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2" name="Rounded Rectangle 11"/>
          <p:cNvSpPr/>
          <p:nvPr/>
        </p:nvSpPr>
        <p:spPr>
          <a:xfrm>
            <a:off x="6537960" y="1371600"/>
            <a:ext cx="2450592" cy="10972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p:cNvSpPr txBox="1"/>
          <p:nvPr/>
        </p:nvSpPr>
        <p:spPr>
          <a:xfrm>
            <a:off x="6720840" y="1499616"/>
            <a:ext cx="2084832"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Project objects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4" name="TextBox 13"/>
          <p:cNvSpPr txBox="1"/>
          <p:nvPr/>
        </p:nvSpPr>
        <p:spPr>
          <a:xfrm>
            <a:off x="6720840" y="1792224"/>
            <a:ext cx="2084832" cy="58521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214</a:t>
            </a:r>
            <a:endParaRPr kumimoji="0" sz="24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15" name="Rounded Rectangle 14"/>
          <p:cNvSpPr/>
          <p:nvPr/>
        </p:nvSpPr>
        <p:spPr>
          <a:xfrm>
            <a:off x="9189720" y="1371600"/>
            <a:ext cx="2450592" cy="10972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9372600" y="1499616"/>
            <a:ext cx="2084832" cy="292608"/>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Dependency edges</a:t>
            </a:r>
            <a:endParaRPr kumimoji="0" sz="110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17" name="TextBox 16"/>
          <p:cNvSpPr txBox="1"/>
          <p:nvPr/>
        </p:nvSpPr>
        <p:spPr>
          <a:xfrm>
            <a:off x="9372600" y="1792224"/>
            <a:ext cx="2084832" cy="585215"/>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rPr>
              <a:t>230</a:t>
            </a:r>
            <a:endParaRPr kumimoji="0" sz="2400" b="1" i="0" u="none" strike="noStrike" kern="1200" cap="none" spc="0" normalizeH="0" baseline="0" noProof="0">
              <a:ln>
                <a:noFill/>
              </a:ln>
              <a:solidFill>
                <a:srgbClr val="C00000"/>
              </a:solidFill>
              <a:effectLst/>
              <a:uLnTx/>
              <a:uFillTx/>
              <a:latin typeface="Arial" panose="020B0604020202020204"/>
              <a:ea typeface="微软雅黑" panose="020B0503020204020204" pitchFamily="34" charset="-122"/>
              <a:cs typeface="Arial" panose="020B0604020202020204"/>
            </a:endParaRPr>
          </a:p>
        </p:txBody>
      </p:sp>
      <p:sp>
        <p:nvSpPr>
          <p:cNvPr id="18" name="Rounded Rectangle 17"/>
          <p:cNvSpPr/>
          <p:nvPr/>
        </p:nvSpPr>
        <p:spPr>
          <a:xfrm>
            <a:off x="6537960" y="2697480"/>
            <a:ext cx="5102352" cy="137160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6739128" y="2807208"/>
            <a:ext cx="46634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Final project output</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0" name="TextBox 19"/>
          <p:cNvSpPr txBox="1"/>
          <p:nvPr/>
        </p:nvSpPr>
        <p:spPr>
          <a:xfrm>
            <a:off x="6739128" y="3154680"/>
            <a:ext cx="4663440" cy="82296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Editable GeneHull .ahp project</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Nodes, expressions, and dependencies retained</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
        <p:nvSpPr>
          <p:cNvPr id="21" name="Rounded Rectangle 20"/>
          <p:cNvSpPr/>
          <p:nvPr/>
        </p:nvSpPr>
        <p:spPr>
          <a:xfrm>
            <a:off x="6537960" y="4251960"/>
            <a:ext cx="5102352" cy="210312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p:cNvSpPr txBox="1"/>
          <p:nvPr/>
        </p:nvSpPr>
        <p:spPr>
          <a:xfrm>
            <a:off x="6739128" y="4361688"/>
            <a:ext cx="4663440" cy="274320"/>
          </a:xfrm>
          <a:prstGeom prst="rect">
            <a:avLst/>
          </a:prstGeom>
          <a:noFill/>
        </p:spPr>
        <p:txBody>
          <a:bodyPr wrap="square" lIns="0" tIns="0" rIns="0" bIns="0" anchor="t">
            <a:spAutoFit/>
          </a:bodyPr>
          <a:lstStyle/>
          <a:p>
            <a:pPr marL="0" marR="0" lvl="0" indent="0" algn="l" defTabSz="457200" rtl="0" eaLnBrk="1" fontAlgn="auto" latinLnBrk="0" hangingPunct="1">
              <a:lnSpc>
                <a:spcPct val="105000"/>
              </a:lnSpc>
              <a:spcBef>
                <a:spcPts val="0"/>
              </a:spcBef>
              <a:spcAft>
                <a:spcPts val="0"/>
              </a:spcAft>
              <a:buClrTx/>
              <a:buSzTx/>
              <a:buFontTx/>
              <a:buNone/>
              <a:defRPr/>
            </a:pPr>
            <a:r>
              <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rPr>
              <a:t>Integration checks</a:t>
            </a:r>
            <a:endParaRPr kumimoji="0" sz="1300" b="1" i="0" u="none" strike="noStrike" kern="1200" cap="none" spc="0" normalizeH="0" baseline="0" noProof="0">
              <a:ln>
                <a:noFill/>
              </a:ln>
              <a:solidFill>
                <a:srgbClr val="002060"/>
              </a:solidFill>
              <a:effectLst/>
              <a:uLnTx/>
              <a:uFillTx/>
              <a:latin typeface="Arial" panose="020B0604020202020204"/>
              <a:ea typeface="微软雅黑" panose="020B0503020204020204" pitchFamily="34" charset="-122"/>
              <a:cs typeface="Arial" panose="020B0604020202020204"/>
            </a:endParaRPr>
          </a:p>
        </p:txBody>
      </p:sp>
      <p:sp>
        <p:nvSpPr>
          <p:cNvPr id="23" name="TextBox 22"/>
          <p:cNvSpPr txBox="1"/>
          <p:nvPr/>
        </p:nvSpPr>
        <p:spPr>
          <a:xfrm>
            <a:off x="6739128" y="4709160"/>
            <a:ext cx="4663440" cy="1554480"/>
          </a:xfrm>
          <a:prstGeom prst="rect">
            <a:avLst/>
          </a:prstGeom>
          <a:noFill/>
        </p:spPr>
        <p:txBody>
          <a:bodyPr wrap="square" lIns="0" tIns="0" rIns="0" bIns="0">
            <a:spAutoFit/>
          </a:bodyPr>
          <a:lstStyle/>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Root edge fits the main hull surface</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Cutout boundary follows the curves</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Fin joins the hull continuously</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a:p>
            <a:pPr marL="0" marR="0" lvl="0" indent="0" algn="l" defTabSz="457200" rtl="0" eaLnBrk="1" fontAlgn="auto" latinLnBrk="0" hangingPunct="1">
              <a:lnSpc>
                <a:spcPct val="105000"/>
              </a:lnSpc>
              <a:spcBef>
                <a:spcPts val="0"/>
              </a:spcBef>
              <a:spcAft>
                <a:spcPts val="500"/>
              </a:spcAft>
              <a:buClrTx/>
              <a:buSzTx/>
              <a:buFontTx/>
              <a:buNone/>
              <a:defRPr/>
            </a:pPr>
            <a:r>
              <a:rPr kumimoji="0" sz="1050" b="1" i="0" u="none" strike="noStrike" kern="1200" cap="none" spc="0" normalizeH="0" baseline="0" noProof="0">
                <a:ln>
                  <a:noFill/>
                </a:ln>
                <a:solidFill>
                  <a:srgbClr val="0070C0"/>
                </a:solidFill>
                <a:effectLst/>
                <a:uLnTx/>
                <a:uFillTx/>
                <a:latin typeface="Arial" panose="020B0604020202020204"/>
                <a:ea typeface="微软雅黑" panose="020B0503020204020204" pitchFamily="34" charset="-122"/>
                <a:cs typeface="Arial" panose="020B0604020202020204"/>
              </a:rPr>
              <a:t>✓  </a:t>
            </a:r>
            <a:r>
              <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rPr>
              <a:t>Nodes, dependencies, and scripts readable</a:t>
            </a:r>
            <a:endParaRPr kumimoji="0" sz="1050" b="0" i="0" u="none" strike="noStrike" kern="1200" cap="none" spc="0" normalizeH="0" baseline="0" noProof="0">
              <a:ln>
                <a:noFill/>
              </a:ln>
              <a:solidFill>
                <a:srgbClr val="111111"/>
              </a:solidFill>
              <a:effectLst/>
              <a:uLnTx/>
              <a:uFillTx/>
              <a:latin typeface="Arial" panose="020B0604020202020204"/>
              <a:ea typeface="微软雅黑" panose="020B0503020204020204" pitchFamily="34" charset="-122"/>
              <a:cs typeface="Arial" panose="020B060402020202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75"/>
          <p:cNvSpPr txBox="1"/>
          <p:nvPr/>
        </p:nvSpPr>
        <p:spPr>
          <a:xfrm>
            <a:off x="5202165" y="22909"/>
            <a:ext cx="1787669" cy="646331"/>
          </a:xfrm>
          <a:prstGeom prst="rect">
            <a:avLst/>
          </a:prstGeom>
        </p:spPr>
        <p:txBody>
          <a:bodyPr wrap="none">
            <a:spAutoFit/>
          </a:bodyPr>
          <a:lstStyle>
            <a:defPPr>
              <a:defRPr lang="en-US"/>
            </a:defPPr>
            <a:lvl1pPr algn="ctr" eaLnBrk="0" hangingPunct="0">
              <a:defRPr sz="3600" b="1">
                <a:solidFill>
                  <a:schemeClr val="bg1"/>
                </a:solidFill>
                <a:latin typeface="Times New Roman" panose="02020603050405020304" pitchFamily="18" charset="0"/>
                <a:ea typeface="微软雅黑" panose="020B0503020204020204" pitchFamily="34" charset="-122"/>
              </a:defRPr>
            </a:lvl1pPr>
          </a:lstStyle>
          <a:p>
            <a:r>
              <a:rPr lang="en-US" noProof="1"/>
              <a:t>Outline </a:t>
            </a:r>
            <a:endParaRPr lang="en-US" noProof="1"/>
          </a:p>
        </p:txBody>
      </p:sp>
      <p:sp>
        <p:nvSpPr>
          <p:cNvPr id="4" name="矩形 n0"/>
          <p:cNvSpPr/>
          <p:nvPr/>
        </p:nvSpPr>
        <p:spPr>
          <a:xfrm>
            <a:off x="2106930" y="1206500"/>
            <a:ext cx="947420" cy="845820"/>
          </a:xfrm>
          <a:prstGeom prst="rect">
            <a:avLst/>
          </a:prstGeom>
          <a:solidFill>
            <a:srgbClr val="FFC000"/>
          </a:solidFill>
          <a:ln>
            <a:noFill/>
          </a:ln>
        </p:spPr>
      </p:sp>
      <p:sp>
        <p:nvSpPr>
          <p:cNvPr id="5" name="矩形 b0"/>
          <p:cNvSpPr/>
          <p:nvPr/>
        </p:nvSpPr>
        <p:spPr>
          <a:xfrm>
            <a:off x="2856230" y="1206500"/>
            <a:ext cx="7470140" cy="845820"/>
          </a:xfrm>
          <a:prstGeom prst="rect">
            <a:avLst/>
          </a:prstGeom>
          <a:solidFill>
            <a:srgbClr val="223962"/>
          </a:solidFill>
          <a:ln w="12700">
            <a:solidFill>
              <a:srgbClr val="4472C4"/>
            </a:solidFill>
          </a:ln>
        </p:spPr>
      </p:sp>
      <p:sp>
        <p:nvSpPr>
          <p:cNvPr id="6" name="num0"/>
          <p:cNvSpPr txBox="1"/>
          <p:nvPr/>
        </p:nvSpPr>
        <p:spPr>
          <a:xfrm>
            <a:off x="1795780" y="1414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1</a:t>
            </a:r>
            <a:endParaRPr lang="en-US" sz="3600" noProof="1"/>
          </a:p>
        </p:txBody>
      </p:sp>
      <p:sp>
        <p:nvSpPr>
          <p:cNvPr id="7" name="item0"/>
          <p:cNvSpPr txBox="1"/>
          <p:nvPr/>
        </p:nvSpPr>
        <p:spPr>
          <a:xfrm>
            <a:off x="2947670" y="1367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chemeClr val="bg1"/>
                </a:solidFill>
                <a:latin typeface="微软雅黑" panose="020B0503020204020204" pitchFamily="34" charset="-122"/>
                <a:ea typeface="微软雅黑" panose="020B0503020204020204" pitchFamily="34" charset="-122"/>
              </a:rPr>
              <a:t>Research Background</a:t>
            </a:r>
            <a:endParaRPr lang="en-US" sz="2600" noProof="1">
              <a:solidFill>
                <a:schemeClr val="bg1"/>
              </a:solidFill>
              <a:latin typeface="微软雅黑" panose="020B0503020204020204" pitchFamily="34" charset="-122"/>
              <a:ea typeface="微软雅黑" panose="020B0503020204020204" pitchFamily="34" charset="-122"/>
            </a:endParaRPr>
          </a:p>
        </p:txBody>
      </p:sp>
      <p:sp>
        <p:nvSpPr>
          <p:cNvPr id="8" name="矩形 n1"/>
          <p:cNvSpPr/>
          <p:nvPr/>
        </p:nvSpPr>
        <p:spPr>
          <a:xfrm>
            <a:off x="2106930" y="2286000"/>
            <a:ext cx="947420" cy="845820"/>
          </a:xfrm>
          <a:prstGeom prst="rect">
            <a:avLst/>
          </a:prstGeom>
          <a:solidFill>
            <a:srgbClr val="FFC000"/>
          </a:solidFill>
          <a:ln>
            <a:noFill/>
          </a:ln>
        </p:spPr>
      </p:sp>
      <p:sp>
        <p:nvSpPr>
          <p:cNvPr id="9" name="矩形 b1"/>
          <p:cNvSpPr/>
          <p:nvPr/>
        </p:nvSpPr>
        <p:spPr>
          <a:xfrm>
            <a:off x="2856230" y="2286000"/>
            <a:ext cx="7470140" cy="845820"/>
          </a:xfrm>
          <a:prstGeom prst="rect">
            <a:avLst/>
          </a:prstGeom>
          <a:solidFill>
            <a:srgbClr val="223962"/>
          </a:solidFill>
          <a:ln w="12700">
            <a:solidFill>
              <a:srgbClr val="4472C4"/>
            </a:solidFill>
          </a:ln>
        </p:spPr>
      </p:sp>
      <p:sp>
        <p:nvSpPr>
          <p:cNvPr id="10" name="num1"/>
          <p:cNvSpPr txBox="1"/>
          <p:nvPr/>
        </p:nvSpPr>
        <p:spPr>
          <a:xfrm>
            <a:off x="1795780" y="2494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2</a:t>
            </a:r>
            <a:endParaRPr lang="en-US" sz="3600" noProof="1"/>
          </a:p>
        </p:txBody>
      </p:sp>
      <p:sp>
        <p:nvSpPr>
          <p:cNvPr id="11" name="item1"/>
          <p:cNvSpPr txBox="1"/>
          <p:nvPr/>
        </p:nvSpPr>
        <p:spPr>
          <a:xfrm>
            <a:off x="2947670" y="2447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SBDO-Based Hull Form Optimization</a:t>
            </a:r>
            <a:endParaRPr lang="en-US" sz="2600" noProof="1">
              <a:latin typeface="微软雅黑" panose="020B0503020204020204" pitchFamily="34" charset="-122"/>
              <a:ea typeface="微软雅黑" panose="020B0503020204020204" pitchFamily="34" charset="-122"/>
            </a:endParaRPr>
          </a:p>
        </p:txBody>
      </p:sp>
      <p:sp>
        <p:nvSpPr>
          <p:cNvPr id="12" name="矩形 n2"/>
          <p:cNvSpPr/>
          <p:nvPr/>
        </p:nvSpPr>
        <p:spPr>
          <a:xfrm>
            <a:off x="2106930" y="3365500"/>
            <a:ext cx="947420" cy="845820"/>
          </a:xfrm>
          <a:prstGeom prst="rect">
            <a:avLst/>
          </a:prstGeom>
          <a:solidFill>
            <a:srgbClr val="FFC000"/>
          </a:solidFill>
          <a:ln>
            <a:noFill/>
          </a:ln>
        </p:spPr>
      </p:sp>
      <p:sp>
        <p:nvSpPr>
          <p:cNvPr id="13" name="矩形 b2"/>
          <p:cNvSpPr/>
          <p:nvPr/>
        </p:nvSpPr>
        <p:spPr>
          <a:xfrm>
            <a:off x="2856230" y="3365500"/>
            <a:ext cx="7470140" cy="845820"/>
          </a:xfrm>
          <a:prstGeom prst="rect">
            <a:avLst/>
          </a:prstGeom>
          <a:solidFill>
            <a:srgbClr val="223962"/>
          </a:solidFill>
          <a:ln w="12700">
            <a:solidFill>
              <a:srgbClr val="4472C4"/>
            </a:solidFill>
          </a:ln>
        </p:spPr>
      </p:sp>
      <p:sp>
        <p:nvSpPr>
          <p:cNvPr id="14" name="num2"/>
          <p:cNvSpPr txBox="1"/>
          <p:nvPr/>
        </p:nvSpPr>
        <p:spPr>
          <a:xfrm>
            <a:off x="1795780" y="3573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3</a:t>
            </a:r>
            <a:endParaRPr lang="en-US" sz="3600" noProof="1"/>
          </a:p>
        </p:txBody>
      </p:sp>
      <p:sp>
        <p:nvSpPr>
          <p:cNvPr id="15" name="item2"/>
          <p:cNvSpPr txBox="1"/>
          <p:nvPr/>
        </p:nvSpPr>
        <p:spPr>
          <a:xfrm>
            <a:off x="2947670" y="3526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GeneHull Intelligent Design Platform</a:t>
            </a:r>
            <a:endParaRPr lang="en-US" sz="2600" noProof="1">
              <a:latin typeface="微软雅黑" panose="020B0503020204020204" pitchFamily="34" charset="-122"/>
              <a:ea typeface="微软雅黑" panose="020B0503020204020204" pitchFamily="34" charset="-122"/>
            </a:endParaRPr>
          </a:p>
        </p:txBody>
      </p:sp>
      <p:sp>
        <p:nvSpPr>
          <p:cNvPr id="16" name="矩形 n3"/>
          <p:cNvSpPr/>
          <p:nvPr/>
        </p:nvSpPr>
        <p:spPr>
          <a:xfrm>
            <a:off x="2106930" y="4445000"/>
            <a:ext cx="947420" cy="845820"/>
          </a:xfrm>
          <a:prstGeom prst="rect">
            <a:avLst/>
          </a:prstGeom>
          <a:solidFill>
            <a:srgbClr val="FFC000"/>
          </a:solidFill>
          <a:ln>
            <a:noFill/>
          </a:ln>
        </p:spPr>
      </p:sp>
      <p:sp>
        <p:nvSpPr>
          <p:cNvPr id="17" name="矩形 b3"/>
          <p:cNvSpPr/>
          <p:nvPr/>
        </p:nvSpPr>
        <p:spPr>
          <a:xfrm>
            <a:off x="2856230" y="4445000"/>
            <a:ext cx="7470140" cy="845820"/>
          </a:xfrm>
          <a:prstGeom prst="rect">
            <a:avLst/>
          </a:prstGeom>
          <a:solidFill>
            <a:srgbClr val="223962"/>
          </a:solidFill>
          <a:ln w="12700">
            <a:solidFill>
              <a:srgbClr val="4472C4"/>
            </a:solidFill>
          </a:ln>
        </p:spPr>
      </p:sp>
      <p:sp>
        <p:nvSpPr>
          <p:cNvPr id="18" name="num3"/>
          <p:cNvSpPr txBox="1"/>
          <p:nvPr/>
        </p:nvSpPr>
        <p:spPr>
          <a:xfrm>
            <a:off x="1795780" y="46532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4</a:t>
            </a:r>
            <a:endParaRPr lang="en-US" sz="3600" noProof="1"/>
          </a:p>
        </p:txBody>
      </p:sp>
      <p:sp>
        <p:nvSpPr>
          <p:cNvPr id="19" name="item3"/>
          <p:cNvSpPr txBox="1"/>
          <p:nvPr/>
        </p:nvSpPr>
        <p:spPr>
          <a:xfrm>
            <a:off x="2947670" y="46062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FFFF"/>
                </a:solidFill>
                <a:latin typeface="微软雅黑" panose="020B0503020204020204" pitchFamily="34" charset="-122"/>
                <a:ea typeface="微软雅黑" panose="020B0503020204020204" pitchFamily="34" charset="-122"/>
              </a:rPr>
              <a:t>AI Agents for Autonomous Hull Design</a:t>
            </a:r>
            <a:endParaRPr lang="en-US" sz="2600" noProof="1">
              <a:latin typeface="微软雅黑" panose="020B0503020204020204" pitchFamily="34" charset="-122"/>
              <a:ea typeface="微软雅黑" panose="020B0503020204020204" pitchFamily="34" charset="-122"/>
            </a:endParaRPr>
          </a:p>
        </p:txBody>
      </p:sp>
      <p:sp>
        <p:nvSpPr>
          <p:cNvPr id="20" name="矩形 n4"/>
          <p:cNvSpPr/>
          <p:nvPr/>
        </p:nvSpPr>
        <p:spPr>
          <a:xfrm>
            <a:off x="2106930" y="5524500"/>
            <a:ext cx="947420" cy="845820"/>
          </a:xfrm>
          <a:prstGeom prst="rect">
            <a:avLst/>
          </a:prstGeom>
          <a:solidFill>
            <a:srgbClr val="FFC000"/>
          </a:solidFill>
          <a:ln>
            <a:noFill/>
          </a:ln>
        </p:spPr>
      </p:sp>
      <p:sp>
        <p:nvSpPr>
          <p:cNvPr id="21" name="矩形 b4"/>
          <p:cNvSpPr/>
          <p:nvPr/>
        </p:nvSpPr>
        <p:spPr>
          <a:xfrm>
            <a:off x="2856230" y="5524500"/>
            <a:ext cx="7470140" cy="845820"/>
          </a:xfrm>
          <a:prstGeom prst="rect">
            <a:avLst/>
          </a:prstGeom>
          <a:solidFill>
            <a:srgbClr val="223962"/>
          </a:solidFill>
          <a:ln w="12700">
            <a:solidFill>
              <a:srgbClr val="4472C4"/>
            </a:solidFill>
          </a:ln>
        </p:spPr>
      </p:sp>
      <p:sp>
        <p:nvSpPr>
          <p:cNvPr id="22" name="num4"/>
          <p:cNvSpPr txBox="1"/>
          <p:nvPr/>
        </p:nvSpPr>
        <p:spPr>
          <a:xfrm>
            <a:off x="1795780" y="5732780"/>
            <a:ext cx="1338580" cy="405130"/>
          </a:xfrm>
          <a:prstGeom prst="rect">
            <a:avLst/>
          </a:prstGeom>
          <a:noFill/>
          <a:ln>
            <a:noFill/>
          </a:ln>
        </p:spPr>
        <p:txBody>
          <a:bodyPr wrap="square" lIns="0" tIns="0" rIns="0" bIns="0" rtlCol="0" anchor="ctr"/>
          <a:lstStyle/>
          <a:p>
            <a:pPr algn="ctr">
              <a:lnSpc>
                <a:spcPct val="120000"/>
              </a:lnSpc>
            </a:pPr>
            <a:r>
              <a:rPr lang="en-US" sz="3600" b="1" noProof="1">
                <a:solidFill>
                  <a:srgbClr val="00469A"/>
                </a:solidFill>
                <a:latin typeface="微软雅黑" panose="020B0503020204020204" pitchFamily="34" charset="-122"/>
                <a:ea typeface="微软雅黑" panose="020B0503020204020204" pitchFamily="34" charset="-122"/>
              </a:rPr>
              <a:t>5</a:t>
            </a:r>
            <a:endParaRPr lang="en-US" sz="3600" noProof="1"/>
          </a:p>
        </p:txBody>
      </p:sp>
      <p:sp>
        <p:nvSpPr>
          <p:cNvPr id="23" name="item4"/>
          <p:cNvSpPr txBox="1"/>
          <p:nvPr/>
        </p:nvSpPr>
        <p:spPr>
          <a:xfrm>
            <a:off x="2947670" y="5685790"/>
            <a:ext cx="7287260" cy="553720"/>
          </a:xfrm>
          <a:prstGeom prst="rect">
            <a:avLst/>
          </a:prstGeom>
          <a:noFill/>
          <a:ln>
            <a:noFill/>
          </a:ln>
        </p:spPr>
        <p:txBody>
          <a:bodyPr wrap="square" lIns="0" tIns="0" rIns="0" bIns="0" rtlCol="0" anchor="t"/>
          <a:lstStyle/>
          <a:p>
            <a:pPr marL="0" algn="l">
              <a:lnSpc>
                <a:spcPct val="120000"/>
              </a:lnSpc>
            </a:pPr>
            <a:r>
              <a:rPr lang="en-US" sz="2600" b="1" noProof="1">
                <a:solidFill>
                  <a:srgbClr val="FF0000"/>
                </a:solidFill>
                <a:latin typeface="微软雅黑" panose="020B0503020204020204" pitchFamily="34" charset="-122"/>
                <a:ea typeface="微软雅黑" panose="020B0503020204020204" pitchFamily="34" charset="-122"/>
              </a:rPr>
              <a:t>Summary and Outlook</a:t>
            </a:r>
            <a:endParaRPr lang="en-US" sz="2600" noProof="1">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title"/>
          <p:cNvSpPr txBox="1"/>
          <p:nvPr/>
        </p:nvSpPr>
        <p:spPr>
          <a:xfrm>
            <a:off x="2286000" y="62230"/>
            <a:ext cx="7620000" cy="553720"/>
          </a:xfrm>
          <a:prstGeom prst="rect">
            <a:avLst/>
          </a:prstGeom>
          <a:noFill/>
          <a:ln>
            <a:noFill/>
          </a:ln>
        </p:spPr>
        <p:txBody>
          <a:bodyPr wrap="none" lIns="0" tIns="0" rIns="0" bIns="0" rtlCol="0" anchor="t"/>
          <a:lstStyle/>
          <a:p>
            <a:pPr algn="ctr">
              <a:lnSpc>
                <a:spcPct val="120000"/>
              </a:lnSpc>
            </a:pPr>
            <a:r>
              <a:rPr lang="en-US" sz="3600" b="1" noProof="1">
                <a:solidFill>
                  <a:srgbClr val="FFFFFF"/>
                </a:solidFill>
                <a:latin typeface="Times New Roman" panose="02020603050405020304"/>
                <a:ea typeface="微软雅黑" panose="020B0503020204020204" pitchFamily="34" charset="-122"/>
              </a:rPr>
              <a:t>Summary and Outlook</a:t>
            </a:r>
            <a:endParaRPr lang="en-US" sz="3600" noProof="1"/>
          </a:p>
        </p:txBody>
      </p:sp>
      <p:sp>
        <p:nvSpPr>
          <p:cNvPr id="6" name="chip1-shape"/>
          <p:cNvSpPr/>
          <p:nvPr/>
        </p:nvSpPr>
        <p:spPr>
          <a:xfrm>
            <a:off x="299720" y="1270000"/>
            <a:ext cx="2540000" cy="381000"/>
          </a:xfrm>
          <a:prstGeom prst="roundRect">
            <a:avLst>
              <a:gd name="adj" fmla="val 0"/>
            </a:avLst>
          </a:prstGeom>
          <a:solidFill>
            <a:srgbClr val="4472C4"/>
          </a:solidFill>
          <a:ln w="12700">
            <a:solidFill>
              <a:srgbClr val="223962"/>
            </a:solidFill>
          </a:ln>
        </p:spPr>
      </p:sp>
      <p:sp>
        <p:nvSpPr>
          <p:cNvPr id="7" name="chip1-text"/>
          <p:cNvSpPr txBox="1"/>
          <p:nvPr/>
        </p:nvSpPr>
        <p:spPr>
          <a:xfrm>
            <a:off x="299720" y="1270000"/>
            <a:ext cx="2540000" cy="3810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Times New Roman" panose="02020603050405020304"/>
                <a:ea typeface="微软雅黑" panose="020B0503020204020204" pitchFamily="34" charset="-122"/>
              </a:rPr>
              <a:t>Summary of Main Work</a:t>
            </a:r>
            <a:endParaRPr lang="en-US" sz="1600" noProof="1"/>
          </a:p>
        </p:txBody>
      </p:sp>
      <p:pic>
        <p:nvPicPr>
          <p:cNvPr id="8" name="s1-img"/>
          <p:cNvPicPr/>
          <p:nvPr/>
        </p:nvPicPr>
        <p:blipFill>
          <a:blip r:embed="rId1"/>
          <a:srcRect l="3086" r="3086"/>
          <a:stretch>
            <a:fillRect/>
          </a:stretch>
        </p:blipFill>
        <p:spPr>
          <a:xfrm>
            <a:off x="299720" y="1778000"/>
            <a:ext cx="1905000" cy="1143000"/>
          </a:xfrm>
          <a:prstGeom prst="roundRect">
            <a:avLst>
              <a:gd name="adj" fmla="val 8000"/>
            </a:avLst>
          </a:prstGeom>
          <a:ln>
            <a:noFill/>
          </a:ln>
        </p:spPr>
      </p:pic>
      <p:sp>
        <p:nvSpPr>
          <p:cNvPr id="9" name="s1-text"/>
          <p:cNvSpPr txBox="1"/>
          <p:nvPr/>
        </p:nvSpPr>
        <p:spPr>
          <a:xfrm>
            <a:off x="2286000" y="1778000"/>
            <a:ext cx="3556000" cy="1143000"/>
          </a:xfrm>
          <a:prstGeom prst="rect">
            <a:avLst/>
          </a:prstGeom>
          <a:noFill/>
          <a:ln>
            <a:noFill/>
          </a:ln>
        </p:spPr>
        <p:txBody>
          <a:bodyPr wrap="square" lIns="0" tIns="0" rIns="0" bIns="0" rtlCol="0" anchor="ctr"/>
          <a:lstStyle/>
          <a:p>
            <a:pPr algn="just">
              <a:lnSpc>
                <a:spcPct val="135000"/>
              </a:lnSpc>
            </a:pPr>
            <a:r>
              <a:rPr lang="en-US" sz="1300" b="1" noProof="1">
                <a:solidFill>
                  <a:srgbClr val="000000"/>
                </a:solidFill>
                <a:latin typeface="微软雅黑" panose="020B0503020204020204" pitchFamily="34" charset="-122"/>
                <a:ea typeface="微软雅黑" panose="020B0503020204020204" pitchFamily="34" charset="-122"/>
              </a:rPr>
              <a:t>SBDO hull form optimization:</a:t>
            </a:r>
            <a:r>
              <a:rPr lang="en-US" sz="1300" noProof="1">
                <a:solidFill>
                  <a:srgbClr val="000000"/>
                </a:solidFill>
                <a:latin typeface="微软雅黑" panose="020B0503020204020204" pitchFamily="34" charset="-122"/>
                <a:ea typeface="微软雅黑" panose="020B0503020204020204" pitchFamily="34" charset="-122"/>
              </a:rPr>
              <a:t> RBF / FFD deformation modules and CFD-based optimization software, validated on multiple full-scale ship projects.</a:t>
            </a:r>
            <a:endParaRPr lang="en-US" sz="1300" noProof="1"/>
          </a:p>
        </p:txBody>
      </p:sp>
      <p:pic>
        <p:nvPicPr>
          <p:cNvPr id="10" name="s2-img"/>
          <p:cNvPicPr/>
          <p:nvPr/>
        </p:nvPicPr>
        <p:blipFill>
          <a:blip r:embed="rId2"/>
          <a:srcRect l="6315" r="6315"/>
          <a:stretch>
            <a:fillRect/>
          </a:stretch>
        </p:blipFill>
        <p:spPr>
          <a:xfrm>
            <a:off x="299720" y="3124200"/>
            <a:ext cx="1905000" cy="1143000"/>
          </a:xfrm>
          <a:prstGeom prst="roundRect">
            <a:avLst>
              <a:gd name="adj" fmla="val 8000"/>
            </a:avLst>
          </a:prstGeom>
          <a:ln>
            <a:noFill/>
          </a:ln>
        </p:spPr>
      </p:pic>
      <p:sp>
        <p:nvSpPr>
          <p:cNvPr id="11" name="s2-text"/>
          <p:cNvSpPr txBox="1"/>
          <p:nvPr/>
        </p:nvSpPr>
        <p:spPr>
          <a:xfrm>
            <a:off x="2286000" y="3124200"/>
            <a:ext cx="3556000" cy="1143000"/>
          </a:xfrm>
          <a:prstGeom prst="rect">
            <a:avLst/>
          </a:prstGeom>
          <a:noFill/>
          <a:ln>
            <a:noFill/>
          </a:ln>
        </p:spPr>
        <p:txBody>
          <a:bodyPr wrap="square" lIns="0" tIns="0" rIns="0" bIns="0" rtlCol="0" anchor="ctr"/>
          <a:lstStyle/>
          <a:p>
            <a:pPr algn="just">
              <a:lnSpc>
                <a:spcPct val="135000"/>
              </a:lnSpc>
            </a:pPr>
            <a:r>
              <a:rPr lang="en-US" sz="1300" b="1" noProof="1">
                <a:solidFill>
                  <a:srgbClr val="000000"/>
                </a:solidFill>
                <a:latin typeface="微软雅黑" panose="020B0503020204020204" pitchFamily="34" charset="-122"/>
                <a:ea typeface="微软雅黑" panose="020B0503020204020204" pitchFamily="34" charset="-122"/>
              </a:rPr>
              <a:t>GeneHull intelligent design platform:</a:t>
            </a:r>
            <a:r>
              <a:rPr lang="en-US" sz="1300" noProof="1">
                <a:solidFill>
                  <a:srgbClr val="000000"/>
                </a:solidFill>
                <a:latin typeface="微软雅黑" panose="020B0503020204020204" pitchFamily="34" charset="-122"/>
                <a:ea typeface="微软雅黑" panose="020B0503020204020204" pitchFamily="34" charset="-122"/>
              </a:rPr>
              <a:t> parametric modeling on the SGK kernel + knowledge bases + CBR/RBR/MBR reasoning; concept design within 5 minutes.</a:t>
            </a:r>
            <a:endParaRPr lang="en-US" sz="1300" noProof="1"/>
          </a:p>
        </p:txBody>
      </p:sp>
      <p:pic>
        <p:nvPicPr>
          <p:cNvPr id="12" name="s3-img"/>
          <p:cNvPicPr/>
          <p:nvPr/>
        </p:nvPicPr>
        <p:blipFill>
          <a:blip r:embed="rId3"/>
          <a:srcRect b="12000"/>
          <a:stretch>
            <a:fillRect/>
          </a:stretch>
        </p:blipFill>
        <p:spPr>
          <a:xfrm>
            <a:off x="299720" y="4470400"/>
            <a:ext cx="1905000" cy="1143000"/>
          </a:xfrm>
          <a:prstGeom prst="roundRect">
            <a:avLst>
              <a:gd name="adj" fmla="val 8000"/>
            </a:avLst>
          </a:prstGeom>
          <a:ln>
            <a:noFill/>
          </a:ln>
        </p:spPr>
      </p:pic>
      <p:sp>
        <p:nvSpPr>
          <p:cNvPr id="13" name="s3-text"/>
          <p:cNvSpPr txBox="1"/>
          <p:nvPr/>
        </p:nvSpPr>
        <p:spPr>
          <a:xfrm>
            <a:off x="2286000" y="4470400"/>
            <a:ext cx="3556000" cy="1143000"/>
          </a:xfrm>
          <a:prstGeom prst="rect">
            <a:avLst/>
          </a:prstGeom>
          <a:noFill/>
          <a:ln>
            <a:noFill/>
          </a:ln>
        </p:spPr>
        <p:txBody>
          <a:bodyPr wrap="square" lIns="0" tIns="0" rIns="0" bIns="0" rtlCol="0" anchor="ctr"/>
          <a:lstStyle/>
          <a:p>
            <a:pPr algn="just">
              <a:lnSpc>
                <a:spcPct val="135000"/>
              </a:lnSpc>
            </a:pPr>
            <a:r>
              <a:rPr lang="en-US" sz="1300" b="1" noProof="1">
                <a:solidFill>
                  <a:srgbClr val="000000"/>
                </a:solidFill>
                <a:latin typeface="微软雅黑" panose="020B0503020204020204" pitchFamily="34" charset="-122"/>
                <a:ea typeface="微软雅黑" panose="020B0503020204020204" pitchFamily="34" charset="-122"/>
              </a:rPr>
              <a:t>AI performance prediction:</a:t>
            </a:r>
            <a:r>
              <a:rPr lang="en-US" sz="1300" noProof="1">
                <a:solidFill>
                  <a:srgbClr val="000000"/>
                </a:solidFill>
                <a:latin typeface="微软雅黑" panose="020B0503020204020204" pitchFamily="34" charset="-122"/>
                <a:ea typeface="微软雅黑" panose="020B0503020204020204" pitchFamily="34" charset="-122"/>
              </a:rPr>
              <a:t> graph neural networks and symbolic regression enable fast, generalizable resistance and flow-field prediction.</a:t>
            </a:r>
            <a:endParaRPr lang="en-US" sz="1300" noProof="1"/>
          </a:p>
        </p:txBody>
      </p:sp>
      <p:cxnSp>
        <p:nvCxnSpPr>
          <p:cNvPr id="14" name="divider"/>
          <p:cNvCxnSpPr/>
          <p:nvPr/>
        </p:nvCxnSpPr>
        <p:spPr>
          <a:xfrm>
            <a:off x="6096000" y="1397000"/>
            <a:ext cx="12700" cy="4318000"/>
          </a:xfrm>
          <a:prstGeom prst="straightConnector1">
            <a:avLst/>
          </a:prstGeom>
          <a:ln w="19050">
            <a:solidFill>
              <a:srgbClr val="4472C4"/>
            </a:solidFill>
            <a:prstDash val="dash"/>
          </a:ln>
        </p:spPr>
      </p:cxnSp>
      <p:sp>
        <p:nvSpPr>
          <p:cNvPr id="15" name="chip2-shape"/>
          <p:cNvSpPr/>
          <p:nvPr/>
        </p:nvSpPr>
        <p:spPr>
          <a:xfrm>
            <a:off x="6299200" y="1270000"/>
            <a:ext cx="2286000" cy="381000"/>
          </a:xfrm>
          <a:prstGeom prst="roundRect">
            <a:avLst>
              <a:gd name="adj" fmla="val 0"/>
            </a:avLst>
          </a:prstGeom>
          <a:solidFill>
            <a:srgbClr val="002060"/>
          </a:solidFill>
          <a:ln w="12700">
            <a:solidFill>
              <a:srgbClr val="223962"/>
            </a:solidFill>
          </a:ln>
        </p:spPr>
      </p:sp>
      <p:sp>
        <p:nvSpPr>
          <p:cNvPr id="16" name="chip2-text"/>
          <p:cNvSpPr txBox="1"/>
          <p:nvPr/>
        </p:nvSpPr>
        <p:spPr>
          <a:xfrm>
            <a:off x="6299200" y="1270000"/>
            <a:ext cx="2286000" cy="381000"/>
          </a:xfrm>
          <a:prstGeom prst="rect">
            <a:avLst/>
          </a:prstGeom>
          <a:noFill/>
          <a:ln>
            <a:noFill/>
          </a:ln>
        </p:spPr>
        <p:txBody>
          <a:bodyPr wrap="square" lIns="0" tIns="0" rIns="0" bIns="0" rtlCol="0" anchor="ctr"/>
          <a:lstStyle/>
          <a:p>
            <a:pPr algn="ctr">
              <a:lnSpc>
                <a:spcPct val="120000"/>
              </a:lnSpc>
            </a:pPr>
            <a:r>
              <a:rPr lang="en-US" sz="1600" b="1" noProof="1">
                <a:solidFill>
                  <a:srgbClr val="FFFFFF"/>
                </a:solidFill>
                <a:latin typeface="Times New Roman" panose="02020603050405020304"/>
                <a:ea typeface="微软雅黑" panose="020B0503020204020204" pitchFamily="34" charset="-122"/>
              </a:rPr>
              <a:t>Future Outlook</a:t>
            </a:r>
            <a:endParaRPr lang="en-US" sz="1600" noProof="1"/>
          </a:p>
        </p:txBody>
      </p:sp>
      <p:sp>
        <p:nvSpPr>
          <p:cNvPr id="17" name="f1-shape"/>
          <p:cNvSpPr/>
          <p:nvPr/>
        </p:nvSpPr>
        <p:spPr>
          <a:xfrm>
            <a:off x="6299200" y="1778000"/>
            <a:ext cx="5588000" cy="762000"/>
          </a:xfrm>
          <a:prstGeom prst="roundRect">
            <a:avLst>
              <a:gd name="adj" fmla="val 12000"/>
            </a:avLst>
          </a:prstGeom>
          <a:solidFill>
            <a:srgbClr val="EAF0FA"/>
          </a:solidFill>
          <a:ln w="12700">
            <a:solidFill>
              <a:srgbClr val="4472C4"/>
            </a:solidFill>
          </a:ln>
        </p:spPr>
      </p:sp>
      <p:sp>
        <p:nvSpPr>
          <p:cNvPr id="18" name="f1-icon"/>
          <p:cNvSpPr/>
          <p:nvPr/>
        </p:nvSpPr>
        <p:spPr>
          <a:xfrm>
            <a:off x="6451600" y="1955800"/>
            <a:ext cx="406400" cy="406400"/>
          </a:xfrm>
          <a:custGeom>
            <a:avLst/>
            <a:gdLst/>
            <a:ahLst/>
            <a:cxnLst/>
            <a:rect l="l" t="t" r="r" b="b"/>
            <a:pathLst>
              <a:path w="512" h="512">
                <a:moveTo>
                  <a:pt x="224" y="-2"/>
                </a:moveTo>
                <a:cubicBezTo>
                  <a:pt x="244" y="-14"/>
                  <a:pt x="269" y="-14"/>
                  <a:pt x="288" y="-2"/>
                </a:cubicBezTo>
                <a:lnTo>
                  <a:pt x="464" y="99"/>
                </a:lnTo>
                <a:cubicBezTo>
                  <a:pt x="484" y="110"/>
                  <a:pt x="496" y="132"/>
                  <a:pt x="496" y="154"/>
                </a:cubicBezTo>
                <a:lnTo>
                  <a:pt x="496" y="357"/>
                </a:lnTo>
                <a:cubicBezTo>
                  <a:pt x="496" y="380"/>
                  <a:pt x="484" y="401"/>
                  <a:pt x="464" y="413"/>
                </a:cubicBezTo>
                <a:lnTo>
                  <a:pt x="288" y="515"/>
                </a:lnTo>
                <a:cubicBezTo>
                  <a:pt x="269" y="526"/>
                  <a:pt x="244" y="526"/>
                  <a:pt x="224" y="515"/>
                </a:cubicBezTo>
                <a:lnTo>
                  <a:pt x="49" y="413"/>
                </a:lnTo>
                <a:cubicBezTo>
                  <a:pt x="29" y="402"/>
                  <a:pt x="17" y="380"/>
                  <a:pt x="17" y="358"/>
                </a:cubicBezTo>
                <a:lnTo>
                  <a:pt x="17" y="155"/>
                </a:lnTo>
                <a:cubicBezTo>
                  <a:pt x="17" y="132"/>
                  <a:pt x="29" y="111"/>
                  <a:pt x="49" y="99"/>
                </a:cubicBezTo>
                <a:lnTo>
                  <a:pt x="224" y="-2"/>
                </a:lnTo>
                <a:close/>
                <a:moveTo>
                  <a:pt x="432" y="358"/>
                </a:moveTo>
                <a:lnTo>
                  <a:pt x="432" y="191"/>
                </a:lnTo>
                <a:lnTo>
                  <a:pt x="288" y="274"/>
                </a:lnTo>
                <a:lnTo>
                  <a:pt x="288" y="441"/>
                </a:lnTo>
                <a:lnTo>
                  <a:pt x="432" y="358"/>
                </a:lnTo>
                <a:close/>
              </a:path>
            </a:pathLst>
          </a:custGeom>
          <a:solidFill>
            <a:srgbClr val="002060"/>
          </a:solidFill>
          <a:ln>
            <a:noFill/>
          </a:ln>
        </p:spPr>
      </p:sp>
      <p:sp>
        <p:nvSpPr>
          <p:cNvPr id="19" name="f1-text"/>
          <p:cNvSpPr txBox="1"/>
          <p:nvPr/>
        </p:nvSpPr>
        <p:spPr>
          <a:xfrm>
            <a:off x="6959600" y="18288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panose="020B0503020204020204" pitchFamily="34" charset="-122"/>
                <a:ea typeface="微软雅黑" panose="020B0503020204020204" pitchFamily="34" charset="-122"/>
              </a:rPr>
              <a:t>Parametric modeling software with independent IP (SGK kernel) embedded with LLMs</a:t>
            </a:r>
            <a:endParaRPr lang="en-US" sz="1300" noProof="1"/>
          </a:p>
        </p:txBody>
      </p:sp>
      <p:sp>
        <p:nvSpPr>
          <p:cNvPr id="20" name="f2-shape"/>
          <p:cNvSpPr/>
          <p:nvPr/>
        </p:nvSpPr>
        <p:spPr>
          <a:xfrm>
            <a:off x="6299200" y="2641600"/>
            <a:ext cx="5588000" cy="762000"/>
          </a:xfrm>
          <a:prstGeom prst="roundRect">
            <a:avLst>
              <a:gd name="adj" fmla="val 12000"/>
            </a:avLst>
          </a:prstGeom>
          <a:solidFill>
            <a:srgbClr val="EAF0FA"/>
          </a:solidFill>
          <a:ln w="12700">
            <a:solidFill>
              <a:srgbClr val="4472C4"/>
            </a:solidFill>
          </a:ln>
        </p:spPr>
      </p:sp>
      <p:sp>
        <p:nvSpPr>
          <p:cNvPr id="21" name="f2-icon"/>
          <p:cNvSpPr/>
          <p:nvPr/>
        </p:nvSpPr>
        <p:spPr>
          <a:xfrm>
            <a:off x="6451600" y="2819400"/>
            <a:ext cx="406400" cy="406400"/>
          </a:xfrm>
          <a:custGeom>
            <a:avLst/>
            <a:gdLst/>
            <a:ahLst/>
            <a:cxnLst/>
            <a:rect l="l" t="t" r="r" b="b"/>
            <a:pathLst>
              <a:path w="448" h="512">
                <a:moveTo>
                  <a:pt x="384" y="512"/>
                </a:moveTo>
                <a:lnTo>
                  <a:pt x="96" y="512"/>
                </a:lnTo>
                <a:cubicBezTo>
                  <a:pt x="43" y="512"/>
                  <a:pt x="0" y="469"/>
                  <a:pt x="0" y="416"/>
                </a:cubicBezTo>
                <a:lnTo>
                  <a:pt x="0" y="96"/>
                </a:lnTo>
                <a:cubicBezTo>
                  <a:pt x="0" y="43"/>
                  <a:pt x="43" y="0"/>
                  <a:pt x="96" y="0"/>
                </a:cubicBezTo>
                <a:lnTo>
                  <a:pt x="400" y="0"/>
                </a:lnTo>
                <a:cubicBezTo>
                  <a:pt x="427" y="0"/>
                  <a:pt x="448" y="22"/>
                  <a:pt x="448" y="48"/>
                </a:cubicBezTo>
                <a:lnTo>
                  <a:pt x="448" y="336"/>
                </a:lnTo>
                <a:cubicBezTo>
                  <a:pt x="448" y="357"/>
                  <a:pt x="435" y="375"/>
                  <a:pt x="416" y="381"/>
                </a:cubicBezTo>
                <a:lnTo>
                  <a:pt x="416" y="448"/>
                </a:lnTo>
                <a:cubicBezTo>
                  <a:pt x="434" y="448"/>
                  <a:pt x="448" y="462"/>
                  <a:pt x="448" y="480"/>
                </a:cubicBezTo>
                <a:cubicBezTo>
                  <a:pt x="448" y="498"/>
                  <a:pt x="434" y="512"/>
                  <a:pt x="416" y="512"/>
                </a:cubicBezTo>
                <a:lnTo>
                  <a:pt x="384" y="512"/>
                </a:lnTo>
                <a:close/>
                <a:moveTo>
                  <a:pt x="96" y="384"/>
                </a:moveTo>
                <a:cubicBezTo>
                  <a:pt x="78" y="384"/>
                  <a:pt x="64" y="398"/>
                  <a:pt x="64" y="416"/>
                </a:cubicBezTo>
                <a:cubicBezTo>
                  <a:pt x="64" y="434"/>
                  <a:pt x="78" y="448"/>
                  <a:pt x="96" y="448"/>
                </a:cubicBezTo>
                <a:lnTo>
                  <a:pt x="352" y="448"/>
                </a:lnTo>
                <a:lnTo>
                  <a:pt x="352" y="384"/>
                </a:lnTo>
                <a:lnTo>
                  <a:pt x="96" y="384"/>
                </a:lnTo>
                <a:close/>
                <a:moveTo>
                  <a:pt x="128" y="152"/>
                </a:moveTo>
                <a:cubicBezTo>
                  <a:pt x="128" y="165"/>
                  <a:pt x="139" y="176"/>
                  <a:pt x="152" y="176"/>
                </a:cubicBezTo>
                <a:lnTo>
                  <a:pt x="328" y="176"/>
                </a:lnTo>
                <a:cubicBezTo>
                  <a:pt x="341" y="176"/>
                  <a:pt x="352" y="165"/>
                  <a:pt x="352" y="152"/>
                </a:cubicBezTo>
                <a:cubicBezTo>
                  <a:pt x="352" y="139"/>
                  <a:pt x="341" y="128"/>
                  <a:pt x="328" y="128"/>
                </a:cubicBezTo>
                <a:lnTo>
                  <a:pt x="152" y="128"/>
                </a:lnTo>
                <a:cubicBezTo>
                  <a:pt x="139" y="128"/>
                  <a:pt x="128" y="139"/>
                  <a:pt x="128" y="152"/>
                </a:cubicBezTo>
                <a:close/>
                <a:moveTo>
                  <a:pt x="152" y="224"/>
                </a:moveTo>
                <a:cubicBezTo>
                  <a:pt x="139" y="224"/>
                  <a:pt x="128" y="235"/>
                  <a:pt x="128" y="248"/>
                </a:cubicBezTo>
                <a:cubicBezTo>
                  <a:pt x="128" y="261"/>
                  <a:pt x="139" y="272"/>
                  <a:pt x="152" y="272"/>
                </a:cubicBezTo>
                <a:lnTo>
                  <a:pt x="328" y="272"/>
                </a:lnTo>
                <a:cubicBezTo>
                  <a:pt x="341" y="272"/>
                  <a:pt x="352" y="261"/>
                  <a:pt x="352" y="248"/>
                </a:cubicBezTo>
                <a:cubicBezTo>
                  <a:pt x="352" y="235"/>
                  <a:pt x="341" y="224"/>
                  <a:pt x="328" y="224"/>
                </a:cubicBezTo>
                <a:lnTo>
                  <a:pt x="152" y="224"/>
                </a:lnTo>
                <a:close/>
              </a:path>
            </a:pathLst>
          </a:custGeom>
          <a:solidFill>
            <a:srgbClr val="002060"/>
          </a:solidFill>
          <a:ln>
            <a:noFill/>
          </a:ln>
        </p:spPr>
      </p:sp>
      <p:sp>
        <p:nvSpPr>
          <p:cNvPr id="22" name="f2-text"/>
          <p:cNvSpPr txBox="1"/>
          <p:nvPr/>
        </p:nvSpPr>
        <p:spPr>
          <a:xfrm>
            <a:off x="6959600" y="26924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panose="020B0503020204020204" pitchFamily="34" charset="-122"/>
                <a:ea typeface="微软雅黑" panose="020B0503020204020204" pitchFamily="34" charset="-122"/>
              </a:rPr>
              <a:t>Mine implicit knowledge from existing hull forms; expand the knowledge base to more ship types and performances</a:t>
            </a:r>
            <a:endParaRPr lang="en-US" sz="1300" noProof="1"/>
          </a:p>
        </p:txBody>
      </p:sp>
      <p:sp>
        <p:nvSpPr>
          <p:cNvPr id="23" name="f3-shape"/>
          <p:cNvSpPr/>
          <p:nvPr/>
        </p:nvSpPr>
        <p:spPr>
          <a:xfrm>
            <a:off x="6299200" y="3505200"/>
            <a:ext cx="5588000" cy="762000"/>
          </a:xfrm>
          <a:prstGeom prst="roundRect">
            <a:avLst>
              <a:gd name="adj" fmla="val 12000"/>
            </a:avLst>
          </a:prstGeom>
          <a:solidFill>
            <a:srgbClr val="EAF0FA"/>
          </a:solidFill>
          <a:ln w="12700">
            <a:solidFill>
              <a:srgbClr val="4472C4"/>
            </a:solidFill>
          </a:ln>
        </p:spPr>
      </p:sp>
      <p:sp>
        <p:nvSpPr>
          <p:cNvPr id="24" name="f3-icon"/>
          <p:cNvSpPr/>
          <p:nvPr/>
        </p:nvSpPr>
        <p:spPr>
          <a:xfrm>
            <a:off x="6451600" y="3683000"/>
            <a:ext cx="406400" cy="4064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002060"/>
          </a:solidFill>
          <a:ln>
            <a:noFill/>
          </a:ln>
        </p:spPr>
      </p:sp>
      <p:sp>
        <p:nvSpPr>
          <p:cNvPr id="25" name="f3-text"/>
          <p:cNvSpPr txBox="1"/>
          <p:nvPr/>
        </p:nvSpPr>
        <p:spPr>
          <a:xfrm>
            <a:off x="6959600" y="35560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panose="020B0503020204020204" pitchFamily="34" charset="-122"/>
                <a:ea typeface="微软雅黑" panose="020B0503020204020204" pitchFamily="34" charset="-122"/>
              </a:rPr>
              <a:t>LLM-based intelligent reasoning and agent-based rapid prototype generation for ship concept design</a:t>
            </a:r>
            <a:endParaRPr lang="en-US" sz="1300" noProof="1"/>
          </a:p>
        </p:txBody>
      </p:sp>
      <p:sp>
        <p:nvSpPr>
          <p:cNvPr id="26" name="f4-shape"/>
          <p:cNvSpPr/>
          <p:nvPr/>
        </p:nvSpPr>
        <p:spPr>
          <a:xfrm>
            <a:off x="6299200" y="4368800"/>
            <a:ext cx="5588000" cy="762000"/>
          </a:xfrm>
          <a:prstGeom prst="roundRect">
            <a:avLst>
              <a:gd name="adj" fmla="val 12000"/>
            </a:avLst>
          </a:prstGeom>
          <a:solidFill>
            <a:srgbClr val="FFF2E8"/>
          </a:solidFill>
          <a:ln w="12700">
            <a:solidFill>
              <a:srgbClr val="ED7D31"/>
            </a:solidFill>
          </a:ln>
        </p:spPr>
      </p:sp>
      <p:sp>
        <p:nvSpPr>
          <p:cNvPr id="27" name="f4-icon"/>
          <p:cNvSpPr/>
          <p:nvPr/>
        </p:nvSpPr>
        <p:spPr>
          <a:xfrm>
            <a:off x="6451600" y="4546600"/>
            <a:ext cx="406400" cy="406400"/>
          </a:xfrm>
          <a:custGeom>
            <a:avLst/>
            <a:gdLst/>
            <a:ahLst/>
            <a:cxnLst/>
            <a:rect l="l" t="t" r="r" b="b"/>
            <a:pathLst>
              <a:path w="512" h="512">
                <a:moveTo>
                  <a:pt x="120" y="56"/>
                </a:moveTo>
                <a:cubicBezTo>
                  <a:pt x="120" y="25"/>
                  <a:pt x="145" y="0"/>
                  <a:pt x="176" y="0"/>
                </a:cubicBezTo>
                <a:lnTo>
                  <a:pt x="200" y="0"/>
                </a:lnTo>
                <a:cubicBezTo>
                  <a:pt x="218" y="0"/>
                  <a:pt x="232" y="14"/>
                  <a:pt x="232" y="32"/>
                </a:cubicBezTo>
                <a:lnTo>
                  <a:pt x="232" y="480"/>
                </a:lnTo>
                <a:cubicBezTo>
                  <a:pt x="232" y="498"/>
                  <a:pt x="218" y="512"/>
                  <a:pt x="200" y="512"/>
                </a:cubicBezTo>
                <a:lnTo>
                  <a:pt x="168" y="512"/>
                </a:lnTo>
                <a:cubicBezTo>
                  <a:pt x="138" y="512"/>
                  <a:pt x="113" y="492"/>
                  <a:pt x="106" y="464"/>
                </a:cubicBezTo>
                <a:cubicBezTo>
                  <a:pt x="105" y="464"/>
                  <a:pt x="105" y="464"/>
                  <a:pt x="104" y="464"/>
                </a:cubicBezTo>
                <a:cubicBezTo>
                  <a:pt x="60" y="464"/>
                  <a:pt x="24" y="428"/>
                  <a:pt x="24" y="384"/>
                </a:cubicBezTo>
                <a:cubicBezTo>
                  <a:pt x="24" y="366"/>
                  <a:pt x="30" y="349"/>
                  <a:pt x="40" y="336"/>
                </a:cubicBezTo>
                <a:cubicBezTo>
                  <a:pt x="21" y="321"/>
                  <a:pt x="8" y="298"/>
                  <a:pt x="8" y="272"/>
                </a:cubicBezTo>
                <a:cubicBezTo>
                  <a:pt x="8" y="241"/>
                  <a:pt x="26" y="214"/>
                  <a:pt x="51" y="201"/>
                </a:cubicBezTo>
                <a:cubicBezTo>
                  <a:pt x="44" y="189"/>
                  <a:pt x="40" y="175"/>
                  <a:pt x="40" y="160"/>
                </a:cubicBezTo>
                <a:cubicBezTo>
                  <a:pt x="40" y="116"/>
                  <a:pt x="76" y="80"/>
                  <a:pt x="120" y="80"/>
                </a:cubicBezTo>
                <a:lnTo>
                  <a:pt x="120" y="56"/>
                </a:lnTo>
                <a:close/>
                <a:moveTo>
                  <a:pt x="392" y="56"/>
                </a:moveTo>
                <a:lnTo>
                  <a:pt x="392" y="80"/>
                </a:lnTo>
                <a:cubicBezTo>
                  <a:pt x="436" y="80"/>
                  <a:pt x="472" y="116"/>
                  <a:pt x="472" y="160"/>
                </a:cubicBezTo>
                <a:cubicBezTo>
                  <a:pt x="472" y="175"/>
                  <a:pt x="468" y="189"/>
                  <a:pt x="461" y="201"/>
                </a:cubicBezTo>
                <a:cubicBezTo>
                  <a:pt x="487" y="214"/>
                  <a:pt x="504" y="241"/>
                  <a:pt x="504" y="272"/>
                </a:cubicBezTo>
                <a:cubicBezTo>
                  <a:pt x="504" y="298"/>
                  <a:pt x="491" y="321"/>
                  <a:pt x="472" y="336"/>
                </a:cubicBezTo>
                <a:cubicBezTo>
                  <a:pt x="482" y="349"/>
                  <a:pt x="488" y="366"/>
                  <a:pt x="488" y="384"/>
                </a:cubicBezTo>
                <a:cubicBezTo>
                  <a:pt x="488" y="428"/>
                  <a:pt x="452" y="464"/>
                  <a:pt x="408" y="464"/>
                </a:cubicBezTo>
                <a:cubicBezTo>
                  <a:pt x="407" y="464"/>
                  <a:pt x="407" y="464"/>
                  <a:pt x="406" y="464"/>
                </a:cubicBezTo>
                <a:cubicBezTo>
                  <a:pt x="399" y="492"/>
                  <a:pt x="374" y="512"/>
                  <a:pt x="344" y="512"/>
                </a:cubicBezTo>
                <a:lnTo>
                  <a:pt x="312" y="512"/>
                </a:lnTo>
                <a:cubicBezTo>
                  <a:pt x="294" y="512"/>
                  <a:pt x="280" y="498"/>
                  <a:pt x="280" y="480"/>
                </a:cubicBezTo>
                <a:lnTo>
                  <a:pt x="280" y="32"/>
                </a:lnTo>
                <a:cubicBezTo>
                  <a:pt x="280" y="14"/>
                  <a:pt x="294" y="0"/>
                  <a:pt x="312" y="0"/>
                </a:cubicBezTo>
                <a:lnTo>
                  <a:pt x="336" y="0"/>
                </a:lnTo>
                <a:cubicBezTo>
                  <a:pt x="367" y="0"/>
                  <a:pt x="392" y="25"/>
                  <a:pt x="392" y="56"/>
                </a:cubicBezTo>
                <a:close/>
              </a:path>
            </a:pathLst>
          </a:custGeom>
          <a:solidFill>
            <a:srgbClr val="ED7D31"/>
          </a:solidFill>
          <a:ln>
            <a:noFill/>
          </a:ln>
        </p:spPr>
      </p:sp>
      <p:sp>
        <p:nvSpPr>
          <p:cNvPr id="28" name="f4-text"/>
          <p:cNvSpPr txBox="1"/>
          <p:nvPr/>
        </p:nvSpPr>
        <p:spPr>
          <a:xfrm>
            <a:off x="6959600" y="4419600"/>
            <a:ext cx="4851400" cy="660400"/>
          </a:xfrm>
          <a:prstGeom prst="rect">
            <a:avLst/>
          </a:prstGeom>
          <a:noFill/>
          <a:ln>
            <a:noFill/>
          </a:ln>
        </p:spPr>
        <p:txBody>
          <a:bodyPr wrap="square" lIns="0" tIns="0" rIns="0" bIns="0" rtlCol="0" anchor="ctr"/>
          <a:lstStyle/>
          <a:p>
            <a:pPr algn="just">
              <a:lnSpc>
                <a:spcPct val="130000"/>
              </a:lnSpc>
            </a:pPr>
            <a:r>
              <a:rPr lang="en-US" sz="1300" b="1" noProof="1">
                <a:solidFill>
                  <a:srgbClr val="000000"/>
                </a:solidFill>
                <a:latin typeface="微软雅黑" panose="020B0503020204020204" pitchFamily="34" charset="-122"/>
                <a:ea typeface="微软雅黑" panose="020B0503020204020204" pitchFamily="34" charset="-122"/>
              </a:rPr>
              <a:t>Deeply integrate generative AI, multimodal data and intelligent optimization with domain knowledge and rules</a:t>
            </a:r>
            <a:endParaRPr lang="en-US" sz="1300" noProof="1"/>
          </a:p>
        </p:txBody>
      </p:sp>
      <p:sp>
        <p:nvSpPr>
          <p:cNvPr id="29" name="vision-shape"/>
          <p:cNvSpPr/>
          <p:nvPr/>
        </p:nvSpPr>
        <p:spPr>
          <a:xfrm>
            <a:off x="299720" y="5867400"/>
            <a:ext cx="11588750" cy="787400"/>
          </a:xfrm>
          <a:prstGeom prst="roundRect">
            <a:avLst>
              <a:gd name="adj" fmla="val 6342"/>
            </a:avLst>
          </a:prstGeom>
          <a:noFill/>
          <a:ln w="28575">
            <a:solidFill>
              <a:srgbClr val="000000"/>
            </a:solidFill>
            <a:prstDash val="dash"/>
          </a:ln>
        </p:spPr>
      </p:sp>
      <p:sp>
        <p:nvSpPr>
          <p:cNvPr id="30" name="vision-text"/>
          <p:cNvSpPr txBox="1"/>
          <p:nvPr/>
        </p:nvSpPr>
        <p:spPr>
          <a:xfrm>
            <a:off x="508000" y="5969000"/>
            <a:ext cx="11176000" cy="584200"/>
          </a:xfrm>
          <a:prstGeom prst="rect">
            <a:avLst/>
          </a:prstGeom>
          <a:noFill/>
          <a:ln>
            <a:noFill/>
          </a:ln>
        </p:spPr>
        <p:txBody>
          <a:bodyPr wrap="square" lIns="0" tIns="0" rIns="0" bIns="0" rtlCol="0" anchor="ctr"/>
          <a:lstStyle/>
          <a:p>
            <a:pPr algn="ctr">
              <a:lnSpc>
                <a:spcPct val="140000"/>
              </a:lnSpc>
            </a:pPr>
            <a:r>
              <a:rPr lang="en-US" sz="1600" b="1" noProof="1">
                <a:solidFill>
                  <a:srgbClr val="000000"/>
                </a:solidFill>
                <a:latin typeface="微软雅黑" panose="020B0503020204020204" pitchFamily="34" charset="-122"/>
                <a:ea typeface="微软雅黑" panose="020B0503020204020204" pitchFamily="34" charset="-122"/>
              </a:rPr>
              <a:t>Ultimate goal: an intelligent ship design theory, methodology and prototype system fusing </a:t>
            </a:r>
            <a:r>
              <a:rPr lang="en-US" sz="1600" b="1" noProof="1">
                <a:solidFill>
                  <a:srgbClr val="FF0000"/>
                </a:solidFill>
                <a:latin typeface="微软雅黑" panose="020B0503020204020204" pitchFamily="34" charset="-122"/>
                <a:ea typeface="微软雅黑" panose="020B0503020204020204" pitchFamily="34" charset="-122"/>
              </a:rPr>
              <a:t>physical laws · domain knowledge · data intelligence · computable geometry</a:t>
            </a:r>
            <a:r>
              <a:rPr lang="en-US" sz="1600" b="1" noProof="1">
                <a:solidFill>
                  <a:srgbClr val="000000"/>
                </a:solidFill>
                <a:latin typeface="微软雅黑" panose="020B0503020204020204" pitchFamily="34" charset="-122"/>
                <a:ea typeface="微软雅黑" panose="020B0503020204020204" pitchFamily="34" charset="-122"/>
              </a:rPr>
              <a:t>, leading to </a:t>
            </a:r>
            <a:r>
              <a:rPr lang="en-US" sz="1600" b="1" noProof="1">
                <a:solidFill>
                  <a:srgbClr val="FF0000"/>
                </a:solidFill>
                <a:latin typeface="微软雅黑" panose="020B0503020204020204" pitchFamily="34" charset="-122"/>
                <a:ea typeface="微软雅黑" panose="020B0503020204020204" pitchFamily="34" charset="-122"/>
              </a:rPr>
              <a:t>AI-Agent autonomous hull design</a:t>
            </a:r>
            <a:endParaRPr lang="en-US" sz="1600" noProof="1"/>
          </a:p>
        </p:txBody>
      </p:sp>
      <p:sp>
        <p:nvSpPr>
          <p:cNvPr id="31" name="平行四边形 30"/>
          <p:cNvSpPr/>
          <p:nvPr/>
        </p:nvSpPr>
        <p:spPr>
          <a:xfrm>
            <a:off x="191344" y="683645"/>
            <a:ext cx="4752528" cy="477055"/>
          </a:xfrm>
          <a:prstGeom prst="parallelogram">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path path="circle">
              <a:fillToRect l="100000" t="100000"/>
            </a:path>
            <a:tileRect r="-100000" b="-100000"/>
          </a:gradFill>
          <a:ln>
            <a:solidFill>
              <a:srgbClr val="FF0000"/>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rgbClr val="FF0000"/>
              </a:buClr>
              <a:buFont typeface="Wingdings" panose="05000000000000000000" pitchFamily="2" charset="2"/>
              <a:buChar char="n"/>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Main Work and Future Directions</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692150"/>
          </a:xfrm>
          <a:prstGeom prst="rect">
            <a:avLst/>
          </a:prstGeom>
          <a:solidFill>
            <a:srgbClr val="002060"/>
          </a:solidFill>
          <a:ln>
            <a:noFill/>
          </a:ln>
        </p:spPr>
      </p:sp>
      <p:sp>
        <p:nvSpPr>
          <p:cNvPr id="3" name="矩形 20"/>
          <p:cNvSpPr txBox="1"/>
          <p:nvPr/>
        </p:nvSpPr>
        <p:spPr>
          <a:xfrm>
            <a:off x="2286000" y="62230"/>
            <a:ext cx="7620000" cy="553720"/>
          </a:xfrm>
          <a:prstGeom prst="rect">
            <a:avLst/>
          </a:prstGeom>
          <a:noFill/>
          <a:ln>
            <a:noFill/>
          </a:ln>
        </p:spPr>
        <p:txBody>
          <a:bodyPr wrap="square" lIns="0" tIns="0" rIns="0" bIns="0" rtlCol="0" anchor="t"/>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sz="3600" b="1" i="0" u="none" strike="noStrike" kern="1200" cap="none" spc="0" normalizeH="0" baseline="0" noProof="1">
                <a:ln>
                  <a:noFill/>
                </a:ln>
                <a:solidFill>
                  <a:srgbClr val="FFFFFF"/>
                </a:solidFill>
                <a:effectLst/>
                <a:uLnTx/>
                <a:uFillTx/>
                <a:latin typeface="Times New Roman" panose="02020603050405020304"/>
                <a:ea typeface="微软雅黑" panose="020B0503020204020204" pitchFamily="34" charset="-122"/>
              </a:rPr>
              <a:t>Summary and Outlook</a:t>
            </a:r>
            <a:endParaRPr kumimoji="0" lang="en-US" sz="3600" b="0" i="0" u="none" strike="noStrike" kern="1200" cap="none" spc="0" normalizeH="0" baseline="0" noProof="1">
              <a:ln>
                <a:noFill/>
              </a:ln>
              <a:solidFill>
                <a:srgbClr val="000000"/>
              </a:solidFill>
              <a:effectLst/>
              <a:uLnTx/>
              <a:uFillTx/>
              <a:latin typeface="MiSans"/>
            </a:endParaRPr>
          </a:p>
        </p:txBody>
      </p:sp>
      <p:sp>
        <p:nvSpPr>
          <p:cNvPr id="4" name="文本框 3"/>
          <p:cNvSpPr txBox="1"/>
          <p:nvPr/>
        </p:nvSpPr>
        <p:spPr>
          <a:xfrm>
            <a:off x="459105" y="1484784"/>
            <a:ext cx="11273790" cy="4752528"/>
          </a:xfrm>
          <a:prstGeom prst="rect">
            <a:avLst/>
          </a:prstGeom>
          <a:noFill/>
          <a:ln>
            <a:noFill/>
          </a:ln>
        </p:spPr>
        <p:txBody>
          <a:bodyPr wrap="square" lIns="0" tIns="0" rIns="0" bIns="0" rtlCol="0" anchor="t"/>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Develop ship parametric geometric modeling software with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fully independent IP</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(based on the SGK kernel), embedding a large model (e.g. Qwen2.5 or others);</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Mine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implicit design knowledge</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from existing hull forms and expand the knowledge base (covering more ship types and performances);</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 Develop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LLM-based intelligent reasoning methods</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achieving agent-based rapid prototype generation to support ship concept design;</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 Deeply integrate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generative AI</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multimodal data processing</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and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intelligent optimization algorithms </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with hull-design domain knowledge, expert experience, classification-society rules and maritime regulations, ultimately building </a:t>
            </a:r>
            <a:r>
              <a:rPr kumimoji="0" lang="en-US" sz="2000" b="1" i="0" u="none" strike="noStrike" kern="1200" cap="none" spc="0" normalizeH="0" baseline="0" noProof="1">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ship intelligent-design theory, methodology and prototype system </a:t>
            </a:r>
            <a:r>
              <a:rPr kumimoji="0" lang="en-US" sz="2000" b="1" i="0" u="none" strike="noStrike" kern="1200" cap="none" spc="0" normalizeH="0" baseline="0" noProof="1">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that fuses physical laws, domain knowledge, data intelligence and computable geometry.</a:t>
            </a:r>
            <a:endParaRPr kumimoji="0" lang="en-US" sz="2000" b="0" i="0" u="none" strike="noStrike" kern="1200" cap="none" spc="0" normalizeH="0" baseline="0" noProof="1">
              <a:ln>
                <a:noFill/>
              </a:ln>
              <a:solidFill>
                <a:srgbClr val="000000"/>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6684"/>
            <a:ext cx="12192000" cy="1204817"/>
          </a:xfrm>
          <a:prstGeom prst="rect">
            <a:avLst/>
          </a:prstGeom>
        </p:spPr>
        <p:style>
          <a:lnRef idx="0">
            <a:schemeClr val="accent6"/>
          </a:lnRef>
          <a:fillRef idx="3">
            <a:schemeClr val="accent6"/>
          </a:fillRef>
          <a:effectRef idx="3">
            <a:schemeClr val="accent6"/>
          </a:effectRef>
          <a:fontRef idx="minor">
            <a:schemeClr val="lt1"/>
          </a:fontRef>
        </p:style>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20000"/>
              </a:lnSpc>
              <a:defRPr/>
            </a:pPr>
            <a:r>
              <a:rPr lang="en-US" altLang="zh-CN" sz="6600" b="1" dirty="0">
                <a:solidFill>
                  <a:schemeClr val="bg1"/>
                </a:solidFill>
                <a:latin typeface="Times New Roman" panose="02020603050405020304" pitchFamily="18" charset="0"/>
                <a:ea typeface="华文隶书" panose="02010800040101010101" pitchFamily="2" charset="-122"/>
                <a:cs typeface="Times New Roman" panose="02020603050405020304" pitchFamily="18" charset="0"/>
              </a:rPr>
              <a:t>Thank You.</a:t>
            </a:r>
            <a:endParaRPr lang="zh-CN" altLang="en-US" sz="6600" b="1" dirty="0">
              <a:solidFill>
                <a:schemeClr val="bg1"/>
              </a:solidFill>
              <a:latin typeface="Times New Roman" panose="02020603050405020304" pitchFamily="18" charset="0"/>
              <a:ea typeface="华文隶书" panose="020108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7_3*l_h_i*1_1_2"/>
  <p:tag name="KSO_WM_TEMPLATE_CATEGORY" val="diagram"/>
  <p:tag name="KSO_WM_TEMPLATE_INDEX" val="20168787"/>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UNIT_TABLE_BEAUTIFY" val="smartTable{ba34c222-83ac-4712-9d79-4c039f194340}"/>
  <p:tag name="TABLE_ENDDRAG_ORIGIN_RECT" val="376*350"/>
  <p:tag name="TABLE_ENDDRAG_RECT" val="523*144*376*350"/>
</p:tagLst>
</file>

<file path=ppt/tags/tag22.xml><?xml version="1.0" encoding="utf-8"?>
<p:tagLst xmlns:p="http://schemas.openxmlformats.org/presentationml/2006/main">
  <p:tag name="KSO_WM_DIAGRAM_VIRTUALLY_FRAME" val="{&quot;height&quot;:315.09426387912845,&quot;left&quot;:292.55,&quot;top&quot;:241.35,&quot;width&quot;:645.65}"/>
</p:tagLst>
</file>

<file path=ppt/tags/tag23.xml><?xml version="1.0" encoding="utf-8"?>
<p:tagLst xmlns:p="http://schemas.openxmlformats.org/presentationml/2006/main">
  <p:tag name="KSO_WM_DIAGRAM_VIRTUALLY_FRAME" val="{&quot;height&quot;:315.09426387912845,&quot;left&quot;:292.55,&quot;top&quot;:241.35,&quot;width&quot;:645.65}"/>
</p:tagLst>
</file>

<file path=ppt/tags/tag24.xml><?xml version="1.0" encoding="utf-8"?>
<p:tagLst xmlns:p="http://schemas.openxmlformats.org/presentationml/2006/main">
  <p:tag name="KSO_WM_DIAGRAM_VIRTUALLY_FRAME" val="{&quot;height&quot;:315.09426387912845,&quot;left&quot;:292.55,&quot;top&quot;:241.35,&quot;width&quot;:645.65}"/>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TABLE_ENDDRAG_ORIGIN_RECT" val="390*405"/>
  <p:tag name="TABLE_ENDDRAG_RECT" val="27*112*390*405"/>
</p:tagLst>
</file>

<file path=ppt/tags/tag27.xml><?xml version="1.0" encoding="utf-8"?>
<p:tagLst xmlns:p="http://schemas.openxmlformats.org/presentationml/2006/main">
  <p:tag name="KSO_WM_DIAGRAM_VIRTUALLY_FRAME" val="{&quot;height&quot;:296.64000000000004,&quot;left&quot;:41.76,&quot;top&quot;:108,&quot;width&quot;:876.96}"/>
</p:tagLst>
</file>

<file path=ppt/tags/tag28.xml><?xml version="1.0" encoding="utf-8"?>
<p:tagLst xmlns:p="http://schemas.openxmlformats.org/presentationml/2006/main">
  <p:tag name="KSO_WM_DIAGRAM_VIRTUALLY_FRAME" val="{&quot;height&quot;:296.64000000000004,&quot;left&quot;:41.76,&quot;top&quot;:108,&quot;width&quot;:876.96}"/>
</p:tagLst>
</file>

<file path=ppt/tags/tag29.xml><?xml version="1.0" encoding="utf-8"?>
<p:tagLst xmlns:p="http://schemas.openxmlformats.org/presentationml/2006/main">
  <p:tag name="KSO_WM_DIAGRAM_VIRTUALLY_FRAME" val="{&quot;height&quot;:296.64000000000004,&quot;left&quot;:41.76,&quot;top&quot;:108,&quot;width&quot;:876.96}"/>
</p:tagLst>
</file>

<file path=ppt/tags/tag30.xml><?xml version="1.0" encoding="utf-8"?>
<p:tagLst xmlns:p="http://schemas.openxmlformats.org/presentationml/2006/main">
  <p:tag name="KSO_WM_DIAGRAM_VIRTUALLY_FRAME" val="{&quot;height&quot;:296.64000000000004,&quot;left&quot;:41.76,&quot;top&quot;:108,&quot;width&quot;:876.96}"/>
</p:tagLst>
</file>

<file path=ppt/tags/tag31.xml><?xml version="1.0" encoding="utf-8"?>
<p:tagLst xmlns:p="http://schemas.openxmlformats.org/presentationml/2006/main">
  <p:tag name="KSO_WM_DIAGRAM_VIRTUALLY_FRAME" val="{&quot;height&quot;:296.64000000000004,&quot;left&quot;:41.76,&quot;top&quot;:108,&quot;width&quot;:876.96}"/>
</p:tagLst>
</file>

<file path=ppt/tags/tag32.xml><?xml version="1.0" encoding="utf-8"?>
<p:tagLst xmlns:p="http://schemas.openxmlformats.org/presentationml/2006/main">
  <p:tag name="KSO_WM_DIAGRAM_VIRTUALLY_FRAME" val="{&quot;height&quot;:296.64000000000004,&quot;left&quot;:41.76,&quot;top&quot;:108,&quot;width&quot;:876.96}"/>
</p:tagLst>
</file>

<file path=ppt/tags/tag33.xml><?xml version="1.0" encoding="utf-8"?>
<p:tagLst xmlns:p="http://schemas.openxmlformats.org/presentationml/2006/main">
  <p:tag name="KSO_WM_DIAGRAM_VIRTUALLY_FRAME" val="{&quot;height&quot;:296.64000000000004,&quot;left&quot;:41.76,&quot;top&quot;:108,&quot;width&quot;:876.96}"/>
</p:tagLst>
</file>

<file path=ppt/tags/tag34.xml><?xml version="1.0" encoding="utf-8"?>
<p:tagLst xmlns:p="http://schemas.openxmlformats.org/presentationml/2006/main">
  <p:tag name="KSO_WM_DIAGRAM_VIRTUALLY_FRAME" val="{&quot;height&quot;:296.64000000000004,&quot;left&quot;:41.76,&quot;top&quot;:108,&quot;width&quot;:876.96}"/>
</p:tagLst>
</file>

<file path=ppt/tags/tag35.xml><?xml version="1.0" encoding="utf-8"?>
<p:tagLst xmlns:p="http://schemas.openxmlformats.org/presentationml/2006/main">
  <p:tag name="KSO_WM_DIAGRAM_VIRTUALLY_FRAME" val="{&quot;height&quot;:296.64000000000004,&quot;left&quot;:41.76,&quot;top&quot;:108,&quot;width&quot;:876.96}"/>
</p:tagLst>
</file>

<file path=ppt/tags/tag36.xml><?xml version="1.0" encoding="utf-8"?>
<p:tagLst xmlns:p="http://schemas.openxmlformats.org/presentationml/2006/main">
  <p:tag name="KSO_WM_DIAGRAM_VIRTUALLY_FRAME" val="{&quot;height&quot;:296.64000000000004,&quot;left&quot;:41.76,&quot;top&quot;:108,&quot;width&quot;:876.96}"/>
</p:tagLst>
</file>

<file path=ppt/tags/tag37.xml><?xml version="1.0" encoding="utf-8"?>
<p:tagLst xmlns:p="http://schemas.openxmlformats.org/presentationml/2006/main">
  <p:tag name="KSO_WM_DIAGRAM_VIRTUALLY_FRAME" val="{&quot;height&quot;:296.64000000000004,&quot;left&quot;:41.76,&quot;top&quot;:108,&quot;width&quot;:876.96}"/>
</p:tagLst>
</file>

<file path=ppt/tags/tag38.xml><?xml version="1.0" encoding="utf-8"?>
<p:tagLst xmlns:p="http://schemas.openxmlformats.org/presentationml/2006/main">
  <p:tag name="KSO_WM_DIAGRAM_VIRTUALLY_FRAME" val="{&quot;height&quot;:296.64000000000004,&quot;left&quot;:41.76,&quot;top&quot;:108,&quot;width&quot;:876.96}"/>
</p:tagLst>
</file>

<file path=ppt/tags/tag39.xml><?xml version="1.0" encoding="utf-8"?>
<p:tagLst xmlns:p="http://schemas.openxmlformats.org/presentationml/2006/main">
  <p:tag name="KSO_WM_DIAGRAM_VIRTUALLY_FRAME" val="{&quot;height&quot;:296.64000000000004,&quot;left&quot;:41.76,&quot;top&quot;:108,&quot;width&quot;:876.96}"/>
</p:tagLst>
</file>

<file path=ppt/tags/tag40.xml><?xml version="1.0" encoding="utf-8"?>
<p:tagLst xmlns:p="http://schemas.openxmlformats.org/presentationml/2006/main">
  <p:tag name="KSO_WM_DIAGRAM_VIRTUALLY_FRAME" val="{&quot;height&quot;:296.64000000000004,&quot;left&quot;:41.76,&quot;top&quot;:108,&quot;width&quot;:876.96}"/>
</p:tagLst>
</file>

<file path=ppt/tags/tag41.xml><?xml version="1.0" encoding="utf-8"?>
<p:tagLst xmlns:p="http://schemas.openxmlformats.org/presentationml/2006/main">
  <p:tag name="KSO_WM_DIAGRAM_VIRTUALLY_FRAME" val="{&quot;height&quot;:296.64000000000004,&quot;left&quot;:41.76,&quot;top&quot;:108,&quot;width&quot;:876.96}"/>
</p:tagLst>
</file>

<file path=ppt/tags/tag42.xml><?xml version="1.0" encoding="utf-8"?>
<p:tagLst xmlns:p="http://schemas.openxmlformats.org/presentationml/2006/main">
  <p:tag name="KSO_WM_DIAGRAM_VIRTUALLY_FRAME" val="{&quot;height&quot;:296.64000000000004,&quot;left&quot;:41.76,&quot;top&quot;:108,&quot;width&quot;:876.96}"/>
</p:tagLst>
</file>

<file path=ppt/tags/tag43.xml><?xml version="1.0" encoding="utf-8"?>
<p:tagLst xmlns:p="http://schemas.openxmlformats.org/presentationml/2006/main">
  <p:tag name="KSO_WM_DIAGRAM_VIRTUALLY_FRAME" val="{&quot;height&quot;:296.64000000000004,&quot;left&quot;:41.76,&quot;top&quot;:108,&quot;width&quot;:876.96}"/>
</p:tagLst>
</file>

<file path=ppt/tags/tag44.xml><?xml version="1.0" encoding="utf-8"?>
<p:tagLst xmlns:p="http://schemas.openxmlformats.org/presentationml/2006/main">
  <p:tag name="KSO_WM_DIAGRAM_VIRTUALLY_FRAME" val="{&quot;height&quot;:296.64000000000004,&quot;left&quot;:41.76,&quot;top&quot;:108,&quot;width&quot;:876.96}"/>
</p:tagLst>
</file>

<file path=ppt/tags/tag45.xml><?xml version="1.0" encoding="utf-8"?>
<p:tagLst xmlns:p="http://schemas.openxmlformats.org/presentationml/2006/main">
  <p:tag name="KSO_WM_DIAGRAM_VIRTUALLY_FRAME" val="{&quot;height&quot;:296.64000000000004,&quot;left&quot;:41.76,&quot;top&quot;:108,&quot;width&quot;:876.96}"/>
</p:tagLst>
</file>

<file path=ppt/tags/tag46.xml><?xml version="1.0" encoding="utf-8"?>
<p:tagLst xmlns:p="http://schemas.openxmlformats.org/presentationml/2006/main">
  <p:tag name="KSO_WM_DIAGRAM_VIRTUALLY_FRAME" val="{&quot;height&quot;:296.64000000000004,&quot;left&quot;:41.76,&quot;top&quot;:108,&quot;width&quot;:876.96}"/>
</p:tagLst>
</file>

<file path=ppt/tags/tag47.xml><?xml version="1.0" encoding="utf-8"?>
<p:tagLst xmlns:p="http://schemas.openxmlformats.org/presentationml/2006/main">
  <p:tag name="KSO_WM_DIAGRAM_VIRTUALLY_FRAME" val="{&quot;height&quot;:296.64000000000004,&quot;left&quot;:41.76,&quot;top&quot;:108,&quot;width&quot;:876.96}"/>
</p:tagLst>
</file>

<file path=ppt/tags/tag48.xml><?xml version="1.0" encoding="utf-8"?>
<p:tagLst xmlns:p="http://schemas.openxmlformats.org/presentationml/2006/main">
  <p:tag name="KSO_WM_DIAGRAM_VIRTUALLY_FRAME" val="{&quot;height&quot;:296.64000000000004,&quot;left&quot;:41.76,&quot;top&quot;:108,&quot;width&quot;:876.96}"/>
</p:tagLst>
</file>

<file path=ppt/tags/tag49.xml><?xml version="1.0" encoding="utf-8"?>
<p:tagLst xmlns:p="http://schemas.openxmlformats.org/presentationml/2006/main">
  <p:tag name="KSO_WM_DIAGRAM_VIRTUALLY_FRAME" val="{&quot;height&quot;:296.64000000000004,&quot;left&quot;:41.76,&quot;top&quot;:108,&quot;width&quot;:876.96}"/>
</p:tagLst>
</file>

<file path=ppt/tags/tag50.xml><?xml version="1.0" encoding="utf-8"?>
<p:tagLst xmlns:p="http://schemas.openxmlformats.org/presentationml/2006/main">
  <p:tag name="KSO_WM_DIAGRAM_VIRTUALLY_FRAME" val="{&quot;height&quot;:296.64000000000004,&quot;left&quot;:41.76,&quot;top&quot;:108,&quot;width&quot;:876.96}"/>
</p:tagLst>
</file>

<file path=ppt/tags/tag51.xml><?xml version="1.0" encoding="utf-8"?>
<p:tagLst xmlns:p="http://schemas.openxmlformats.org/presentationml/2006/main">
  <p:tag name="KSO_WM_DIAGRAM_VIRTUALLY_FRAME" val="{&quot;height&quot;:296.64000000000004,&quot;left&quot;:41.76,&quot;top&quot;:108,&quot;width&quot;:876.96}"/>
</p:tagLst>
</file>

<file path=ppt/tags/tag52.xml><?xml version="1.0" encoding="utf-8"?>
<p:tagLst xmlns:p="http://schemas.openxmlformats.org/presentationml/2006/main">
  <p:tag name="KSO_WM_DIAGRAM_VIRTUALLY_FRAME" val="{&quot;height&quot;:296.64000000000004,&quot;left&quot;:41.76,&quot;top&quot;:108,&quot;width&quot;:876.96}"/>
</p:tagLst>
</file>

<file path=ppt/tags/tag53.xml><?xml version="1.0" encoding="utf-8"?>
<p:tagLst xmlns:p="http://schemas.openxmlformats.org/presentationml/2006/main">
  <p:tag name="KSO_WM_DIAGRAM_VIRTUALLY_FRAME" val="{&quot;height&quot;:296.64000000000004,&quot;left&quot;:41.76,&quot;top&quot;:108,&quot;width&quot;:876.96}"/>
</p:tagLst>
</file>

<file path=ppt/tags/tag54.xml><?xml version="1.0" encoding="utf-8"?>
<p:tagLst xmlns:p="http://schemas.openxmlformats.org/presentationml/2006/main">
  <p:tag name="KSO_WM_DIAGRAM_VIRTUALLY_FRAME" val="{&quot;height&quot;:296.64000000000004,&quot;left&quot;:41.76,&quot;top&quot;:108,&quot;width&quot;:876.96}"/>
</p:tagLst>
</file>

<file path=ppt/tags/tag55.xml><?xml version="1.0" encoding="utf-8"?>
<p:tagLst xmlns:p="http://schemas.openxmlformats.org/presentationml/2006/main">
  <p:tag name="KSO_WM_DIAGRAM_VIRTUALLY_FRAME" val="{&quot;height&quot;:296.64000000000004,&quot;left&quot;:41.76,&quot;top&quot;:108,&quot;width&quot;:876.96}"/>
</p:tagLst>
</file>

<file path=ppt/tags/tag56.xml><?xml version="1.0" encoding="utf-8"?>
<p:tagLst xmlns:p="http://schemas.openxmlformats.org/presentationml/2006/main">
  <p:tag name="KSO_WM_DIAGRAM_VIRTUALLY_FRAME" val="{&quot;height&quot;:296.64000000000004,&quot;left&quot;:41.76,&quot;top&quot;:108,&quot;width&quot;:876.96}"/>
</p:tagLst>
</file>

<file path=ppt/tags/tag57.xml><?xml version="1.0" encoding="utf-8"?>
<p:tagLst xmlns:p="http://schemas.openxmlformats.org/presentationml/2006/main">
  <p:tag name="KSO_WM_DIAGRAM_VIRTUALLY_FRAME" val="{&quot;height&quot;:126.72000000000003,&quot;left&quot;:543.6,&quot;top&quot;:368.64,&quot;width&quot;:360}"/>
</p:tagLst>
</file>

<file path=ppt/tags/tag58.xml><?xml version="1.0" encoding="utf-8"?>
<p:tagLst xmlns:p="http://schemas.openxmlformats.org/presentationml/2006/main">
  <p:tag name="KSO_WM_DIAGRAM_VIRTUALLY_FRAME" val="{&quot;height&quot;:126.72000000000003,&quot;left&quot;:543.6,&quot;top&quot;:368.64,&quot;width&quot;:360}"/>
</p:tagLst>
</file>

<file path=ppt/tags/tag59.xml><?xml version="1.0" encoding="utf-8"?>
<p:tagLst xmlns:p="http://schemas.openxmlformats.org/presentationml/2006/main">
  <p:tag name="KSO_WM_DIAGRAM_VIRTUALLY_FRAME" val="{&quot;height&quot;:126.72000000000003,&quot;left&quot;:543.6,&quot;top&quot;:368.64,&quot;width&quot;:360}"/>
</p:tagLst>
</file>

<file path=ppt/tags/tag60.xml><?xml version="1.0" encoding="utf-8"?>
<p:tagLst xmlns:p="http://schemas.openxmlformats.org/presentationml/2006/main">
  <p:tag name="KSO_WM_DIAGRAM_VIRTUALLY_FRAME" val="{&quot;height&quot;:126.72000000000003,&quot;left&quot;:543.6,&quot;top&quot;:368.64,&quot;width&quot;:360}"/>
</p:tagLst>
</file>

<file path=ppt/tags/tag61.xml><?xml version="1.0" encoding="utf-8"?>
<p:tagLst xmlns:p="http://schemas.openxmlformats.org/presentationml/2006/main">
  <p:tag name="KSO_WM_DIAGRAM_VIRTUALLY_FRAME" val="{&quot;height&quot;:126.72000000000003,&quot;left&quot;:543.6,&quot;top&quot;:368.64,&quot;width&quot;:360}"/>
</p:tagLst>
</file>

<file path=ppt/tags/tag62.xml><?xml version="1.0" encoding="utf-8"?>
<p:tagLst xmlns:p="http://schemas.openxmlformats.org/presentationml/2006/main">
  <p:tag name="KSO_WM_DIAGRAM_VIRTUALLY_FRAME" val="{&quot;height&quot;:126.72000000000003,&quot;left&quot;:543.6,&quot;top&quot;:368.64,&quot;width&quot;:360}"/>
</p:tagLst>
</file>

<file path=ppt/tags/tag63.xml><?xml version="1.0" encoding="utf-8"?>
<p:tagLst xmlns:p="http://schemas.openxmlformats.org/presentationml/2006/main">
  <p:tag name="KSO_WM_DIAGRAM_VIRTUALLY_FRAME" val="{&quot;height&quot;:392.4,&quot;left&quot;:41.76,&quot;top&quot;:108,&quot;width&quot;:876.24}"/>
</p:tagLst>
</file>

<file path=ppt/tags/tag64.xml><?xml version="1.0" encoding="utf-8"?>
<p:tagLst xmlns:p="http://schemas.openxmlformats.org/presentationml/2006/main">
  <p:tag name="KSO_WM_DIAGRAM_VIRTUALLY_FRAME" val="{&quot;height&quot;:392.4,&quot;left&quot;:41.76,&quot;top&quot;:108,&quot;width&quot;:876.24}"/>
</p:tagLst>
</file>

<file path=ppt/tags/tag65.xml><?xml version="1.0" encoding="utf-8"?>
<p:tagLst xmlns:p="http://schemas.openxmlformats.org/presentationml/2006/main">
  <p:tag name="KSO_WM_DIAGRAM_VIRTUALLY_FRAME" val="{&quot;height&quot;:392.4,&quot;left&quot;:41.76,&quot;top&quot;:108,&quot;width&quot;:876.24}"/>
</p:tagLst>
</file>

<file path=ppt/tags/tag66.xml><?xml version="1.0" encoding="utf-8"?>
<p:tagLst xmlns:p="http://schemas.openxmlformats.org/presentationml/2006/main">
  <p:tag name="KSO_WM_DIAGRAM_VIRTUALLY_FRAME" val="{&quot;height&quot;:392.4,&quot;left&quot;:41.76,&quot;top&quot;:108,&quot;width&quot;:876.24}"/>
</p:tagLst>
</file>

<file path=ppt/tags/tag67.xml><?xml version="1.0" encoding="utf-8"?>
<p:tagLst xmlns:p="http://schemas.openxmlformats.org/presentationml/2006/main">
  <p:tag name="KSO_WM_DIAGRAM_VIRTUALLY_FRAME" val="{&quot;height&quot;:392.4,&quot;left&quot;:41.76,&quot;top&quot;:108,&quot;width&quot;:876.24}"/>
</p:tagLst>
</file>

<file path=ppt/tags/tag68.xml><?xml version="1.0" encoding="utf-8"?>
<p:tagLst xmlns:p="http://schemas.openxmlformats.org/presentationml/2006/main">
  <p:tag name="KSO_WM_DIAGRAM_VIRTUALLY_FRAME" val="{&quot;height&quot;:392.4,&quot;left&quot;:41.76,&quot;top&quot;:108,&quot;width&quot;:876.24}"/>
</p:tagLst>
</file>

<file path=ppt/tags/tag69.xml><?xml version="1.0" encoding="utf-8"?>
<p:tagLst xmlns:p="http://schemas.openxmlformats.org/presentationml/2006/main">
  <p:tag name="KSO_WM_DIAGRAM_VIRTUALLY_FRAME" val="{&quot;height&quot;:392.4,&quot;left&quot;:41.76,&quot;top&quot;:108,&quot;width&quot;:876.24}"/>
</p:tagLst>
</file>

<file path=ppt/tags/tag70.xml><?xml version="1.0" encoding="utf-8"?>
<p:tagLst xmlns:p="http://schemas.openxmlformats.org/presentationml/2006/main">
  <p:tag name="KSO_WM_DIAGRAM_VIRTUALLY_FRAME" val="{&quot;height&quot;:392.4,&quot;left&quot;:41.76,&quot;top&quot;:108,&quot;width&quot;:876.24}"/>
</p:tagLst>
</file>

<file path=ppt/tags/tag71.xml><?xml version="1.0" encoding="utf-8"?>
<p:tagLst xmlns:p="http://schemas.openxmlformats.org/presentationml/2006/main">
  <p:tag name="KSO_WM_DIAGRAM_VIRTUALLY_FRAME" val="{&quot;height&quot;:392.4,&quot;left&quot;:41.76,&quot;top&quot;:108,&quot;width&quot;:876.24}"/>
</p:tagLst>
</file>

<file path=ppt/tags/tag72.xml><?xml version="1.0" encoding="utf-8"?>
<p:tagLst xmlns:p="http://schemas.openxmlformats.org/presentationml/2006/main">
  <p:tag name="KSO_WM_DIAGRAM_VIRTUALLY_FRAME" val="{&quot;height&quot;:392.4,&quot;left&quot;:41.76,&quot;top&quot;:108,&quot;width&quot;:876.24}"/>
</p:tagLst>
</file>

<file path=ppt/tags/tag73.xml><?xml version="1.0" encoding="utf-8"?>
<p:tagLst xmlns:p="http://schemas.openxmlformats.org/presentationml/2006/main">
  <p:tag name="KSO_WM_DIAGRAM_VIRTUALLY_FRAME" val="{&quot;height&quot;:392.4,&quot;left&quot;:41.76,&quot;top&quot;:108,&quot;width&quot;:876.24}"/>
</p:tagLst>
</file>

<file path=ppt/tags/tag74.xml><?xml version="1.0" encoding="utf-8"?>
<p:tagLst xmlns:p="http://schemas.openxmlformats.org/presentationml/2006/main">
  <p:tag name="KSO_WM_DIAGRAM_VIRTUALLY_FRAME" val="{&quot;height&quot;:392.4,&quot;left&quot;:41.76,&quot;top&quot;:108,&quot;width&quot;:876.24}"/>
</p:tagLst>
</file>

<file path=ppt/tags/tag75.xml><?xml version="1.0" encoding="utf-8"?>
<p:tagLst xmlns:p="http://schemas.openxmlformats.org/presentationml/2006/main">
  <p:tag name="KSO_WM_DIAGRAM_VIRTUALLY_FRAME" val="{&quot;height&quot;:255.6,&quot;left&quot;:568.8,&quot;top&quot;:140.4,&quot;width&quot;:349.9200000000001}"/>
</p:tagLst>
</file>

<file path=ppt/tags/tag76.xml><?xml version="1.0" encoding="utf-8"?>
<p:tagLst xmlns:p="http://schemas.openxmlformats.org/presentationml/2006/main">
  <p:tag name="KSO_WM_DIAGRAM_VIRTUALLY_FRAME" val="{&quot;height&quot;:255.6,&quot;left&quot;:568.8,&quot;top&quot;:140.4,&quot;width&quot;:349.9200000000001}"/>
</p:tagLst>
</file>

<file path=ppt/tags/tag77.xml><?xml version="1.0" encoding="utf-8"?>
<p:tagLst xmlns:p="http://schemas.openxmlformats.org/presentationml/2006/main">
  <p:tag name="KSO_WM_DIAGRAM_VIRTUALLY_FRAME" val="{&quot;height&quot;:255.6,&quot;left&quot;:568.8,&quot;top&quot;:140.4,&quot;width&quot;:349.9200000000001}"/>
</p:tagLst>
</file>

<file path=ppt/tags/tag78.xml><?xml version="1.0" encoding="utf-8"?>
<p:tagLst xmlns:p="http://schemas.openxmlformats.org/presentationml/2006/main">
  <p:tag name="KSO_WM_DIAGRAM_VIRTUALLY_FRAME" val="{&quot;height&quot;:255.6,&quot;left&quot;:568.8,&quot;top&quot;:140.4,&quot;width&quot;:349.9200000000001}"/>
</p:tagLst>
</file>

<file path=ppt/tags/tag79.xml><?xml version="1.0" encoding="utf-8"?>
<p:tagLst xmlns:p="http://schemas.openxmlformats.org/presentationml/2006/main">
  <p:tag name="KSO_WM_DIAGRAM_VIRTUALLY_FRAME" val="{&quot;height&quot;:255.6,&quot;left&quot;:568.8,&quot;top&quot;:140.4,&quot;width&quot;:349.9200000000001}"/>
</p:tagLst>
</file>

<file path=ppt/tags/tag80.xml><?xml version="1.0" encoding="utf-8"?>
<p:tagLst xmlns:p="http://schemas.openxmlformats.org/presentationml/2006/main">
  <p:tag name="KSO_WM_DIAGRAM_VIRTUALLY_FRAME" val="{&quot;height&quot;:255.6,&quot;left&quot;:568.8,&quot;top&quot;:140.4,&quot;width&quot;:349.9200000000001}"/>
</p:tagLst>
</file>

<file path=ppt/tags/tag81.xml><?xml version="1.0" encoding="utf-8"?>
<p:tagLst xmlns:p="http://schemas.openxmlformats.org/presentationml/2006/main">
  <p:tag name="KSO_WM_DIAGRAM_VIRTUALLY_FRAME" val="{&quot;height&quot;:255.6,&quot;left&quot;:568.8,&quot;top&quot;:140.4,&quot;width&quot;:349.9200000000001}"/>
</p:tagLst>
</file>

<file path=ppt/tags/tag82.xml><?xml version="1.0" encoding="utf-8"?>
<p:tagLst xmlns:p="http://schemas.openxmlformats.org/presentationml/2006/main">
  <p:tag name="KSO_WM_DIAGRAM_VIRTUALLY_FRAME" val="{&quot;height&quot;:255.6,&quot;left&quot;:568.8,&quot;top&quot;:140.4,&quot;width&quot;:349.9200000000001}"/>
</p:tagLst>
</file>

<file path=ppt/tags/tag83.xml><?xml version="1.0" encoding="utf-8"?>
<p:tagLst xmlns:p="http://schemas.openxmlformats.org/presentationml/2006/main">
  <p:tag name="KSO_WM_DIAGRAM_VIRTUALLY_FRAME" val="{&quot;height&quot;:255.6,&quot;left&quot;:568.8,&quot;top&quot;:140.4,&quot;width&quot;:349.9200000000001}"/>
</p:tagLst>
</file>

<file path=ppt/tags/tag84.xml><?xml version="1.0" encoding="utf-8"?>
<p:tagLst xmlns:p="http://schemas.openxmlformats.org/presentationml/2006/main">
  <p:tag name="KSO_WM_DIAGRAM_VIRTUALLY_FRAME" val="{&quot;height&quot;:255.6,&quot;left&quot;:568.8,&quot;top&quot;:140.4,&quot;width&quot;:349.9200000000001}"/>
</p:tagLst>
</file>

<file path=ppt/tags/tag85.xml><?xml version="1.0" encoding="utf-8"?>
<p:tagLst xmlns:p="http://schemas.openxmlformats.org/presentationml/2006/main">
  <p:tag name="KSO_WM_DIAGRAM_VIRTUALLY_FRAME" val="{&quot;height&quot;:255.6,&quot;left&quot;:568.8,&quot;top&quot;:140.4,&quot;width&quot;:349.9200000000001}"/>
</p:tagLst>
</file>

<file path=ppt/tags/tag86.xml><?xml version="1.0" encoding="utf-8"?>
<p:tagLst xmlns:p="http://schemas.openxmlformats.org/presentationml/2006/main">
  <p:tag name="KSO_WM_DIAGRAM_VIRTUALLY_FRAME" val="{&quot;height&quot;:255.6,&quot;left&quot;:568.8,&quot;top&quot;:140.4,&quot;width&quot;:349.9200000000001}"/>
</p:tagLst>
</file>

<file path=ppt/tags/tag87.xml><?xml version="1.0" encoding="utf-8"?>
<p:tagLst xmlns:p="http://schemas.openxmlformats.org/presentationml/2006/main">
  <p:tag name="KSO_WM_DIAGRAM_VIRTUALLY_FRAME" val="{&quot;height&quot;:255.6,&quot;left&quot;:568.8,&quot;top&quot;:140.4,&quot;width&quot;:349.9200000000001}"/>
</p:tagLst>
</file>

<file path=ppt/tags/tag88.xml><?xml version="1.0" encoding="utf-8"?>
<p:tagLst xmlns:p="http://schemas.openxmlformats.org/presentationml/2006/main">
  <p:tag name="KSO_WM_DIAGRAM_VIRTUALLY_FRAME" val="{&quot;height&quot;:255.6,&quot;left&quot;:568.8,&quot;top&quot;:140.4,&quot;width&quot;:349.9200000000001}"/>
</p:tagLst>
</file>

<file path=ppt/tags/tag89.xml><?xml version="1.0" encoding="utf-8"?>
<p:tagLst xmlns:p="http://schemas.openxmlformats.org/presentationml/2006/main">
  <p:tag name="KSO_WM_DIAGRAM_VIRTUALLY_FRAME" val="{&quot;height&quot;:255.6,&quot;left&quot;:568.8,&quot;top&quot;:140.4,&quot;width&quot;:349.9200000000001}"/>
</p:tagLst>
</file>

<file path=ppt/tags/tag90.xml><?xml version="1.0" encoding="utf-8"?>
<p:tagLst xmlns:p="http://schemas.openxmlformats.org/presentationml/2006/main">
  <p:tag name="KSO_WM_DIAGRAM_VIRTUALLY_FRAME" val="{&quot;height&quot;:255.6,&quot;left&quot;:568.8,&quot;top&quot;:140.4,&quot;width&quot;:349.9200000000001}"/>
</p:tagLst>
</file>

<file path=ppt/tags/tag91.xml><?xml version="1.0" encoding="utf-8"?>
<p:tagLst xmlns:p="http://schemas.openxmlformats.org/presentationml/2006/main">
  <p:tag name="KSO_WM_DIAGRAM_VIRTUALLY_FRAME" val="{&quot;height&quot;:367.9199212598425,&quot;left&quot;:543.6,&quot;top&quot;:122.4,&quot;width&quot;:374.4}"/>
</p:tagLst>
</file>

<file path=ppt/tags/tag92.xml><?xml version="1.0" encoding="utf-8"?>
<p:tagLst xmlns:p="http://schemas.openxmlformats.org/presentationml/2006/main">
  <p:tag name="KSO_WM_DIAGRAM_VIRTUALLY_FRAME" val="{&quot;height&quot;:367.9199212598425,&quot;left&quot;:543.6,&quot;top&quot;:122.4,&quot;width&quot;:374.4}"/>
</p:tagLst>
</file>

<file path=ppt/tags/tag93.xml><?xml version="1.0" encoding="utf-8"?>
<p:tagLst xmlns:p="http://schemas.openxmlformats.org/presentationml/2006/main">
  <p:tag name="KSO_WM_DIAGRAM_VIRTUALLY_FRAME" val="{&quot;height&quot;:367.9199212598425,&quot;left&quot;:543.6,&quot;top&quot;:122.4,&quot;width&quot;:374.4}"/>
</p:tagLst>
</file>

<file path=ppt/tags/tag94.xml><?xml version="1.0" encoding="utf-8"?>
<p:tagLst xmlns:p="http://schemas.openxmlformats.org/presentationml/2006/main">
  <p:tag name="KSO_WM_DIAGRAM_VIRTUALLY_FRAME" val="{&quot;height&quot;:367.9199212598425,&quot;left&quot;:543.6,&quot;top&quot;:122.4,&quot;width&quot;:374.4}"/>
</p:tagLst>
</file>

<file path=ppt/tags/tag95.xml><?xml version="1.0" encoding="utf-8"?>
<p:tagLst xmlns:p="http://schemas.openxmlformats.org/presentationml/2006/main">
  <p:tag name="KSO_WM_DIAGRAM_VIRTUALLY_FRAME" val="{&quot;height&quot;:367.9199212598425,&quot;left&quot;:543.6,&quot;top&quot;:122.4,&quot;width&quot;:374.4}"/>
</p:tagLst>
</file>

<file path=ppt/tags/tag96.xml><?xml version="1.0" encoding="utf-8"?>
<p:tagLst xmlns:p="http://schemas.openxmlformats.org/presentationml/2006/main">
  <p:tag name="KSO_WM_DIAGRAM_VIRTUALLY_FRAME" val="{&quot;height&quot;:367.9199212598425,&quot;left&quot;:543.6,&quot;top&quot;:122.4,&quot;width&quot;:374.4}"/>
</p:tagLst>
</file>

<file path=ppt/tags/tag97.xml><?xml version="1.0" encoding="utf-8"?>
<p:tagLst xmlns:p="http://schemas.openxmlformats.org/presentationml/2006/main">
  <p:tag name="KSO_WM_DIAGRAM_VIRTUALLY_FRAME" val="{&quot;height&quot;:367.9199212598425,&quot;left&quot;:543.6,&quot;top&quot;:122.4,&quot;width&quot;:374.4}"/>
</p:tagLst>
</file>

<file path=ppt/tags/tag98.xml><?xml version="1.0" encoding="utf-8"?>
<p:tagLst xmlns:p="http://schemas.openxmlformats.org/presentationml/2006/main">
  <p:tag name="KSO_WM_DIAGRAM_VIRTUALLY_FRAME" val="{&quot;height&quot;:367.9199212598425,&quot;left&quot;:543.6,&quot;top&quot;:122.4,&quot;width&quot;:374.4}"/>
</p:tagLst>
</file>

<file path=ppt/tags/tag99.xml><?xml version="1.0" encoding="utf-8"?>
<p:tagLst xmlns:p="http://schemas.openxmlformats.org/presentationml/2006/main">
  <p:tag name="KSO_WM_DIAGRAM_VIRTUALLY_FRAME" val="{&quot;height&quot;:367.9199212598425,&quot;left&quot;:543.6,&quot;top&quot;:122.4,&quot;width&quot;:374.4}"/>
</p:tagLst>
</file>

<file path=ppt/tags/tag100.xml><?xml version="1.0" encoding="utf-8"?>
<p:tagLst xmlns:p="http://schemas.openxmlformats.org/presentationml/2006/main">
  <p:tag name="KSO_WM_DIAGRAM_VIRTUALLY_FRAME" val="{&quot;height&quot;:367.9199212598425,&quot;left&quot;:543.6,&quot;top&quot;:122.4,&quot;width&quot;:374.4}"/>
</p:tagLst>
</file>

<file path=ppt/tags/tag101.xml><?xml version="1.0" encoding="utf-8"?>
<p:tagLst xmlns:p="http://schemas.openxmlformats.org/presentationml/2006/main">
  <p:tag name="KSO_WM_DIAGRAM_VIRTUALLY_FRAME" val="{&quot;height&quot;:367.9199212598425,&quot;left&quot;:543.6,&quot;top&quot;:122.4,&quot;width&quot;:374.4}"/>
</p:tagLst>
</file>

<file path=ppt/tags/tag102.xml><?xml version="1.0" encoding="utf-8"?>
<p:tagLst xmlns:p="http://schemas.openxmlformats.org/presentationml/2006/main">
  <p:tag name="KSO_WM_DIAGRAM_VIRTUALLY_FRAME" val="{&quot;height&quot;:367.9199212598425,&quot;left&quot;:543.6,&quot;top&quot;:122.4,&quot;width&quot;:374.4}"/>
</p:tagLst>
</file>

<file path=ppt/tags/tag103.xml><?xml version="1.0" encoding="utf-8"?>
<p:tagLst xmlns:p="http://schemas.openxmlformats.org/presentationml/2006/main">
  <p:tag name="COMMONDATA" val="eyJoZGlkIjoiYTcwNmNmMDFlOTI3NDVkMmYxMmU4NDRlYmZiNmFmYW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PTD">
  <a:themeElements>
    <a:clrScheme name="PPTD">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29683</Words>
  <Application>WPS 演示</Application>
  <PresentationFormat>宽屏</PresentationFormat>
  <Paragraphs>1347</Paragraphs>
  <Slides>53</Slides>
  <Notes>37</Notes>
  <HiddenSlides>0</HiddenSlides>
  <MMClips>0</MMClips>
  <ScaleCrop>false</ScaleCrop>
  <HeadingPairs>
    <vt:vector size="8" baseType="variant">
      <vt:variant>
        <vt:lpstr>已用的字体</vt:lpstr>
      </vt:variant>
      <vt:variant>
        <vt:i4>23</vt:i4>
      </vt:variant>
      <vt:variant>
        <vt:lpstr>主题</vt:lpstr>
      </vt:variant>
      <vt:variant>
        <vt:i4>3</vt:i4>
      </vt:variant>
      <vt:variant>
        <vt:lpstr>嵌入 OLE 服务器</vt:lpstr>
      </vt:variant>
      <vt:variant>
        <vt:i4>17</vt:i4>
      </vt:variant>
      <vt:variant>
        <vt:lpstr>幻灯片标题</vt:lpstr>
      </vt:variant>
      <vt:variant>
        <vt:i4>53</vt:i4>
      </vt:variant>
    </vt:vector>
  </HeadingPairs>
  <TitlesOfParts>
    <vt:vector size="96" baseType="lpstr">
      <vt:lpstr>Arial</vt:lpstr>
      <vt:lpstr>宋体</vt:lpstr>
      <vt:lpstr>Wingdings</vt:lpstr>
      <vt:lpstr>微软雅黑</vt:lpstr>
      <vt:lpstr>Arial</vt:lpstr>
      <vt:lpstr>Times New Roman</vt:lpstr>
      <vt:lpstr>Times New Roman</vt:lpstr>
      <vt:lpstr>MiSans</vt:lpstr>
      <vt:lpstr>MiSans Semibold</vt:lpstr>
      <vt:lpstr>Calibri</vt:lpstr>
      <vt:lpstr>等线</vt:lpstr>
      <vt:lpstr>黑体</vt:lpstr>
      <vt:lpstr>梦源黑体 CN W23</vt:lpstr>
      <vt:lpstr>Wingdings</vt:lpstr>
      <vt:lpstr>Arial Unicode MS</vt:lpstr>
      <vt:lpstr>等线 Light</vt:lpstr>
      <vt:lpstr>Calibri Light</vt:lpstr>
      <vt:lpstr>Calibri</vt:lpstr>
      <vt:lpstr>仿宋</vt:lpstr>
      <vt:lpstr>PingFang SC</vt:lpstr>
      <vt:lpstr>Abadi</vt:lpstr>
      <vt:lpstr>华文隶书</vt:lpstr>
      <vt:lpstr>Segoe Print</vt:lpstr>
      <vt:lpstr>Office 主题</vt:lpstr>
      <vt:lpstr>Office Theme</vt:lpstr>
      <vt:lpstr>PPTD</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Visio.Drawing.11</vt:lpstr>
      <vt:lpstr>Visio.Drawing.11</vt:lpstr>
      <vt:lpstr>Visio.Drawing.15</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Hoey</dc:creator>
  <cp:lastModifiedBy>w</cp:lastModifiedBy>
  <cp:revision>2399</cp:revision>
  <dcterms:created xsi:type="dcterms:W3CDTF">2016-05-05T03:55:00Z</dcterms:created>
  <dcterms:modified xsi:type="dcterms:W3CDTF">2026-10-24T14:14:38Z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1BB0C27205D34A2A9B670C7D74E3EB0A</vt:lpwstr>
  </property>
  <property fmtid="{D5CDD505-2E9C-101B-9397-08002B2CF9AE}" pid="3" name="KSOProductBuildVer">
    <vt:lpwstr>2052-12.1.0.29161</vt:lpwstr>
  </property>
</Properties>
</file>